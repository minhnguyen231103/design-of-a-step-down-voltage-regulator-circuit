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17"/>
  </p:notesMasterIdLst>
  <p:sldIdLst>
    <p:sldId id="256" r:id="rId2"/>
    <p:sldId id="269" r:id="rId3"/>
    <p:sldId id="277" r:id="rId4"/>
    <p:sldId id="272" r:id="rId5"/>
    <p:sldId id="278" r:id="rId6"/>
    <p:sldId id="275" r:id="rId7"/>
    <p:sldId id="285" r:id="rId8"/>
    <p:sldId id="286" r:id="rId9"/>
    <p:sldId id="276" r:id="rId10"/>
    <p:sldId id="280" r:id="rId11"/>
    <p:sldId id="281" r:id="rId12"/>
    <p:sldId id="282" r:id="rId13"/>
    <p:sldId id="283" r:id="rId14"/>
    <p:sldId id="284" r:id="rId15"/>
    <p:sldId id="26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54B97E-B25D-72D4-B0C6-D796F80F979C}" name="Minh Nguyễn" initials="MN" userId="521d428e04dc57e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77724" autoAdjust="0"/>
  </p:normalViewPr>
  <p:slideViewPr>
    <p:cSldViewPr>
      <p:cViewPr>
        <p:scale>
          <a:sx n="66" d="100"/>
          <a:sy n="66" d="100"/>
        </p:scale>
        <p:origin x="2194" y="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328702-633C-4F70-8B53-8514E3E7250E}" type="datetimeFigureOut">
              <a:rPr lang="en-US" smtClean="0"/>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490163-FAFD-47D6-BE4F-B2E71F8CC245}" type="slidenum">
              <a:rPr lang="en-US" smtClean="0"/>
              <a:t>‹#›</a:t>
            </a:fld>
            <a:endParaRPr lang="en-US"/>
          </a:p>
        </p:txBody>
      </p:sp>
    </p:spTree>
    <p:extLst>
      <p:ext uri="{BB962C8B-B14F-4D97-AF65-F5344CB8AC3E}">
        <p14:creationId xmlns:p14="http://schemas.microsoft.com/office/powerpoint/2010/main" val="1058189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vi.wikipedia.org/wiki/%C4%90i%E1%BB%81u_ch%E1%BA%BF_%C4%91%E1%BB%99_r%E1%BB%99ng_xun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B490163-FAFD-47D6-BE4F-B2E71F8CC245}" type="slidenum">
              <a:rPr lang="en-US" smtClean="0"/>
              <a:t>1</a:t>
            </a:fld>
            <a:endParaRPr lang="en-US"/>
          </a:p>
        </p:txBody>
      </p:sp>
    </p:spTree>
    <p:extLst>
      <p:ext uri="{BB962C8B-B14F-4D97-AF65-F5344CB8AC3E}">
        <p14:creationId xmlns:p14="http://schemas.microsoft.com/office/powerpoint/2010/main" val="1412073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Điện</a:t>
            </a:r>
            <a:r>
              <a:rPr lang="en-US" dirty="0"/>
              <a:t> </a:t>
            </a:r>
            <a:r>
              <a:rPr lang="en-US" dirty="0" err="1"/>
              <a:t>trở</a:t>
            </a:r>
            <a:r>
              <a:rPr lang="en-US" dirty="0"/>
              <a:t> </a:t>
            </a:r>
            <a:r>
              <a:rPr lang="en-US" dirty="0" err="1"/>
              <a:t>dẫn</a:t>
            </a:r>
            <a:r>
              <a:rPr lang="en-US" dirty="0"/>
              <a:t> </a:t>
            </a:r>
            <a:r>
              <a:rPr lang="en-US" b="1" dirty="0"/>
              <a:t>RDS(on) </a:t>
            </a:r>
            <a:r>
              <a:rPr lang="en-US" dirty="0" err="1"/>
              <a:t>là</a:t>
            </a:r>
            <a:r>
              <a:rPr lang="en-US" dirty="0"/>
              <a:t> </a:t>
            </a:r>
            <a:r>
              <a:rPr lang="en-US" dirty="0" err="1"/>
              <a:t>điện</a:t>
            </a:r>
            <a:r>
              <a:rPr lang="en-US" dirty="0"/>
              <a:t> </a:t>
            </a:r>
            <a:r>
              <a:rPr lang="en-US" dirty="0" err="1"/>
              <a:t>trở</a:t>
            </a:r>
            <a:r>
              <a:rPr lang="en-US" dirty="0"/>
              <a:t> </a:t>
            </a:r>
            <a:r>
              <a:rPr lang="en-US" dirty="0" err="1"/>
              <a:t>giữa</a:t>
            </a:r>
            <a:r>
              <a:rPr lang="en-US" dirty="0"/>
              <a:t> </a:t>
            </a:r>
            <a:r>
              <a:rPr lang="en-US" dirty="0" err="1"/>
              <a:t>chân</a:t>
            </a:r>
            <a:r>
              <a:rPr lang="en-US" dirty="0"/>
              <a:t> Drain (D) </a:t>
            </a:r>
            <a:r>
              <a:rPr lang="en-US" dirty="0" err="1"/>
              <a:t>và</a:t>
            </a:r>
            <a:r>
              <a:rPr lang="en-US" dirty="0"/>
              <a:t> Source (S) </a:t>
            </a:r>
            <a:r>
              <a:rPr lang="en-US" dirty="0" err="1"/>
              <a:t>của</a:t>
            </a:r>
            <a:r>
              <a:rPr lang="en-US" dirty="0"/>
              <a:t> MOSFET </a:t>
            </a:r>
            <a:r>
              <a:rPr lang="en-US" dirty="0" err="1"/>
              <a:t>khi</a:t>
            </a:r>
            <a:r>
              <a:rPr lang="en-US" dirty="0"/>
              <a:t> MOSFET </a:t>
            </a:r>
            <a:r>
              <a:rPr lang="en-US" dirty="0" err="1"/>
              <a:t>đang</a:t>
            </a:r>
            <a:r>
              <a:rPr lang="en-US" dirty="0"/>
              <a:t> </a:t>
            </a:r>
            <a:r>
              <a:rPr lang="en-US" dirty="0" err="1"/>
              <a:t>bật</a:t>
            </a:r>
            <a:r>
              <a:rPr lang="en-US" dirty="0"/>
              <a:t> (ON).</a:t>
            </a:r>
          </a:p>
          <a:p>
            <a:r>
              <a:rPr lang="vi-VN" b="1" dirty="0"/>
              <a:t>RDS(on)</a:t>
            </a:r>
            <a:r>
              <a:rPr lang="vi-VN" dirty="0"/>
              <a:t> càng thấp → dòng điện đi qua MOSFET càng dễ → </a:t>
            </a:r>
            <a:r>
              <a:rPr lang="vi-VN" b="1" dirty="0"/>
              <a:t>tổn hao công suất (P = I² × R)</a:t>
            </a:r>
            <a:r>
              <a:rPr lang="vi-VN" dirty="0"/>
              <a:t> càng nhỏ → </a:t>
            </a:r>
            <a:r>
              <a:rPr lang="vi-VN" b="1" dirty="0"/>
              <a:t>hiệu suất mạch cao hơn</a:t>
            </a:r>
            <a:r>
              <a:rPr lang="vi-VN" dirty="0"/>
              <a:t>.</a:t>
            </a:r>
            <a:br>
              <a:rPr lang="en-US" dirty="0"/>
            </a:br>
            <a:br>
              <a:rPr lang="en-US" dirty="0"/>
            </a:br>
            <a:r>
              <a:rPr lang="en-US" b="1" dirty="0" err="1"/>
              <a:t>Tần</a:t>
            </a:r>
            <a:r>
              <a:rPr lang="en-US" b="1" dirty="0"/>
              <a:t> </a:t>
            </a:r>
            <a:r>
              <a:rPr lang="en-US" b="1" dirty="0" err="1"/>
              <a:t>số</a:t>
            </a:r>
            <a:r>
              <a:rPr lang="en-US" b="1" dirty="0"/>
              <a:t> </a:t>
            </a:r>
            <a:r>
              <a:rPr lang="en-US" b="1" dirty="0" err="1"/>
              <a:t>chuyển</a:t>
            </a:r>
            <a:r>
              <a:rPr lang="en-US" b="1" dirty="0"/>
              <a:t> </a:t>
            </a:r>
            <a:r>
              <a:rPr lang="en-US" b="1" dirty="0" err="1"/>
              <a:t>mạch</a:t>
            </a:r>
            <a:r>
              <a:rPr lang="en-US" b="1" dirty="0"/>
              <a:t> (switching frequency)</a:t>
            </a:r>
            <a:r>
              <a:rPr lang="en-US" dirty="0"/>
              <a:t> </a:t>
            </a:r>
            <a:r>
              <a:rPr lang="en-US" dirty="0" err="1"/>
              <a:t>là</a:t>
            </a:r>
            <a:r>
              <a:rPr lang="en-US" dirty="0"/>
              <a:t> </a:t>
            </a:r>
            <a:r>
              <a:rPr lang="en-US" b="1" dirty="0" err="1"/>
              <a:t>số</a:t>
            </a:r>
            <a:r>
              <a:rPr lang="en-US" b="1" dirty="0"/>
              <a:t> </a:t>
            </a:r>
            <a:r>
              <a:rPr lang="en-US" b="1" dirty="0" err="1"/>
              <a:t>lần</a:t>
            </a:r>
            <a:r>
              <a:rPr lang="en-US" b="1" dirty="0"/>
              <a:t> IC </a:t>
            </a:r>
            <a:r>
              <a:rPr lang="en-US" b="1" dirty="0" err="1"/>
              <a:t>bật</a:t>
            </a:r>
            <a:r>
              <a:rPr lang="en-US" b="1" dirty="0"/>
              <a:t>/</a:t>
            </a:r>
            <a:r>
              <a:rPr lang="en-US" b="1" dirty="0" err="1"/>
              <a:t>tắt</a:t>
            </a:r>
            <a:r>
              <a:rPr lang="en-US" b="1" dirty="0"/>
              <a:t> MOSFET </a:t>
            </a:r>
            <a:r>
              <a:rPr lang="en-US" b="1" dirty="0" err="1"/>
              <a:t>trong</a:t>
            </a:r>
            <a:r>
              <a:rPr lang="en-US" b="1" dirty="0"/>
              <a:t> 1 </a:t>
            </a:r>
            <a:r>
              <a:rPr lang="en-US" b="1" dirty="0" err="1"/>
              <a:t>giây</a:t>
            </a:r>
            <a:r>
              <a:rPr lang="en-US" dirty="0"/>
              <a:t> </a:t>
            </a:r>
            <a:r>
              <a:rPr lang="en-US" dirty="0" err="1"/>
              <a:t>để</a:t>
            </a:r>
            <a:r>
              <a:rPr lang="en-US" dirty="0"/>
              <a:t> </a:t>
            </a:r>
            <a:r>
              <a:rPr lang="en-US" dirty="0" err="1"/>
              <a:t>điều</a:t>
            </a:r>
            <a:r>
              <a:rPr lang="en-US" dirty="0"/>
              <a:t> </a:t>
            </a:r>
            <a:r>
              <a:rPr lang="en-US" dirty="0" err="1"/>
              <a:t>khiển</a:t>
            </a:r>
            <a:r>
              <a:rPr lang="en-US" dirty="0"/>
              <a:t> </a:t>
            </a:r>
            <a:r>
              <a:rPr lang="en-US" dirty="0" err="1"/>
              <a:t>điện</a:t>
            </a:r>
            <a:r>
              <a:rPr lang="en-US" dirty="0"/>
              <a:t> </a:t>
            </a:r>
            <a:r>
              <a:rPr lang="en-US" dirty="0" err="1"/>
              <a:t>áp</a:t>
            </a:r>
            <a:r>
              <a:rPr lang="en-US" dirty="0"/>
              <a:t> </a:t>
            </a:r>
            <a:r>
              <a:rPr lang="en-US" dirty="0" err="1"/>
              <a:t>đầu</a:t>
            </a:r>
            <a:r>
              <a:rPr lang="en-US" dirty="0"/>
              <a:t> </a:t>
            </a:r>
            <a:r>
              <a:rPr lang="en-US" dirty="0" err="1"/>
              <a:t>ra.</a:t>
            </a:r>
            <a:endParaRPr lang="en-US" dirty="0"/>
          </a:p>
          <a:p>
            <a:endParaRPr lang="en-US" dirty="0"/>
          </a:p>
          <a:p>
            <a:r>
              <a:rPr lang="vi-VN" sz="1200" b="0" i="0" kern="1200" dirty="0">
                <a:solidFill>
                  <a:schemeClr val="tx1"/>
                </a:solidFill>
                <a:effectLst/>
                <a:latin typeface="+mn-lt"/>
                <a:ea typeface="+mn-ea"/>
                <a:cs typeface="+mn-cs"/>
              </a:rPr>
              <a:t>PWM viết tắt của </a:t>
            </a:r>
            <a:r>
              <a:rPr lang="vi-VN" sz="1200" b="0" i="0" u="sng" kern="1200" dirty="0">
                <a:solidFill>
                  <a:schemeClr val="tx1"/>
                </a:solidFill>
                <a:effectLst/>
                <a:latin typeface="+mn-lt"/>
                <a:ea typeface="+mn-ea"/>
                <a:cs typeface="+mn-cs"/>
                <a:hlinkClick r:id="rId3"/>
              </a:rPr>
              <a:t>Pulse Width Modulation</a:t>
            </a:r>
            <a:r>
              <a:rPr lang="vi-VN" sz="1200" b="0" i="0" kern="1200" dirty="0">
                <a:solidFill>
                  <a:schemeClr val="tx1"/>
                </a:solidFill>
                <a:effectLst/>
                <a:latin typeface="+mn-lt"/>
                <a:ea typeface="+mn-ea"/>
                <a:cs typeface="+mn-cs"/>
              </a:rPr>
              <a:t>, có nghĩa là phương pháp điều chỉnh điện áp tải, hay hiểu đơn giản hơn đây là phương pháp điều chỉnh, thay đổi điện áp tải ra bằng việc thay đổi độ rộng của chuỗi xung vuông, từ đó có sự thay đổi điện áp.</a:t>
            </a:r>
            <a:endParaRPr lang="en-US" dirty="0"/>
          </a:p>
        </p:txBody>
      </p:sp>
      <p:sp>
        <p:nvSpPr>
          <p:cNvPr id="4" name="Slide Number Placeholder 3"/>
          <p:cNvSpPr>
            <a:spLocks noGrp="1"/>
          </p:cNvSpPr>
          <p:nvPr>
            <p:ph type="sldNum" sz="quarter" idx="5"/>
          </p:nvPr>
        </p:nvSpPr>
        <p:spPr/>
        <p:txBody>
          <a:bodyPr/>
          <a:lstStyle/>
          <a:p>
            <a:fld id="{3B490163-FAFD-47D6-BE4F-B2E71F8CC245}" type="slidenum">
              <a:rPr lang="en-US" smtClean="0"/>
              <a:t>2</a:t>
            </a:fld>
            <a:endParaRPr lang="en-US"/>
          </a:p>
        </p:txBody>
      </p:sp>
    </p:spTree>
    <p:extLst>
      <p:ext uri="{BB962C8B-B14F-4D97-AF65-F5344CB8AC3E}">
        <p14:creationId xmlns:p14="http://schemas.microsoft.com/office/powerpoint/2010/main" val="288256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92F63-3263-F915-53EA-BDB59956A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D842A-3CE8-1F3B-6243-5E57B36CF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67479-786E-8A1E-0109-BAEA0318D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91B9DF-42F9-4EE8-48F6-377EABC94ED6}"/>
              </a:ext>
            </a:extLst>
          </p:cNvPr>
          <p:cNvSpPr>
            <a:spLocks noGrp="1"/>
          </p:cNvSpPr>
          <p:nvPr>
            <p:ph type="sldNum" sz="quarter" idx="5"/>
          </p:nvPr>
        </p:nvSpPr>
        <p:spPr/>
        <p:txBody>
          <a:bodyPr/>
          <a:lstStyle/>
          <a:p>
            <a:fld id="{3B490163-FAFD-47D6-BE4F-B2E71F8CC245}" type="slidenum">
              <a:rPr lang="en-US" smtClean="0"/>
              <a:t>3</a:t>
            </a:fld>
            <a:endParaRPr lang="en-US"/>
          </a:p>
        </p:txBody>
      </p:sp>
    </p:spTree>
    <p:extLst>
      <p:ext uri="{BB962C8B-B14F-4D97-AF65-F5344CB8AC3E}">
        <p14:creationId xmlns:p14="http://schemas.microsoft.com/office/powerpoint/2010/main" val="4202758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Chân</a:t>
            </a:r>
            <a:r>
              <a:rPr lang="en-US" sz="1200" b="0" i="0" kern="1200" dirty="0">
                <a:solidFill>
                  <a:schemeClr val="tx1"/>
                </a:solidFill>
                <a:effectLst/>
                <a:latin typeface="+mn-lt"/>
                <a:ea typeface="+mn-ea"/>
                <a:cs typeface="+mn-cs"/>
              </a:rPr>
              <a:t> LX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áp</a:t>
            </a:r>
            <a:r>
              <a:rPr lang="en-US" sz="1200" b="0" i="0" kern="1200" dirty="0">
                <a:solidFill>
                  <a:schemeClr val="tx1"/>
                </a:solidFill>
                <a:effectLst/>
                <a:latin typeface="+mn-lt"/>
                <a:ea typeface="+mn-ea"/>
                <a:cs typeface="+mn-cs"/>
              </a:rPr>
              <a:t> DC </a:t>
            </a:r>
            <a:r>
              <a:rPr lang="en-US" sz="1200" b="0" i="0" kern="1200" dirty="0" err="1">
                <a:solidFill>
                  <a:schemeClr val="tx1"/>
                </a:solidFill>
                <a:effectLst/>
                <a:latin typeface="+mn-lt"/>
                <a:ea typeface="+mn-ea"/>
                <a:cs typeface="+mn-cs"/>
              </a:rPr>
              <a:t>cố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tục</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bật</a:t>
            </a:r>
            <a:r>
              <a:rPr lang="en-US" sz="1200" b="1" i="0" kern="1200" dirty="0">
                <a:solidFill>
                  <a:schemeClr val="tx1"/>
                </a:solidFill>
                <a:effectLst/>
                <a:latin typeface="+mn-lt"/>
                <a:ea typeface="+mn-ea"/>
                <a:cs typeface="+mn-cs"/>
              </a:rPr>
              <a:t> (ON) </a:t>
            </a:r>
            <a:r>
              <a:rPr lang="en-US" sz="1200" b="1" i="0" kern="1200" dirty="0" err="1">
                <a:solidFill>
                  <a:schemeClr val="tx1"/>
                </a:solidFill>
                <a:effectLst/>
                <a:latin typeface="+mn-lt"/>
                <a:ea typeface="+mn-ea"/>
                <a:cs typeface="+mn-cs"/>
              </a:rPr>
              <a:t>và</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tắt</a:t>
            </a:r>
            <a:r>
              <a:rPr lang="en-US" sz="1200" b="1" i="0" kern="1200" dirty="0">
                <a:solidFill>
                  <a:schemeClr val="tx1"/>
                </a:solidFill>
                <a:effectLst/>
                <a:latin typeface="+mn-lt"/>
                <a:ea typeface="+mn-ea"/>
                <a:cs typeface="+mn-cs"/>
              </a:rPr>
              <a:t> (OFF)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nhanh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trăm</a:t>
            </a:r>
            <a:r>
              <a:rPr lang="en-US" sz="1200" b="0" i="0" kern="1200" dirty="0">
                <a:solidFill>
                  <a:schemeClr val="tx1"/>
                </a:solidFill>
                <a:effectLst/>
                <a:latin typeface="+mn-lt"/>
                <a:ea typeface="+mn-ea"/>
                <a:cs typeface="+mn-cs"/>
              </a:rPr>
              <a:t> kHz </a:t>
            </a:r>
            <a:r>
              <a:rPr lang="en-US" sz="1200" b="0" i="0" kern="1200" dirty="0" err="1">
                <a:solidFill>
                  <a:schemeClr val="tx1"/>
                </a:solidFill>
                <a:effectLst/>
                <a:latin typeface="+mn-lt"/>
                <a:ea typeface="+mn-ea"/>
                <a:cs typeface="+mn-cs"/>
              </a:rPr>
              <a:t>đến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MHz).</a:t>
            </a:r>
            <a:endParaRPr lang="en-US" sz="1200" dirty="0"/>
          </a:p>
        </p:txBody>
      </p:sp>
      <p:sp>
        <p:nvSpPr>
          <p:cNvPr id="4" name="Slide Number Placeholder 3"/>
          <p:cNvSpPr>
            <a:spLocks noGrp="1"/>
          </p:cNvSpPr>
          <p:nvPr>
            <p:ph type="sldNum" sz="quarter" idx="5"/>
          </p:nvPr>
        </p:nvSpPr>
        <p:spPr/>
        <p:txBody>
          <a:bodyPr/>
          <a:lstStyle/>
          <a:p>
            <a:fld id="{3B490163-FAFD-47D6-BE4F-B2E71F8CC245}" type="slidenum">
              <a:rPr lang="en-US" smtClean="0"/>
              <a:t>4</a:t>
            </a:fld>
            <a:endParaRPr lang="en-US"/>
          </a:p>
        </p:txBody>
      </p:sp>
    </p:spTree>
    <p:extLst>
      <p:ext uri="{BB962C8B-B14F-4D97-AF65-F5344CB8AC3E}">
        <p14:creationId xmlns:p14="http://schemas.microsoft.com/office/powerpoint/2010/main" val="454696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45844-E28E-74BD-3EBF-51C165012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33446-3A45-33FE-D000-52FA32B76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E3155-08B3-E14E-8716-A5EEAF38536A}"/>
              </a:ext>
            </a:extLst>
          </p:cNvPr>
          <p:cNvSpPr>
            <a:spLocks noGrp="1"/>
          </p:cNvSpPr>
          <p:nvPr>
            <p:ph type="body" idx="1"/>
          </p:nvPr>
        </p:nvSpPr>
        <p:spPr/>
        <p:txBody>
          <a:bodyPr/>
          <a:lstStyle/>
          <a:p>
            <a:endParaRPr lang="en-US" sz="1200" dirty="0"/>
          </a:p>
        </p:txBody>
      </p:sp>
      <p:sp>
        <p:nvSpPr>
          <p:cNvPr id="4" name="Slide Number Placeholder 3">
            <a:extLst>
              <a:ext uri="{FF2B5EF4-FFF2-40B4-BE49-F238E27FC236}">
                <a16:creationId xmlns:a16="http://schemas.microsoft.com/office/drawing/2014/main" id="{3098C718-C67E-1C6E-3F04-6CDADFFA57E1}"/>
              </a:ext>
            </a:extLst>
          </p:cNvPr>
          <p:cNvSpPr>
            <a:spLocks noGrp="1"/>
          </p:cNvSpPr>
          <p:nvPr>
            <p:ph type="sldNum" sz="quarter" idx="5"/>
          </p:nvPr>
        </p:nvSpPr>
        <p:spPr/>
        <p:txBody>
          <a:bodyPr/>
          <a:lstStyle/>
          <a:p>
            <a:fld id="{3B490163-FAFD-47D6-BE4F-B2E71F8CC245}" type="slidenum">
              <a:rPr lang="en-US" smtClean="0"/>
              <a:t>5</a:t>
            </a:fld>
            <a:endParaRPr lang="en-US"/>
          </a:p>
        </p:txBody>
      </p:sp>
    </p:spTree>
    <p:extLst>
      <p:ext uri="{BB962C8B-B14F-4D97-AF65-F5344CB8AC3E}">
        <p14:creationId xmlns:p14="http://schemas.microsoft.com/office/powerpoint/2010/main" val="2339435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D09A-3FAC-F584-F1E1-F6FE1B33E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4C71E-F0BE-ABAE-7755-10180B65B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3257D-F3F5-FD81-E820-FC59F3DB6A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Thời</a:t>
            </a:r>
            <a:r>
              <a:rPr lang="en-US" dirty="0"/>
              <a:t> </a:t>
            </a:r>
            <a:r>
              <a:rPr lang="en-US" dirty="0" err="1"/>
              <a:t>gian</a:t>
            </a:r>
            <a:r>
              <a:rPr lang="en-US" dirty="0"/>
              <a:t> </a:t>
            </a:r>
            <a:r>
              <a:rPr lang="en-US" dirty="0" err="1"/>
              <a:t>công</a:t>
            </a:r>
            <a:r>
              <a:rPr lang="en-US" dirty="0"/>
              <a:t> </a:t>
            </a:r>
            <a:r>
              <a:rPr lang="en-US" dirty="0" err="1"/>
              <a:t>tắc</a:t>
            </a:r>
            <a:r>
              <a:rPr lang="en-US" dirty="0"/>
              <a:t> </a:t>
            </a:r>
            <a:r>
              <a:rPr lang="en-US" dirty="0" err="1"/>
              <a:t>trên</a:t>
            </a:r>
            <a:r>
              <a:rPr lang="en-US" dirty="0"/>
              <a:t> </a:t>
            </a:r>
            <a:r>
              <a:rPr lang="en-US" dirty="0" err="1"/>
              <a:t>bật</a:t>
            </a:r>
            <a:r>
              <a:rPr lang="en-US" dirty="0"/>
              <a:t> so </a:t>
            </a:r>
            <a:r>
              <a:rPr lang="en-US" dirty="0" err="1"/>
              <a:t>với</a:t>
            </a:r>
            <a:r>
              <a:rPr lang="en-US" dirty="0"/>
              <a:t> </a:t>
            </a:r>
            <a:r>
              <a:rPr lang="en-US" dirty="0" err="1"/>
              <a:t>tổng</a:t>
            </a:r>
            <a:r>
              <a:rPr lang="en-US" dirty="0"/>
              <a:t> </a:t>
            </a:r>
            <a:r>
              <a:rPr lang="en-US" dirty="0" err="1"/>
              <a:t>thời</a:t>
            </a:r>
            <a:r>
              <a:rPr lang="en-US" dirty="0"/>
              <a:t> </a:t>
            </a:r>
            <a:r>
              <a:rPr lang="en-US" dirty="0" err="1"/>
              <a:t>gian</a:t>
            </a:r>
            <a:r>
              <a:rPr lang="en-US" dirty="0"/>
              <a:t> </a:t>
            </a:r>
            <a:r>
              <a:rPr lang="en-US" dirty="0" err="1"/>
              <a:t>một</a:t>
            </a:r>
            <a:r>
              <a:rPr lang="en-US" dirty="0"/>
              <a:t> chu </a:t>
            </a:r>
            <a:r>
              <a:rPr lang="en-US" dirty="0" err="1"/>
              <a:t>kỳ</a:t>
            </a:r>
            <a:r>
              <a:rPr lang="en-US" dirty="0"/>
              <a:t> </a:t>
            </a:r>
            <a:r>
              <a:rPr lang="en-US" dirty="0" err="1"/>
              <a:t>gọi</a:t>
            </a:r>
            <a:r>
              <a:rPr lang="en-US" dirty="0"/>
              <a:t> </a:t>
            </a:r>
            <a:r>
              <a:rPr lang="en-US" dirty="0" err="1"/>
              <a:t>là</a:t>
            </a:r>
            <a:r>
              <a:rPr lang="en-US" dirty="0"/>
              <a:t> "</a:t>
            </a:r>
            <a:r>
              <a:rPr lang="en-US" b="1" dirty="0"/>
              <a:t>Duty Cycle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Gate Drain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Để</a:t>
            </a:r>
            <a:r>
              <a:rPr lang="en-US" dirty="0"/>
              <a:t> </a:t>
            </a:r>
            <a:r>
              <a:rPr lang="en-US" dirty="0" err="1"/>
              <a:t>bật</a:t>
            </a:r>
            <a:r>
              <a:rPr lang="en-US" dirty="0"/>
              <a:t> LS MOSFET, ta </a:t>
            </a:r>
            <a:r>
              <a:rPr lang="en-US" dirty="0" err="1"/>
              <a:t>chỉ</a:t>
            </a:r>
            <a:r>
              <a:rPr lang="en-US" dirty="0"/>
              <a:t> </a:t>
            </a:r>
            <a:r>
              <a:rPr lang="en-US" dirty="0" err="1"/>
              <a:t>cần</a:t>
            </a:r>
            <a:r>
              <a:rPr lang="en-US" dirty="0"/>
              <a:t> </a:t>
            </a:r>
            <a:r>
              <a:rPr lang="en-US" dirty="0" err="1"/>
              <a:t>tạo</a:t>
            </a:r>
            <a:r>
              <a:rPr lang="en-US" dirty="0"/>
              <a:t> </a:t>
            </a:r>
            <a:r>
              <a:rPr lang="en-US" b="1" dirty="0" err="1"/>
              <a:t>điện</a:t>
            </a:r>
            <a:r>
              <a:rPr lang="en-US" b="1" dirty="0"/>
              <a:t> </a:t>
            </a:r>
            <a:r>
              <a:rPr lang="en-US" b="1" dirty="0" err="1"/>
              <a:t>áp</a:t>
            </a:r>
            <a:r>
              <a:rPr lang="en-US" b="1" dirty="0"/>
              <a:t> V&lt;sub&gt;GS&lt;/sub&gt; ≈ 10 V</a:t>
            </a:r>
            <a:r>
              <a:rPr lang="en-US" dirty="0"/>
              <a:t> → </a:t>
            </a:r>
            <a:r>
              <a:rPr lang="en-US" dirty="0" err="1"/>
              <a:t>nghĩa</a:t>
            </a:r>
            <a:r>
              <a:rPr lang="en-US" dirty="0"/>
              <a:t> </a:t>
            </a:r>
            <a:r>
              <a:rPr lang="en-US" dirty="0" err="1"/>
              <a:t>là</a:t>
            </a:r>
            <a:r>
              <a:rPr lang="en-US" dirty="0"/>
              <a:t> </a:t>
            </a:r>
            <a:r>
              <a:rPr lang="en-US" b="1" dirty="0"/>
              <a:t>Gate = +10 V so </a:t>
            </a:r>
            <a:r>
              <a:rPr lang="en-US" b="1" dirty="0" err="1"/>
              <a:t>với</a:t>
            </a:r>
            <a:r>
              <a:rPr lang="en-US" b="1" dirty="0"/>
              <a:t> GND</a:t>
            </a:r>
            <a:r>
              <a:rPr lang="en-US" dirty="0"/>
              <a:t>.</a:t>
            </a:r>
            <a:br>
              <a:rPr lang="en-US" dirty="0"/>
            </a:br>
            <a:r>
              <a:rPr lang="en-US" dirty="0"/>
              <a:t>➡️ Ta </a:t>
            </a:r>
            <a:r>
              <a:rPr lang="en-US" dirty="0" err="1"/>
              <a:t>có</a:t>
            </a:r>
            <a:r>
              <a:rPr lang="en-US" dirty="0"/>
              <a:t> </a:t>
            </a:r>
            <a:r>
              <a:rPr lang="en-US" dirty="0" err="1"/>
              <a:t>thể</a:t>
            </a:r>
            <a:r>
              <a:rPr lang="en-US" dirty="0"/>
              <a:t> </a:t>
            </a:r>
            <a:r>
              <a:rPr lang="en-US" b="1" dirty="0" err="1"/>
              <a:t>lấy</a:t>
            </a:r>
            <a:r>
              <a:rPr lang="en-US" b="1" dirty="0"/>
              <a:t> </a:t>
            </a:r>
            <a:r>
              <a:rPr lang="en-US" b="1" dirty="0" err="1"/>
              <a:t>nguồn</a:t>
            </a:r>
            <a:r>
              <a:rPr lang="en-US" b="1" dirty="0"/>
              <a:t> </a:t>
            </a:r>
            <a:r>
              <a:rPr lang="en-US" b="1" dirty="0" err="1"/>
              <a:t>điều</a:t>
            </a:r>
            <a:r>
              <a:rPr lang="en-US" b="1" dirty="0"/>
              <a:t> </a:t>
            </a:r>
            <a:r>
              <a:rPr lang="en-US" b="1" dirty="0" err="1"/>
              <a:t>khiển</a:t>
            </a:r>
            <a:r>
              <a:rPr lang="en-US" b="1" dirty="0"/>
              <a:t> </a:t>
            </a:r>
            <a:r>
              <a:rPr lang="en-US" b="1" dirty="0" err="1"/>
              <a:t>trực</a:t>
            </a:r>
            <a:r>
              <a:rPr lang="en-US" b="1" dirty="0"/>
              <a:t> </a:t>
            </a:r>
            <a:r>
              <a:rPr lang="en-US" b="1" dirty="0" err="1"/>
              <a:t>tiếp</a:t>
            </a:r>
            <a:r>
              <a:rPr lang="en-US" b="1" dirty="0"/>
              <a:t> </a:t>
            </a:r>
            <a:r>
              <a:rPr lang="en-US" b="1" dirty="0" err="1"/>
              <a:t>từ</a:t>
            </a:r>
            <a:r>
              <a:rPr lang="en-US" b="1" dirty="0"/>
              <a:t> </a:t>
            </a:r>
            <a:r>
              <a:rPr lang="en-US" b="1" dirty="0" err="1"/>
              <a:t>nguồn</a:t>
            </a:r>
            <a:r>
              <a:rPr lang="en-US" b="1" dirty="0"/>
              <a:t> 12 V </a:t>
            </a:r>
            <a:r>
              <a:rPr lang="en-US" b="1" dirty="0" err="1"/>
              <a:t>hệ</a:t>
            </a:r>
            <a:r>
              <a:rPr lang="en-US" b="1" dirty="0"/>
              <a:t> </a:t>
            </a:r>
            <a:r>
              <a:rPr lang="en-US" b="1" dirty="0" err="1"/>
              <a:t>thống</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mạch</a:t>
            </a:r>
            <a:r>
              <a:rPr lang="en-US" dirty="0"/>
              <a:t> </a:t>
            </a:r>
            <a:r>
              <a:rPr lang="en-US" dirty="0" err="1"/>
              <a:t>đặc</a:t>
            </a:r>
            <a:r>
              <a:rPr lang="en-US" dirty="0"/>
              <a:t> </a:t>
            </a:r>
            <a:r>
              <a:rPr lang="en-US" dirty="0" err="1"/>
              <a:t>biệt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vi-VN" dirty="0"/>
              <a:t>Khi tải tiêu thụ </a:t>
            </a:r>
            <a:r>
              <a:rPr lang="vi-VN" b="1" dirty="0"/>
              <a:t>ít dòng</a:t>
            </a:r>
            <a:r>
              <a:rPr lang="vi-VN" dirty="0"/>
              <a:t> hoặc </a:t>
            </a:r>
            <a:r>
              <a:rPr lang="vi-VN" b="1" dirty="0"/>
              <a:t>điện áp ra cao hơn bình thường</a:t>
            </a:r>
            <a:r>
              <a:rPr lang="vi-VN" dirty="0"/>
              <a:t> (do cuộn cảm hồi điện), </a:t>
            </a:r>
            <a:r>
              <a:rPr lang="vi-VN" b="1" dirty="0"/>
              <a:t>dòng qua cuộn cảm (IL)</a:t>
            </a:r>
            <a:r>
              <a:rPr lang="vi-VN" dirty="0"/>
              <a:t> có thể </a:t>
            </a:r>
            <a:r>
              <a:rPr lang="vi-VN" b="1" dirty="0"/>
              <a:t>đảo chiều</a:t>
            </a:r>
            <a:r>
              <a:rPr lang="vi-VN" dirty="0"/>
              <a:t>, chảy </a:t>
            </a:r>
            <a:r>
              <a:rPr lang="vi-VN" b="1" dirty="0"/>
              <a:t>từ tải ngược về IC</a:t>
            </a:r>
            <a:r>
              <a:rPr lang="vi-VN" dirty="0"/>
              <a:t>.</a:t>
            </a:r>
          </a:p>
          <a:p>
            <a:r>
              <a:rPr lang="vi-VN" dirty="0"/>
              <a:t>➡️ Dòng này gọi là </a:t>
            </a:r>
            <a:r>
              <a:rPr lang="vi-VN" b="1" dirty="0"/>
              <a:t>dòng ngược (reverse current)</a:t>
            </a:r>
            <a:r>
              <a:rPr lang="vi-VN"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err="1"/>
              <a:t>Với</a:t>
            </a:r>
            <a:r>
              <a:rPr lang="en-US" dirty="0"/>
              <a:t> </a:t>
            </a:r>
            <a:r>
              <a:rPr lang="en-US" b="1" dirty="0"/>
              <a:t>high-side MOSFET</a:t>
            </a:r>
            <a:r>
              <a:rPr lang="en-US" dirty="0"/>
              <a:t>, </a:t>
            </a:r>
            <a:r>
              <a:rPr lang="en-US" b="1" dirty="0"/>
              <a:t>source </a:t>
            </a:r>
            <a:r>
              <a:rPr lang="en-US" b="1" dirty="0" err="1"/>
              <a:t>nối</a:t>
            </a:r>
            <a:r>
              <a:rPr lang="en-US" b="1" dirty="0"/>
              <a:t> </a:t>
            </a:r>
            <a:r>
              <a:rPr lang="en-US" b="1" dirty="0" err="1"/>
              <a:t>với</a:t>
            </a:r>
            <a:r>
              <a:rPr lang="en-US" b="1" dirty="0"/>
              <a:t> </a:t>
            </a:r>
            <a:r>
              <a:rPr lang="en-US" b="1" dirty="0" err="1"/>
              <a:t>tải</a:t>
            </a:r>
            <a:r>
              <a:rPr lang="en-US" dirty="0"/>
              <a:t>, </a:t>
            </a:r>
            <a:r>
              <a:rPr lang="en-US" dirty="0" err="1"/>
              <a:t>và</a:t>
            </a:r>
            <a:r>
              <a:rPr lang="en-US" dirty="0"/>
              <a:t> </a:t>
            </a:r>
            <a:r>
              <a:rPr lang="en-US" dirty="0" err="1"/>
              <a:t>tải</a:t>
            </a:r>
            <a:r>
              <a:rPr lang="en-US" dirty="0"/>
              <a:t> </a:t>
            </a:r>
            <a:r>
              <a:rPr lang="en-US" dirty="0" err="1"/>
              <a:t>nối</a:t>
            </a:r>
            <a:r>
              <a:rPr lang="en-US" dirty="0"/>
              <a:t> </a:t>
            </a:r>
            <a:r>
              <a:rPr lang="en-US" dirty="0" err="1"/>
              <a:t>xuống</a:t>
            </a:r>
            <a:r>
              <a:rPr lang="en-US" dirty="0"/>
              <a:t> GND.</a:t>
            </a:r>
          </a:p>
          <a:p>
            <a:r>
              <a:rPr lang="en-US" dirty="0"/>
              <a:t>Khi MOSFET </a:t>
            </a:r>
            <a:r>
              <a:rPr lang="en-US" dirty="0" err="1"/>
              <a:t>dẫn</a:t>
            </a:r>
            <a:r>
              <a:rPr lang="en-US" dirty="0"/>
              <a:t>, </a:t>
            </a:r>
            <a:r>
              <a:rPr lang="en-US" b="1" dirty="0"/>
              <a:t>source </a:t>
            </a:r>
            <a:r>
              <a:rPr lang="en-US" b="1" dirty="0" err="1"/>
              <a:t>tăng</a:t>
            </a:r>
            <a:r>
              <a:rPr lang="en-US" b="1" dirty="0"/>
              <a:t> </a:t>
            </a:r>
            <a:r>
              <a:rPr lang="en-US" b="1" dirty="0" err="1"/>
              <a:t>lên</a:t>
            </a:r>
            <a:r>
              <a:rPr lang="en-US" b="1" dirty="0"/>
              <a:t> </a:t>
            </a:r>
            <a:r>
              <a:rPr lang="en-US" b="1" dirty="0" err="1"/>
              <a:t>gần</a:t>
            </a:r>
            <a:r>
              <a:rPr lang="en-US" b="1" dirty="0"/>
              <a:t> </a:t>
            </a:r>
            <a:r>
              <a:rPr lang="en-US" b="1" dirty="0" err="1"/>
              <a:t>bằng</a:t>
            </a:r>
            <a:r>
              <a:rPr lang="en-US" b="1" dirty="0"/>
              <a:t> </a:t>
            </a:r>
            <a:r>
              <a:rPr lang="en-US" b="1" dirty="0" err="1"/>
              <a:t>điện</a:t>
            </a:r>
            <a:r>
              <a:rPr lang="en-US" b="1" dirty="0"/>
              <a:t> </a:t>
            </a:r>
            <a:r>
              <a:rPr lang="en-US" b="1" dirty="0" err="1"/>
              <a:t>áp</a:t>
            </a:r>
            <a:r>
              <a:rPr lang="en-US" b="1" dirty="0"/>
              <a:t> </a:t>
            </a:r>
            <a:r>
              <a:rPr lang="en-US" b="1" dirty="0" err="1"/>
              <a:t>nguồn</a:t>
            </a:r>
            <a:r>
              <a:rPr lang="en-US" b="1" dirty="0"/>
              <a:t> (VD = VCC)</a:t>
            </a:r>
            <a:r>
              <a:rPr lang="en-US" dirty="0"/>
              <a:t>.</a:t>
            </a:r>
            <a:br>
              <a:rPr lang="en-US" dirty="0"/>
            </a:br>
            <a:r>
              <a:rPr lang="en-US" dirty="0"/>
              <a:t>→ </a:t>
            </a:r>
            <a:r>
              <a:rPr lang="en-US" dirty="0" err="1"/>
              <a:t>Lúc</a:t>
            </a:r>
            <a:r>
              <a:rPr lang="en-US" dirty="0"/>
              <a:t> </a:t>
            </a:r>
            <a:r>
              <a:rPr lang="en-US" dirty="0" err="1"/>
              <a:t>này</a:t>
            </a:r>
            <a:r>
              <a:rPr lang="en-US" dirty="0"/>
              <a:t>, </a:t>
            </a:r>
            <a:r>
              <a:rPr lang="en-US" dirty="0" err="1"/>
              <a:t>nếu</a:t>
            </a:r>
            <a:r>
              <a:rPr lang="en-US" dirty="0"/>
              <a:t> ta </a:t>
            </a:r>
            <a:r>
              <a:rPr lang="en-US" dirty="0" err="1"/>
              <a:t>vẫn</a:t>
            </a:r>
            <a:r>
              <a:rPr lang="en-US" dirty="0"/>
              <a:t> </a:t>
            </a:r>
            <a:r>
              <a:rPr lang="en-US" dirty="0" err="1"/>
              <a:t>chỉ</a:t>
            </a:r>
            <a:r>
              <a:rPr lang="en-US" dirty="0"/>
              <a:t> </a:t>
            </a:r>
            <a:r>
              <a:rPr lang="en-US" dirty="0" err="1"/>
              <a:t>cấp</a:t>
            </a:r>
            <a:r>
              <a:rPr lang="en-US" dirty="0"/>
              <a:t> Gate = 10 V so </a:t>
            </a:r>
            <a:r>
              <a:rPr lang="en-US" dirty="0" err="1"/>
              <a:t>với</a:t>
            </a:r>
            <a:r>
              <a:rPr lang="en-US" dirty="0"/>
              <a:t> GND, </a:t>
            </a:r>
            <a:r>
              <a:rPr lang="en-US" dirty="0" err="1"/>
              <a:t>thì</a:t>
            </a:r>
            <a:r>
              <a:rPr lang="en-US" dirty="0"/>
              <a:t> MOSFET KHÔNG DẪN</a:t>
            </a:r>
          </a:p>
          <a:p>
            <a:r>
              <a:rPr lang="vi-VN" dirty="0"/>
              <a:t>➡️ Phải cần </a:t>
            </a:r>
            <a:r>
              <a:rPr lang="vi-VN" b="1" dirty="0"/>
              <a:t>mạch driver đặc biệt (bootstrap hoặc charge pump)</a:t>
            </a:r>
            <a:r>
              <a:rPr lang="vi-VN" dirty="0"/>
              <a:t> để tạo điện áp Gate cao </a:t>
            </a:r>
            <a:r>
              <a:rPr lang="vi-VN" b="1" dirty="0"/>
              <a:t>hơn cả VCC</a:t>
            </a:r>
            <a:r>
              <a:rPr lang="vi-VN" dirty="0"/>
              <a:t>, ví dụ </a:t>
            </a:r>
            <a:r>
              <a:rPr lang="vi-VN" b="1" dirty="0"/>
              <a:t>~22V</a:t>
            </a:r>
            <a:r>
              <a:rPr lang="vi-VN" dirty="0"/>
              <a:t>, để đảm bảo VGS ≈ +10V.</a:t>
            </a:r>
            <a:endParaRPr lang="en-US" dirty="0"/>
          </a:p>
          <a:p>
            <a:br>
              <a:rPr lang="en-US" sz="1200" b="1" i="0" kern="1200" dirty="0">
                <a:solidFill>
                  <a:schemeClr val="tx1"/>
                </a:solidFill>
                <a:effectLst/>
                <a:latin typeface="+mn-lt"/>
                <a:ea typeface="+mn-ea"/>
                <a:cs typeface="+mn-cs"/>
              </a:rPr>
            </a:br>
            <a:r>
              <a:rPr lang="vi-VN" sz="1200" b="1" i="0" kern="1200" dirty="0">
                <a:solidFill>
                  <a:schemeClr val="tx1"/>
                </a:solidFill>
                <a:effectLst/>
                <a:latin typeface="+mn-lt"/>
                <a:ea typeface="+mn-ea"/>
                <a:cs typeface="+mn-cs"/>
              </a:rPr>
              <a:t>Pha 1 (Công tắc trên BẬT - High-side MOSFET ON):</a:t>
            </a:r>
            <a:endParaRPr lang="vi-VN" sz="1200" b="0" i="0" kern="1200" dirty="0">
              <a:solidFill>
                <a:schemeClr val="tx1"/>
              </a:solidFill>
              <a:effectLst/>
              <a:latin typeface="+mn-lt"/>
              <a:ea typeface="+mn-ea"/>
              <a:cs typeface="+mn-cs"/>
            </a:endParaRPr>
          </a:p>
          <a:p>
            <a:r>
              <a:rPr lang="vi-VN" sz="1200" b="1" i="0" kern="1200" dirty="0">
                <a:solidFill>
                  <a:schemeClr val="tx1"/>
                </a:solidFill>
                <a:effectLst/>
                <a:latin typeface="+mn-lt"/>
                <a:ea typeface="+mn-ea"/>
                <a:cs typeface="+mn-cs"/>
              </a:rPr>
              <a:t>Đường dòng điện:</a:t>
            </a:r>
            <a:r>
              <a:rPr lang="vi-VN" sz="1200" b="0" i="0" kern="1200" dirty="0">
                <a:solidFill>
                  <a:schemeClr val="tx1"/>
                </a:solidFill>
                <a:effectLst/>
                <a:latin typeface="+mn-lt"/>
                <a:ea typeface="+mn-ea"/>
                <a:cs typeface="+mn-cs"/>
              </a:rPr>
              <a:t> IN → High-side MOSFET → Node LX/SW → Cuộn cảm (L) → Tải (VOUT) → GND.</a:t>
            </a:r>
          </a:p>
          <a:p>
            <a:r>
              <a:rPr lang="vi-VN" sz="1200" b="1" i="0" kern="1200" dirty="0">
                <a:solidFill>
                  <a:schemeClr val="tx1"/>
                </a:solidFill>
                <a:effectLst/>
                <a:latin typeface="+mn-lt"/>
                <a:ea typeface="+mn-ea"/>
                <a:cs typeface="+mn-cs"/>
              </a:rPr>
              <a:t>Nguyên lý:</a:t>
            </a:r>
            <a:r>
              <a:rPr lang="vi-VN" sz="1200" b="0" i="0" kern="1200" dirty="0">
                <a:solidFill>
                  <a:schemeClr val="tx1"/>
                </a:solidFill>
                <a:effectLst/>
                <a:latin typeface="+mn-lt"/>
                <a:ea typeface="+mn-ea"/>
                <a:cs typeface="+mn-cs"/>
              </a:rPr>
              <a:t> Khi có điện áp đặt lên cuộn cảm, từ trường trong nó tăng lên, chống lại sự thay đổi của dòng điện. Kết quả là dòng điện qua cuộn cảm </a:t>
            </a:r>
            <a:r>
              <a:rPr lang="vi-VN" sz="1200" b="1" i="0" kern="1200" dirty="0">
                <a:solidFill>
                  <a:schemeClr val="tx1"/>
                </a:solidFill>
                <a:effectLst/>
                <a:latin typeface="+mn-lt"/>
                <a:ea typeface="+mn-ea"/>
                <a:cs typeface="+mn-cs"/>
              </a:rPr>
              <a:t>tăng dần (ramp up)</a:t>
            </a:r>
            <a:r>
              <a:rPr lang="vi-VN" sz="1200" b="0" i="0" kern="1200" dirty="0">
                <a:solidFill>
                  <a:schemeClr val="tx1"/>
                </a:solidFill>
                <a:effectLst/>
                <a:latin typeface="+mn-lt"/>
                <a:ea typeface="+mn-ea"/>
                <a:cs typeface="+mn-cs"/>
              </a:rPr>
              <a:t> một cách tuyến tính.</a:t>
            </a:r>
          </a:p>
          <a:p>
            <a:r>
              <a:rPr lang="vi-VN" sz="1200" b="1" i="0" kern="1200" dirty="0">
                <a:solidFill>
                  <a:schemeClr val="tx1"/>
                </a:solidFill>
                <a:effectLst/>
                <a:latin typeface="+mn-lt"/>
                <a:ea typeface="+mn-ea"/>
                <a:cs typeface="+mn-cs"/>
              </a:rPr>
              <a:t>Năng lượng:</a:t>
            </a:r>
            <a:r>
              <a:rPr lang="vi-VN" sz="1200" b="0" i="0" kern="1200" dirty="0">
                <a:solidFill>
                  <a:schemeClr val="tx1"/>
                </a:solidFill>
                <a:effectLst/>
                <a:latin typeface="+mn-lt"/>
                <a:ea typeface="+mn-ea"/>
                <a:cs typeface="+mn-cs"/>
              </a:rPr>
              <a:t> Năng lượng được lấy trực tiếp từ nguồn vào (VIN), một phần cung cấp cho tải, phần còn lại được </a:t>
            </a:r>
            <a:r>
              <a:rPr lang="vi-VN" sz="1200" b="1" i="0" kern="1200" dirty="0">
                <a:solidFill>
                  <a:schemeClr val="tx1"/>
                </a:solidFill>
                <a:effectLst/>
                <a:latin typeface="+mn-lt"/>
                <a:ea typeface="+mn-ea"/>
                <a:cs typeface="+mn-cs"/>
              </a:rPr>
              <a:t>tích trữ dưới dạng từ trường</a:t>
            </a:r>
            <a:r>
              <a:rPr lang="vi-VN" sz="1200" b="0" i="0" kern="1200" dirty="0">
                <a:solidFill>
                  <a:schemeClr val="tx1"/>
                </a:solidFill>
                <a:effectLst/>
                <a:latin typeface="+mn-lt"/>
                <a:ea typeface="+mn-ea"/>
                <a:cs typeface="+mn-cs"/>
              </a:rPr>
              <a:t> trong cuộn cảm.</a:t>
            </a:r>
            <a:endParaRPr lang="en-US" sz="1200" b="0" i="0" kern="1200" dirty="0">
              <a:solidFill>
                <a:schemeClr val="tx1"/>
              </a:solidFill>
              <a:effectLst/>
              <a:latin typeface="+mn-lt"/>
              <a:ea typeface="+mn-ea"/>
              <a:cs typeface="+mn-cs"/>
            </a:endParaRPr>
          </a:p>
          <a:p>
            <a:endParaRPr lang="vi-VN" sz="1200" b="0" i="0" kern="1200" dirty="0">
              <a:solidFill>
                <a:schemeClr val="tx1"/>
              </a:solidFill>
              <a:effectLst/>
              <a:latin typeface="+mn-lt"/>
              <a:ea typeface="+mn-ea"/>
              <a:cs typeface="+mn-cs"/>
            </a:endParaRPr>
          </a:p>
          <a:p>
            <a:r>
              <a:rPr lang="vi-VN" sz="1200" b="1" i="0" kern="1200" dirty="0">
                <a:solidFill>
                  <a:schemeClr val="tx1"/>
                </a:solidFill>
                <a:effectLst/>
                <a:latin typeface="+mn-lt"/>
                <a:ea typeface="+mn-ea"/>
                <a:cs typeface="+mn-cs"/>
              </a:rPr>
              <a:t>Pha 2 (Công tắc dưới BẬT - Low-side MOSFET ON):</a:t>
            </a:r>
            <a:endParaRPr lang="vi-VN" sz="1200" b="0" i="0" kern="1200" dirty="0">
              <a:solidFill>
                <a:schemeClr val="tx1"/>
              </a:solidFill>
              <a:effectLst/>
              <a:latin typeface="+mn-lt"/>
              <a:ea typeface="+mn-ea"/>
              <a:cs typeface="+mn-cs"/>
            </a:endParaRPr>
          </a:p>
          <a:p>
            <a:r>
              <a:rPr lang="vi-VN" sz="1200" b="1" i="0" kern="1200" dirty="0">
                <a:solidFill>
                  <a:schemeClr val="tx1"/>
                </a:solidFill>
                <a:effectLst/>
                <a:latin typeface="+mn-lt"/>
                <a:ea typeface="+mn-ea"/>
                <a:cs typeface="+mn-cs"/>
              </a:rPr>
              <a:t>Đường dòng điện:</a:t>
            </a:r>
            <a:r>
              <a:rPr lang="vi-VN" sz="1200" b="0" i="0" kern="1200" dirty="0">
                <a:solidFill>
                  <a:schemeClr val="tx1"/>
                </a:solidFill>
                <a:effectLst/>
                <a:latin typeface="+mn-lt"/>
                <a:ea typeface="+mn-ea"/>
                <a:cs typeface="+mn-cs"/>
              </a:rPr>
              <a:t> GND → Low-side MOSFET → Node LX/SW → Cuộn cảm (L) → Tải (VOUT) → GND. (Tạo thành một vòng kín).</a:t>
            </a:r>
          </a:p>
          <a:p>
            <a:r>
              <a:rPr lang="vi-VN" sz="1200" b="1" i="0" kern="1200" dirty="0">
                <a:solidFill>
                  <a:schemeClr val="tx1"/>
                </a:solidFill>
                <a:effectLst/>
                <a:latin typeface="+mn-lt"/>
                <a:ea typeface="+mn-ea"/>
                <a:cs typeface="+mn-cs"/>
              </a:rPr>
              <a:t>Nguyên lý:</a:t>
            </a:r>
            <a:r>
              <a:rPr lang="vi-VN" sz="1200" b="0" i="0" kern="1200" dirty="0">
                <a:solidFill>
                  <a:schemeClr val="tx1"/>
                </a:solidFill>
                <a:effectLst/>
                <a:latin typeface="+mn-lt"/>
                <a:ea typeface="+mn-ea"/>
                <a:cs typeface="+mn-cs"/>
              </a:rPr>
              <a:t> Khi điện áp tại Node LX/SW bị kéo xuống ~0V, điện áp trên cuộn cảm đảo chiều. Từ trường trong cuộn cảm suy giảm, tạo ra một dòng điện để duy trì từ thông. Kết quả là dòng điện qua cuộn cảm </a:t>
            </a:r>
            <a:r>
              <a:rPr lang="vi-VN" sz="1200" b="1" i="0" kern="1200" dirty="0">
                <a:solidFill>
                  <a:schemeClr val="tx1"/>
                </a:solidFill>
                <a:effectLst/>
                <a:latin typeface="+mn-lt"/>
                <a:ea typeface="+mn-ea"/>
                <a:cs typeface="+mn-cs"/>
              </a:rPr>
              <a:t>giảm dần (ramp down)</a:t>
            </a:r>
            <a:r>
              <a:rPr lang="vi-VN" sz="1200" b="0" i="0" kern="1200" dirty="0">
                <a:solidFill>
                  <a:schemeClr val="tx1"/>
                </a:solidFill>
                <a:effectLst/>
                <a:latin typeface="+mn-lt"/>
                <a:ea typeface="+mn-ea"/>
                <a:cs typeface="+mn-cs"/>
              </a:rPr>
              <a:t> một cách tuyến tính.</a:t>
            </a:r>
          </a:p>
          <a:p>
            <a:r>
              <a:rPr lang="vi-VN" sz="1200" b="1" i="0" kern="1200" dirty="0">
                <a:solidFill>
                  <a:schemeClr val="tx1"/>
                </a:solidFill>
                <a:effectLst/>
                <a:latin typeface="+mn-lt"/>
                <a:ea typeface="+mn-ea"/>
                <a:cs typeface="+mn-cs"/>
              </a:rPr>
              <a:t>Năng lượng:</a:t>
            </a:r>
            <a:r>
              <a:rPr lang="vi-VN" sz="1200" b="0" i="0" kern="1200" dirty="0">
                <a:solidFill>
                  <a:schemeClr val="tx1"/>
                </a:solidFill>
                <a:effectLst/>
                <a:latin typeface="+mn-lt"/>
                <a:ea typeface="+mn-ea"/>
                <a:cs typeface="+mn-cs"/>
              </a:rPr>
              <a:t> Lúc này, cuộn cảm hoạt động như một </a:t>
            </a:r>
            <a:r>
              <a:rPr lang="vi-VN" sz="1200" b="1" i="0" kern="1200" dirty="0">
                <a:solidFill>
                  <a:schemeClr val="tx1"/>
                </a:solidFill>
                <a:effectLst/>
                <a:latin typeface="+mn-lt"/>
                <a:ea typeface="+mn-ea"/>
                <a:cs typeface="+mn-cs"/>
              </a:rPr>
              <a:t>nguồn dòng</a:t>
            </a:r>
            <a:r>
              <a:rPr lang="vi-VN" sz="1200" b="0"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phóng năng lượng</a:t>
            </a:r>
            <a:r>
              <a:rPr lang="vi-VN" sz="1200" b="0" i="0" kern="1200" dirty="0">
                <a:solidFill>
                  <a:schemeClr val="tx1"/>
                </a:solidFill>
                <a:effectLst/>
                <a:latin typeface="+mn-lt"/>
                <a:ea typeface="+mn-ea"/>
                <a:cs typeface="+mn-cs"/>
              </a:rPr>
              <a:t> nó đã tích lũy trước đó để duy trì dòng điện cho tải.</a:t>
            </a:r>
          </a:p>
          <a:p>
            <a:endParaRPr lang="en-US" dirty="0"/>
          </a:p>
          <a:p>
            <a:endParaRPr lang="vi-VN" dirty="0"/>
          </a:p>
        </p:txBody>
      </p:sp>
      <p:sp>
        <p:nvSpPr>
          <p:cNvPr id="4" name="Slide Number Placeholder 3">
            <a:extLst>
              <a:ext uri="{FF2B5EF4-FFF2-40B4-BE49-F238E27FC236}">
                <a16:creationId xmlns:a16="http://schemas.microsoft.com/office/drawing/2014/main" id="{70F05B47-B70C-018B-6603-2EF50AF7FC82}"/>
              </a:ext>
            </a:extLst>
          </p:cNvPr>
          <p:cNvSpPr>
            <a:spLocks noGrp="1"/>
          </p:cNvSpPr>
          <p:nvPr>
            <p:ph type="sldNum" sz="quarter" idx="5"/>
          </p:nvPr>
        </p:nvSpPr>
        <p:spPr/>
        <p:txBody>
          <a:bodyPr/>
          <a:lstStyle/>
          <a:p>
            <a:fld id="{3B490163-FAFD-47D6-BE4F-B2E71F8CC245}" type="slidenum">
              <a:rPr lang="en-US" smtClean="0"/>
              <a:t>6</a:t>
            </a:fld>
            <a:endParaRPr lang="en-US"/>
          </a:p>
        </p:txBody>
      </p:sp>
    </p:spTree>
    <p:extLst>
      <p:ext uri="{BB962C8B-B14F-4D97-AF65-F5344CB8AC3E}">
        <p14:creationId xmlns:p14="http://schemas.microsoft.com/office/powerpoint/2010/main" val="3638073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BEA29-4E60-BDD3-68EF-72087930D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63FB1-E45B-E92B-A7F2-88E8DA057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6F5CD-36C5-32CA-B550-49AB0D0C2882}"/>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Chân</a:t>
            </a:r>
            <a:r>
              <a:rPr lang="en-US" sz="1200" b="0" i="0" kern="1200" dirty="0">
                <a:solidFill>
                  <a:schemeClr val="tx1"/>
                </a:solidFill>
                <a:effectLst/>
                <a:latin typeface="+mn-lt"/>
                <a:ea typeface="+mn-ea"/>
                <a:cs typeface="+mn-cs"/>
              </a:rPr>
              <a:t> LX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áp</a:t>
            </a:r>
            <a:r>
              <a:rPr lang="en-US" sz="1200" b="0" i="0" kern="1200" dirty="0">
                <a:solidFill>
                  <a:schemeClr val="tx1"/>
                </a:solidFill>
                <a:effectLst/>
                <a:latin typeface="+mn-lt"/>
                <a:ea typeface="+mn-ea"/>
                <a:cs typeface="+mn-cs"/>
              </a:rPr>
              <a:t> DC </a:t>
            </a:r>
            <a:r>
              <a:rPr lang="en-US" sz="1200" b="0" i="0" kern="1200" dirty="0" err="1">
                <a:solidFill>
                  <a:schemeClr val="tx1"/>
                </a:solidFill>
                <a:effectLst/>
                <a:latin typeface="+mn-lt"/>
                <a:ea typeface="+mn-ea"/>
                <a:cs typeface="+mn-cs"/>
              </a:rPr>
              <a:t>cố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tục</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bật</a:t>
            </a:r>
            <a:r>
              <a:rPr lang="en-US" sz="1200" b="1" i="0" kern="1200" dirty="0">
                <a:solidFill>
                  <a:schemeClr val="tx1"/>
                </a:solidFill>
                <a:effectLst/>
                <a:latin typeface="+mn-lt"/>
                <a:ea typeface="+mn-ea"/>
                <a:cs typeface="+mn-cs"/>
              </a:rPr>
              <a:t> (ON) </a:t>
            </a:r>
            <a:r>
              <a:rPr lang="en-US" sz="1200" b="1" i="0" kern="1200" dirty="0" err="1">
                <a:solidFill>
                  <a:schemeClr val="tx1"/>
                </a:solidFill>
                <a:effectLst/>
                <a:latin typeface="+mn-lt"/>
                <a:ea typeface="+mn-ea"/>
                <a:cs typeface="+mn-cs"/>
              </a:rPr>
              <a:t>và</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tắt</a:t>
            </a:r>
            <a:r>
              <a:rPr lang="en-US" sz="1200" b="1" i="0" kern="1200" dirty="0">
                <a:solidFill>
                  <a:schemeClr val="tx1"/>
                </a:solidFill>
                <a:effectLst/>
                <a:latin typeface="+mn-lt"/>
                <a:ea typeface="+mn-ea"/>
                <a:cs typeface="+mn-cs"/>
              </a:rPr>
              <a:t> (OFF)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nhanh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trăm</a:t>
            </a:r>
            <a:r>
              <a:rPr lang="en-US" sz="1200" b="0" i="0" kern="1200" dirty="0">
                <a:solidFill>
                  <a:schemeClr val="tx1"/>
                </a:solidFill>
                <a:effectLst/>
                <a:latin typeface="+mn-lt"/>
                <a:ea typeface="+mn-ea"/>
                <a:cs typeface="+mn-cs"/>
              </a:rPr>
              <a:t> kHz </a:t>
            </a:r>
            <a:r>
              <a:rPr lang="en-US" sz="1200" b="0" i="0" kern="1200" dirty="0" err="1">
                <a:solidFill>
                  <a:schemeClr val="tx1"/>
                </a:solidFill>
                <a:effectLst/>
                <a:latin typeface="+mn-lt"/>
                <a:ea typeface="+mn-ea"/>
                <a:cs typeface="+mn-cs"/>
              </a:rPr>
              <a:t>đến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MHz).</a:t>
            </a:r>
            <a:endParaRPr lang="en-US" sz="1200" dirty="0"/>
          </a:p>
        </p:txBody>
      </p:sp>
      <p:sp>
        <p:nvSpPr>
          <p:cNvPr id="4" name="Slide Number Placeholder 3">
            <a:extLst>
              <a:ext uri="{FF2B5EF4-FFF2-40B4-BE49-F238E27FC236}">
                <a16:creationId xmlns:a16="http://schemas.microsoft.com/office/drawing/2014/main" id="{F6BF4DE0-A0D6-1E33-3A63-13B8C332A237}"/>
              </a:ext>
            </a:extLst>
          </p:cNvPr>
          <p:cNvSpPr>
            <a:spLocks noGrp="1"/>
          </p:cNvSpPr>
          <p:nvPr>
            <p:ph type="sldNum" sz="quarter" idx="5"/>
          </p:nvPr>
        </p:nvSpPr>
        <p:spPr/>
        <p:txBody>
          <a:bodyPr/>
          <a:lstStyle/>
          <a:p>
            <a:fld id="{3B490163-FAFD-47D6-BE4F-B2E71F8CC245}" type="slidenum">
              <a:rPr lang="en-US" smtClean="0"/>
              <a:t>7</a:t>
            </a:fld>
            <a:endParaRPr lang="en-US"/>
          </a:p>
        </p:txBody>
      </p:sp>
    </p:spTree>
    <p:extLst>
      <p:ext uri="{BB962C8B-B14F-4D97-AF65-F5344CB8AC3E}">
        <p14:creationId xmlns:p14="http://schemas.microsoft.com/office/powerpoint/2010/main" val="1115064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1FB0-C28E-A1A7-125C-91E0F8AD5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72F28-F9C4-9DC6-336F-5C69A30FF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3FDAA-E50A-DE65-3C26-A07831BA8A49}"/>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Chân</a:t>
            </a:r>
            <a:r>
              <a:rPr lang="en-US" sz="1200" b="0" i="0" kern="1200" dirty="0">
                <a:solidFill>
                  <a:schemeClr val="tx1"/>
                </a:solidFill>
                <a:effectLst/>
                <a:latin typeface="+mn-lt"/>
                <a:ea typeface="+mn-ea"/>
                <a:cs typeface="+mn-cs"/>
              </a:rPr>
              <a:t> LX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áp</a:t>
            </a:r>
            <a:r>
              <a:rPr lang="en-US" sz="1200" b="0" i="0" kern="1200" dirty="0">
                <a:solidFill>
                  <a:schemeClr val="tx1"/>
                </a:solidFill>
                <a:effectLst/>
                <a:latin typeface="+mn-lt"/>
                <a:ea typeface="+mn-ea"/>
                <a:cs typeface="+mn-cs"/>
              </a:rPr>
              <a:t> DC </a:t>
            </a:r>
            <a:r>
              <a:rPr lang="en-US" sz="1200" b="0" i="0" kern="1200" dirty="0" err="1">
                <a:solidFill>
                  <a:schemeClr val="tx1"/>
                </a:solidFill>
                <a:effectLst/>
                <a:latin typeface="+mn-lt"/>
                <a:ea typeface="+mn-ea"/>
                <a:cs typeface="+mn-cs"/>
              </a:rPr>
              <a:t>cố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định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tục</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bật</a:t>
            </a:r>
            <a:r>
              <a:rPr lang="en-US" sz="1200" b="1" i="0" kern="1200" dirty="0">
                <a:solidFill>
                  <a:schemeClr val="tx1"/>
                </a:solidFill>
                <a:effectLst/>
                <a:latin typeface="+mn-lt"/>
                <a:ea typeface="+mn-ea"/>
                <a:cs typeface="+mn-cs"/>
              </a:rPr>
              <a:t> (ON) </a:t>
            </a:r>
            <a:r>
              <a:rPr lang="en-US" sz="1200" b="1" i="0" kern="1200" dirty="0" err="1">
                <a:solidFill>
                  <a:schemeClr val="tx1"/>
                </a:solidFill>
                <a:effectLst/>
                <a:latin typeface="+mn-lt"/>
                <a:ea typeface="+mn-ea"/>
                <a:cs typeface="+mn-cs"/>
              </a:rPr>
              <a:t>và</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tắt</a:t>
            </a:r>
            <a:r>
              <a:rPr lang="en-US" sz="1200" b="1" i="0" kern="1200" dirty="0">
                <a:solidFill>
                  <a:schemeClr val="tx1"/>
                </a:solidFill>
                <a:effectLst/>
                <a:latin typeface="+mn-lt"/>
                <a:ea typeface="+mn-ea"/>
                <a:cs typeface="+mn-cs"/>
              </a:rPr>
              <a:t> (OFF)</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nhanh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từ</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trăm</a:t>
            </a:r>
            <a:r>
              <a:rPr lang="en-US" sz="1200" b="0" i="0" kern="1200" dirty="0">
                <a:solidFill>
                  <a:schemeClr val="tx1"/>
                </a:solidFill>
                <a:effectLst/>
                <a:latin typeface="+mn-lt"/>
                <a:ea typeface="+mn-ea"/>
                <a:cs typeface="+mn-cs"/>
              </a:rPr>
              <a:t> kHz </a:t>
            </a:r>
            <a:r>
              <a:rPr lang="en-US" sz="1200" b="0" i="0" kern="1200" dirty="0" err="1">
                <a:solidFill>
                  <a:schemeClr val="tx1"/>
                </a:solidFill>
                <a:effectLst/>
                <a:latin typeface="+mn-lt"/>
                <a:ea typeface="+mn-ea"/>
                <a:cs typeface="+mn-cs"/>
              </a:rPr>
              <a:t>đến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MHz).</a:t>
            </a:r>
            <a:endParaRPr lang="en-US" sz="1200" dirty="0"/>
          </a:p>
        </p:txBody>
      </p:sp>
      <p:sp>
        <p:nvSpPr>
          <p:cNvPr id="4" name="Slide Number Placeholder 3">
            <a:extLst>
              <a:ext uri="{FF2B5EF4-FFF2-40B4-BE49-F238E27FC236}">
                <a16:creationId xmlns:a16="http://schemas.microsoft.com/office/drawing/2014/main" id="{0854A24B-B63A-0A91-D240-A216D9BE68D8}"/>
              </a:ext>
            </a:extLst>
          </p:cNvPr>
          <p:cNvSpPr>
            <a:spLocks noGrp="1"/>
          </p:cNvSpPr>
          <p:nvPr>
            <p:ph type="sldNum" sz="quarter" idx="5"/>
          </p:nvPr>
        </p:nvSpPr>
        <p:spPr/>
        <p:txBody>
          <a:bodyPr/>
          <a:lstStyle/>
          <a:p>
            <a:fld id="{3B490163-FAFD-47D6-BE4F-B2E71F8CC245}" type="slidenum">
              <a:rPr lang="en-US" smtClean="0"/>
              <a:t>8</a:t>
            </a:fld>
            <a:endParaRPr lang="en-US"/>
          </a:p>
        </p:txBody>
      </p:sp>
    </p:spTree>
    <p:extLst>
      <p:ext uri="{BB962C8B-B14F-4D97-AF65-F5344CB8AC3E}">
        <p14:creationId xmlns:p14="http://schemas.microsoft.com/office/powerpoint/2010/main" val="3062842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267E-001C-C1B9-B43F-D82BFD409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B3698-7A5D-F20F-230D-290BBC9F5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B6E9A-48EC-567A-47AD-2C0F8766DC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CEF75-5338-000C-BB42-5907B367F3F2}"/>
              </a:ext>
            </a:extLst>
          </p:cNvPr>
          <p:cNvSpPr>
            <a:spLocks noGrp="1"/>
          </p:cNvSpPr>
          <p:nvPr>
            <p:ph type="sldNum" sz="quarter" idx="5"/>
          </p:nvPr>
        </p:nvSpPr>
        <p:spPr/>
        <p:txBody>
          <a:bodyPr/>
          <a:lstStyle/>
          <a:p>
            <a:fld id="{3B490163-FAFD-47D6-BE4F-B2E71F8CC245}" type="slidenum">
              <a:rPr lang="en-US" smtClean="0"/>
              <a:t>9</a:t>
            </a:fld>
            <a:endParaRPr lang="en-US"/>
          </a:p>
        </p:txBody>
      </p:sp>
    </p:spTree>
    <p:extLst>
      <p:ext uri="{BB962C8B-B14F-4D97-AF65-F5344CB8AC3E}">
        <p14:creationId xmlns:p14="http://schemas.microsoft.com/office/powerpoint/2010/main" val="976401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E307B-C190-AE8D-BD7B-24A1182FC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81FFD-3CCA-456E-A05C-5A640FBF7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116D2-3F0C-055F-78C4-0833AD4286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90695A-4E06-7946-41D7-52AD6802E09C}"/>
              </a:ext>
            </a:extLst>
          </p:cNvPr>
          <p:cNvSpPr>
            <a:spLocks noGrp="1"/>
          </p:cNvSpPr>
          <p:nvPr>
            <p:ph type="sldNum" sz="quarter" idx="5"/>
          </p:nvPr>
        </p:nvSpPr>
        <p:spPr/>
        <p:txBody>
          <a:bodyPr/>
          <a:lstStyle/>
          <a:p>
            <a:fld id="{3B490163-FAFD-47D6-BE4F-B2E71F8CC245}" type="slidenum">
              <a:rPr lang="en-US" smtClean="0"/>
              <a:t>10</a:t>
            </a:fld>
            <a:endParaRPr lang="en-US"/>
          </a:p>
        </p:txBody>
      </p:sp>
    </p:spTree>
    <p:extLst>
      <p:ext uri="{BB962C8B-B14F-4D97-AF65-F5344CB8AC3E}">
        <p14:creationId xmlns:p14="http://schemas.microsoft.com/office/powerpoint/2010/main" val="2696031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993D-1EC1-CD23-6410-DA2A9C715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79493-2CB5-BB43-E45F-50212EA09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D6EC7-475D-AD58-00E7-EB71646A53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B7C8E-B857-F28A-5494-4B3089EF6423}"/>
              </a:ext>
            </a:extLst>
          </p:cNvPr>
          <p:cNvSpPr>
            <a:spLocks noGrp="1"/>
          </p:cNvSpPr>
          <p:nvPr>
            <p:ph type="sldNum" sz="quarter" idx="5"/>
          </p:nvPr>
        </p:nvSpPr>
        <p:spPr/>
        <p:txBody>
          <a:bodyPr/>
          <a:lstStyle/>
          <a:p>
            <a:fld id="{3B490163-FAFD-47D6-BE4F-B2E71F8CC245}" type="slidenum">
              <a:rPr lang="en-US" smtClean="0"/>
              <a:t>11</a:t>
            </a:fld>
            <a:endParaRPr lang="en-US"/>
          </a:p>
        </p:txBody>
      </p:sp>
    </p:spTree>
    <p:extLst>
      <p:ext uri="{BB962C8B-B14F-4D97-AF65-F5344CB8AC3E}">
        <p14:creationId xmlns:p14="http://schemas.microsoft.com/office/powerpoint/2010/main" val="2850179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40A57-7E88-400E-E846-13EAECC08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B0F88-F35B-235B-1129-17F138DC4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ACF7E-3627-FA2F-4F09-4807D09408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489E8-8875-C310-B087-C4EC6942287C}"/>
              </a:ext>
            </a:extLst>
          </p:cNvPr>
          <p:cNvSpPr>
            <a:spLocks noGrp="1"/>
          </p:cNvSpPr>
          <p:nvPr>
            <p:ph type="sldNum" sz="quarter" idx="5"/>
          </p:nvPr>
        </p:nvSpPr>
        <p:spPr/>
        <p:txBody>
          <a:bodyPr/>
          <a:lstStyle/>
          <a:p>
            <a:fld id="{3B490163-FAFD-47D6-BE4F-B2E71F8CC245}" type="slidenum">
              <a:rPr lang="en-US" smtClean="0"/>
              <a:t>12</a:t>
            </a:fld>
            <a:endParaRPr lang="en-US"/>
          </a:p>
        </p:txBody>
      </p:sp>
    </p:spTree>
    <p:extLst>
      <p:ext uri="{BB962C8B-B14F-4D97-AF65-F5344CB8AC3E}">
        <p14:creationId xmlns:p14="http://schemas.microsoft.com/office/powerpoint/2010/main" val="84831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E2897-E2AE-DBAB-A85B-27B74776E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37927-73FC-CC32-DD8D-1D87A0B28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395E6-2B97-DF0B-370B-EDDB9E126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55E93-21EF-ED04-5BB1-8B852E43E032}"/>
              </a:ext>
            </a:extLst>
          </p:cNvPr>
          <p:cNvSpPr>
            <a:spLocks noGrp="1"/>
          </p:cNvSpPr>
          <p:nvPr>
            <p:ph type="sldNum" sz="quarter" idx="5"/>
          </p:nvPr>
        </p:nvSpPr>
        <p:spPr/>
        <p:txBody>
          <a:bodyPr/>
          <a:lstStyle/>
          <a:p>
            <a:fld id="{3B490163-FAFD-47D6-BE4F-B2E71F8CC245}" type="slidenum">
              <a:rPr lang="en-US" smtClean="0"/>
              <a:t>13</a:t>
            </a:fld>
            <a:endParaRPr lang="en-US"/>
          </a:p>
        </p:txBody>
      </p:sp>
    </p:spTree>
    <p:extLst>
      <p:ext uri="{BB962C8B-B14F-4D97-AF65-F5344CB8AC3E}">
        <p14:creationId xmlns:p14="http://schemas.microsoft.com/office/powerpoint/2010/main" val="1885963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A6A0A-60E4-74F7-0260-8C678507E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EE43A-D864-F575-3CC6-F2CA8C575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D9246-B044-6FFD-6C8E-F444FCF1A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C25AA4-8E63-7AE3-1153-78FA6711CE38}"/>
              </a:ext>
            </a:extLst>
          </p:cNvPr>
          <p:cNvSpPr>
            <a:spLocks noGrp="1"/>
          </p:cNvSpPr>
          <p:nvPr>
            <p:ph type="sldNum" sz="quarter" idx="5"/>
          </p:nvPr>
        </p:nvSpPr>
        <p:spPr/>
        <p:txBody>
          <a:bodyPr/>
          <a:lstStyle/>
          <a:p>
            <a:fld id="{3B490163-FAFD-47D6-BE4F-B2E71F8CC245}" type="slidenum">
              <a:rPr lang="en-US" smtClean="0"/>
              <a:t>14</a:t>
            </a:fld>
            <a:endParaRPr lang="en-US"/>
          </a:p>
        </p:txBody>
      </p:sp>
    </p:spTree>
    <p:extLst>
      <p:ext uri="{BB962C8B-B14F-4D97-AF65-F5344CB8AC3E}">
        <p14:creationId xmlns:p14="http://schemas.microsoft.com/office/powerpoint/2010/main" val="1633996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C48AD7-E71C-4EF3-8479-A49C30280DCE}"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738424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13773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48AD7-E71C-4EF3-8479-A49C30280DCE}"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76946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C48AD7-E71C-4EF3-8479-A49C30280DCE}"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529774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C48AD7-E71C-4EF3-8479-A49C30280DCE}"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989528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C48AD7-E71C-4EF3-8479-A49C30280DCE}"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33335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C48AD7-E71C-4EF3-8479-A49C30280DCE}"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4109340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48AD7-E71C-4EF3-8479-A49C30280DCE}"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68760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48AD7-E71C-4EF3-8479-A49C30280DCE}"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65499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2077375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C48AD7-E71C-4EF3-8479-A49C30280DCE}"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973BD-8CE5-47C4-B8E5-573200B24DAB}" type="slidenum">
              <a:rPr lang="en-US" smtClean="0"/>
              <a:t>‹#›</a:t>
            </a:fld>
            <a:endParaRPr lang="en-US"/>
          </a:p>
        </p:txBody>
      </p:sp>
    </p:spTree>
    <p:extLst>
      <p:ext uri="{BB962C8B-B14F-4D97-AF65-F5344CB8AC3E}">
        <p14:creationId xmlns:p14="http://schemas.microsoft.com/office/powerpoint/2010/main" val="3110143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48AD7-E71C-4EF3-8479-A49C30280DCE}" type="datetimeFigureOut">
              <a:rPr lang="en-US" smtClean="0"/>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973BD-8CE5-47C4-B8E5-573200B24DAB}" type="slidenum">
              <a:rPr lang="en-US" smtClean="0"/>
              <a:t>‹#›</a:t>
            </a:fld>
            <a:endParaRPr lang="en-US"/>
          </a:p>
        </p:txBody>
      </p:sp>
    </p:spTree>
    <p:extLst>
      <p:ext uri="{BB962C8B-B14F-4D97-AF65-F5344CB8AC3E}">
        <p14:creationId xmlns:p14="http://schemas.microsoft.com/office/powerpoint/2010/main" val="164352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6245"/>
          </a:xfrm>
          <a:prstGeom prst="rect">
            <a:avLst/>
          </a:prstGeom>
        </p:spPr>
      </p:pic>
      <p:sp>
        <p:nvSpPr>
          <p:cNvPr id="8" name="TextBox 7">
            <a:extLst>
              <a:ext uri="{FF2B5EF4-FFF2-40B4-BE49-F238E27FC236}">
                <a16:creationId xmlns:a16="http://schemas.microsoft.com/office/drawing/2014/main" id="{38F1B2A3-E29E-43DC-BBB4-3684AB047AB3}"/>
              </a:ext>
            </a:extLst>
          </p:cNvPr>
          <p:cNvSpPr txBox="1"/>
          <p:nvPr/>
        </p:nvSpPr>
        <p:spPr>
          <a:xfrm>
            <a:off x="0" y="3657600"/>
            <a:ext cx="9144000" cy="1094210"/>
          </a:xfrm>
          <a:prstGeom prst="rect">
            <a:avLst/>
          </a:prstGeom>
          <a:noFill/>
        </p:spPr>
        <p:txBody>
          <a:bodyPr wrap="square">
            <a:spAutoFit/>
          </a:bodyPr>
          <a:lstStyle/>
          <a:p>
            <a:pPr algn="ctr">
              <a:lnSpc>
                <a:spcPct val="107000"/>
              </a:lnSpc>
              <a:spcAft>
                <a:spcPts val="800"/>
              </a:spcAft>
            </a:pPr>
            <a:r>
              <a:rPr lang="en-US" sz="2800" b="1" dirty="0">
                <a:solidFill>
                  <a:srgbClr val="FF0000"/>
                </a:solidFill>
                <a:latin typeface="+mj-lt"/>
                <a:ea typeface="Calibri" panose="020F0502020204030204" pitchFamily="34" charset="0"/>
                <a:cs typeface="Times New Roman" panose="02020603050405020304" pitchFamily="18" charset="0"/>
              </a:rPr>
              <a:t>Học </a:t>
            </a:r>
            <a:r>
              <a:rPr lang="en-US" sz="2800" b="1" dirty="0" err="1">
                <a:solidFill>
                  <a:srgbClr val="FF0000"/>
                </a:solidFill>
                <a:latin typeface="+mj-lt"/>
                <a:ea typeface="Calibri" panose="020F0502020204030204" pitchFamily="34" charset="0"/>
                <a:cs typeface="Times New Roman" panose="02020603050405020304" pitchFamily="18" charset="0"/>
              </a:rPr>
              <a:t>phần</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Nguồn</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điện</a:t>
            </a:r>
            <a:endParaRPr lang="en-US" sz="2800" b="1" dirty="0">
              <a:solidFill>
                <a:srgbClr val="FF0000"/>
              </a:solidFill>
              <a:latin typeface="+mj-lt"/>
              <a:ea typeface="Calibri" panose="020F0502020204030204" pitchFamily="34" charset="0"/>
              <a:cs typeface="Times New Roman" panose="02020603050405020304" pitchFamily="18" charset="0"/>
            </a:endParaRPr>
          </a:p>
          <a:p>
            <a:pPr algn="ctr">
              <a:lnSpc>
                <a:spcPct val="107000"/>
              </a:lnSpc>
              <a:spcAft>
                <a:spcPts val="800"/>
              </a:spcAft>
            </a:pPr>
            <a:r>
              <a:rPr lang="en-US" sz="2800" b="1" dirty="0" err="1">
                <a:solidFill>
                  <a:srgbClr val="FF0000"/>
                </a:solidFill>
                <a:latin typeface="+mj-lt"/>
                <a:ea typeface="Calibri" panose="020F0502020204030204" pitchFamily="34" charset="0"/>
                <a:cs typeface="Times New Roman" panose="02020603050405020304" pitchFamily="18" charset="0"/>
              </a:rPr>
              <a:t>Thiết</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kế</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mạch</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hạ</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áp</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sử</a:t>
            </a:r>
            <a:r>
              <a:rPr lang="en-US" sz="2800" b="1" dirty="0">
                <a:solidFill>
                  <a:srgbClr val="FF0000"/>
                </a:solidFill>
                <a:latin typeface="+mj-lt"/>
                <a:ea typeface="Calibri" panose="020F0502020204030204" pitchFamily="34" charset="0"/>
                <a:cs typeface="Times New Roman" panose="02020603050405020304" pitchFamily="18" charset="0"/>
              </a:rPr>
              <a:t> </a:t>
            </a:r>
            <a:r>
              <a:rPr lang="en-US" sz="2800" b="1" dirty="0" err="1">
                <a:solidFill>
                  <a:srgbClr val="FF0000"/>
                </a:solidFill>
                <a:latin typeface="+mj-lt"/>
                <a:ea typeface="Calibri" panose="020F0502020204030204" pitchFamily="34" charset="0"/>
                <a:cs typeface="Times New Roman" panose="02020603050405020304" pitchFamily="18" charset="0"/>
              </a:rPr>
              <a:t>dụng</a:t>
            </a:r>
            <a:r>
              <a:rPr lang="en-US" sz="2800" b="1" dirty="0">
                <a:solidFill>
                  <a:srgbClr val="FF0000"/>
                </a:solidFill>
                <a:latin typeface="+mj-lt"/>
                <a:ea typeface="Calibri" panose="020F0502020204030204" pitchFamily="34" charset="0"/>
                <a:cs typeface="Times New Roman" panose="02020603050405020304" pitchFamily="18" charset="0"/>
              </a:rPr>
              <a:t> IC SY8120B1</a:t>
            </a:r>
            <a:endParaRPr lang="vi-VN" sz="2800" b="1" dirty="0">
              <a:solidFill>
                <a:srgbClr val="FF000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54D2257-D9D4-1620-8F41-C360ABD0AED2}"/>
              </a:ext>
            </a:extLst>
          </p:cNvPr>
          <p:cNvSpPr txBox="1"/>
          <p:nvPr/>
        </p:nvSpPr>
        <p:spPr>
          <a:xfrm>
            <a:off x="533400" y="4866807"/>
            <a:ext cx="8610600" cy="1604029"/>
          </a:xfrm>
          <a:prstGeom prst="rect">
            <a:avLst/>
          </a:prstGeom>
          <a:noFill/>
        </p:spPr>
        <p:txBody>
          <a:bodyPr wrap="square">
            <a:spAutoFit/>
          </a:bodyPr>
          <a:lstStyle/>
          <a:p>
            <a:pPr>
              <a:lnSpc>
                <a:spcPct val="107000"/>
              </a:lnSpc>
              <a:spcAft>
                <a:spcPts val="800"/>
              </a:spcAft>
            </a:pPr>
            <a:r>
              <a:rPr lang="en-US" dirty="0">
                <a:latin typeface="Calibri (Headings)"/>
                <a:ea typeface="Calibri" panose="020F0502020204030204" pitchFamily="34" charset="0"/>
                <a:cs typeface="Times New Roman" panose="02020603050405020304" pitchFamily="18" charset="0"/>
              </a:rPr>
              <a:t>GVHS: </a:t>
            </a:r>
            <a:r>
              <a:rPr lang="en-US" dirty="0" err="1">
                <a:latin typeface="Calibri (Headings)"/>
                <a:ea typeface="Calibri" panose="020F0502020204030204" pitchFamily="34" charset="0"/>
                <a:cs typeface="Times New Roman" panose="02020603050405020304" pitchFamily="18" charset="0"/>
              </a:rPr>
              <a:t>ThS</a:t>
            </a:r>
            <a:r>
              <a:rPr lang="en-US" dirty="0">
                <a:latin typeface="Calibri (Headings)"/>
                <a:ea typeface="Calibri" panose="020F0502020204030204" pitchFamily="34" charset="0"/>
                <a:cs typeface="Times New Roman" panose="02020603050405020304" pitchFamily="18" charset="0"/>
              </a:rPr>
              <a:t>. Vũ Ngọc Quý</a:t>
            </a:r>
          </a:p>
          <a:p>
            <a:r>
              <a:rPr lang="en-US" dirty="0">
                <a:effectLst/>
                <a:latin typeface="Calibri (Headings)"/>
                <a:ea typeface="Calibri" panose="020F0502020204030204" pitchFamily="34" charset="0"/>
                <a:cs typeface="Times New Roman" panose="02020603050405020304" pitchFamily="18" charset="0"/>
              </a:rPr>
              <a:t>SVTH:  Nguyễn Cao Cường </a:t>
            </a:r>
            <a:r>
              <a:rPr lang="en-US">
                <a:effectLst/>
                <a:latin typeface="Calibri (Headings)"/>
                <a:ea typeface="Calibri" panose="020F0502020204030204" pitchFamily="34" charset="0"/>
                <a:cs typeface="Times New Roman" panose="02020603050405020304" pitchFamily="18" charset="0"/>
              </a:rPr>
              <a:t>Anh </a:t>
            </a:r>
            <a:r>
              <a:rPr lang="en-US" dirty="0">
                <a:latin typeface="Calibri (Headings)"/>
                <a:ea typeface="Calibri" panose="020F0502020204030204" pitchFamily="34" charset="0"/>
                <a:cs typeface="Times New Roman" panose="02020603050405020304" pitchFamily="18" charset="0"/>
              </a:rPr>
              <a:t>-</a:t>
            </a:r>
            <a:r>
              <a:rPr lang="en-US">
                <a:effectLst/>
                <a:latin typeface="Calibri (Headings)"/>
                <a:ea typeface="Calibri" panose="020F0502020204030204" pitchFamily="34" charset="0"/>
                <a:cs typeface="Times New Roman" panose="02020603050405020304" pitchFamily="18" charset="0"/>
              </a:rPr>
              <a:t> </a:t>
            </a:r>
            <a:r>
              <a:rPr lang="en-US" dirty="0">
                <a:latin typeface="Calibri (Headings)"/>
              </a:rPr>
              <a:t>211400647</a:t>
            </a:r>
            <a:endParaRPr lang="en-US" dirty="0">
              <a:latin typeface="Calibri (Headings)"/>
              <a:ea typeface="Calibri" panose="020F0502020204030204" pitchFamily="34" charset="0"/>
              <a:cs typeface="Times New Roman" panose="02020603050405020304" pitchFamily="18" charset="0"/>
            </a:endParaRPr>
          </a:p>
          <a:p>
            <a:r>
              <a:rPr lang="en-US" dirty="0">
                <a:latin typeface="Calibri (Headings)"/>
                <a:ea typeface="Calibri" panose="020F0502020204030204" pitchFamily="34" charset="0"/>
                <a:cs typeface="Times New Roman" panose="02020603050405020304" pitchFamily="18" charset="0"/>
              </a:rPr>
              <a:t>             </a:t>
            </a:r>
            <a:r>
              <a:rPr lang="en-US" dirty="0">
                <a:effectLst/>
                <a:latin typeface="Calibri (Headings)"/>
                <a:ea typeface="Calibri" panose="020F0502020204030204" pitchFamily="34" charset="0"/>
                <a:cs typeface="Times New Roman" panose="02020603050405020304" pitchFamily="18" charset="0"/>
              </a:rPr>
              <a:t>Nguyễn Đức Minh </a:t>
            </a:r>
            <a:r>
              <a:rPr lang="en-US" dirty="0">
                <a:latin typeface="Calibri (Headings)"/>
                <a:ea typeface="Calibri" panose="020F0502020204030204" pitchFamily="34" charset="0"/>
                <a:cs typeface="Times New Roman" panose="02020603050405020304" pitchFamily="18" charset="0"/>
              </a:rPr>
              <a:t>-</a:t>
            </a:r>
            <a:r>
              <a:rPr lang="en-US" dirty="0">
                <a:effectLst/>
                <a:latin typeface="Calibri (Headings)"/>
                <a:ea typeface="Calibri" panose="020F0502020204030204" pitchFamily="34" charset="0"/>
                <a:cs typeface="Times New Roman" panose="02020603050405020304" pitchFamily="18" charset="0"/>
              </a:rPr>
              <a:t> 211441242</a:t>
            </a:r>
          </a:p>
          <a:p>
            <a:r>
              <a:rPr lang="en-US" dirty="0">
                <a:latin typeface="Calibri (Headings)"/>
                <a:ea typeface="Calibri" panose="020F0502020204030204" pitchFamily="34" charset="0"/>
                <a:cs typeface="Times New Roman" panose="02020603050405020304" pitchFamily="18" charset="0"/>
              </a:rPr>
              <a:t>             Cao Đức Hoan - </a:t>
            </a:r>
            <a:r>
              <a:rPr lang="en-US" dirty="0">
                <a:latin typeface="Calibri (Headings)"/>
              </a:rPr>
              <a:t>211443378</a:t>
            </a:r>
            <a:endParaRPr lang="en-US" dirty="0">
              <a:effectLst/>
              <a:latin typeface="Calibri (Headings)"/>
              <a:ea typeface="Calibri" panose="020F0502020204030204" pitchFamily="34" charset="0"/>
              <a:cs typeface="Times New Roman" panose="02020603050405020304" pitchFamily="18" charset="0"/>
            </a:endParaRPr>
          </a:p>
          <a:p>
            <a:pPr>
              <a:lnSpc>
                <a:spcPct val="107000"/>
              </a:lnSpc>
              <a:spcAft>
                <a:spcPts val="800"/>
              </a:spcAft>
            </a:pPr>
            <a:r>
              <a:rPr lang="en-US" dirty="0" err="1">
                <a:latin typeface="Calibri (Headings)"/>
                <a:ea typeface="Calibri" panose="020F0502020204030204" pitchFamily="34" charset="0"/>
                <a:cs typeface="Times New Roman" panose="02020603050405020304" pitchFamily="18" charset="0"/>
              </a:rPr>
              <a:t>Lớp</a:t>
            </a:r>
            <a:r>
              <a:rPr lang="en-US" dirty="0">
                <a:latin typeface="Calibri (Headings)"/>
                <a:ea typeface="Calibri" panose="020F0502020204030204" pitchFamily="34" charset="0"/>
                <a:cs typeface="Times New Roman" panose="02020603050405020304" pitchFamily="18" charset="0"/>
              </a:rPr>
              <a:t>: KTĐT - THCN 1 – K62</a:t>
            </a:r>
            <a:endParaRPr lang="vi-VN" dirty="0">
              <a:effectLst/>
              <a:latin typeface="Calibri (Headings)"/>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0661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B4312-F10D-EFC1-E0AF-5FF6908F232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2032096-BFD8-029C-CF1C-F9187896DF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413DEB6B-83F8-56AE-AE82-AE04DBEF512F}"/>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Tổng</a:t>
            </a:r>
            <a:r>
              <a:rPr lang="en-US" sz="3200" b="1" dirty="0">
                <a:solidFill>
                  <a:schemeClr val="bg1"/>
                </a:solidFill>
                <a:latin typeface="+mj-lt"/>
              </a:rPr>
              <a:t> </a:t>
            </a:r>
            <a:r>
              <a:rPr lang="en-US" sz="3200" b="1" dirty="0" err="1">
                <a:solidFill>
                  <a:schemeClr val="bg1"/>
                </a:solidFill>
                <a:latin typeface="+mj-lt"/>
              </a:rPr>
              <a:t>quan</a:t>
            </a:r>
            <a:endParaRPr lang="en-US" sz="3200" b="1" dirty="0">
              <a:solidFill>
                <a:schemeClr val="bg1"/>
              </a:solidFill>
              <a:latin typeface="+mj-lt"/>
            </a:endParaRPr>
          </a:p>
        </p:txBody>
      </p:sp>
      <p:sp>
        <p:nvSpPr>
          <p:cNvPr id="2" name="TextBox 1">
            <a:extLst>
              <a:ext uri="{FF2B5EF4-FFF2-40B4-BE49-F238E27FC236}">
                <a16:creationId xmlns:a16="http://schemas.microsoft.com/office/drawing/2014/main" id="{35D5688C-3BC4-DE24-8DB7-40FA9327F7E0}"/>
              </a:ext>
            </a:extLst>
          </p:cNvPr>
          <p:cNvSpPr txBox="1"/>
          <p:nvPr/>
        </p:nvSpPr>
        <p:spPr>
          <a:xfrm>
            <a:off x="457200" y="1223840"/>
            <a:ext cx="8229600" cy="2126864"/>
          </a:xfrm>
          <a:prstGeom prst="rect">
            <a:avLst/>
          </a:prstGeom>
          <a:noFill/>
        </p:spPr>
        <p:txBody>
          <a:bodyPr wrap="square" rtlCol="0">
            <a:spAutoFit/>
          </a:bodyPr>
          <a:lstStyle/>
          <a:p>
            <a:pPr>
              <a:lnSpc>
                <a:spcPct val="150000"/>
              </a:lnSpc>
            </a:pPr>
            <a:r>
              <a:rPr lang="en-US" dirty="0">
                <a:latin typeface="+mj-lt"/>
                <a:ea typeface="Calibri" panose="020F0502020204030204" pitchFamily="34" charset="0"/>
                <a:cs typeface="Calibri" panose="020F0502020204030204" pitchFamily="34" charset="0"/>
              </a:rPr>
              <a:t>     </a:t>
            </a:r>
            <a:r>
              <a:rPr lang="en-US" dirty="0">
                <a:latin typeface="+mj-lt"/>
              </a:rPr>
              <a:t>SY8120B1 </a:t>
            </a:r>
            <a:r>
              <a:rPr lang="en-US" dirty="0" err="1">
                <a:latin typeface="+mj-lt"/>
              </a:rPr>
              <a:t>là</a:t>
            </a:r>
            <a:r>
              <a:rPr lang="en-US" dirty="0">
                <a:latin typeface="+mj-lt"/>
              </a:rPr>
              <a:t> </a:t>
            </a:r>
            <a:r>
              <a:rPr lang="en-US" dirty="0" err="1">
                <a:latin typeface="+mj-lt"/>
              </a:rPr>
              <a:t>bộ</a:t>
            </a:r>
            <a:r>
              <a:rPr lang="en-US" dirty="0">
                <a:latin typeface="+mj-lt"/>
              </a:rPr>
              <a:t> </a:t>
            </a:r>
            <a:r>
              <a:rPr lang="en-US" dirty="0" err="1">
                <a:latin typeface="+mj-lt"/>
              </a:rPr>
              <a:t>chuyển</a:t>
            </a:r>
            <a:r>
              <a:rPr lang="en-US" dirty="0">
                <a:latin typeface="+mj-lt"/>
              </a:rPr>
              <a:t> </a:t>
            </a:r>
            <a:r>
              <a:rPr lang="en-US" dirty="0" err="1">
                <a:latin typeface="+mj-lt"/>
              </a:rPr>
              <a:t>đổi</a:t>
            </a:r>
            <a:r>
              <a:rPr lang="en-US" dirty="0">
                <a:latin typeface="+mj-lt"/>
              </a:rPr>
              <a:t> DC-DC </a:t>
            </a:r>
            <a:r>
              <a:rPr lang="en-US" dirty="0" err="1">
                <a:latin typeface="+mj-lt"/>
              </a:rPr>
              <a:t>hạ</a:t>
            </a:r>
            <a:r>
              <a:rPr lang="en-US" dirty="0">
                <a:latin typeface="+mj-lt"/>
              </a:rPr>
              <a:t> </a:t>
            </a:r>
            <a:r>
              <a:rPr lang="en-US" dirty="0" err="1">
                <a:latin typeface="+mj-lt"/>
              </a:rPr>
              <a:t>áp</a:t>
            </a:r>
            <a:r>
              <a:rPr lang="en-US" dirty="0">
                <a:latin typeface="+mj-lt"/>
              </a:rPr>
              <a:t> </a:t>
            </a:r>
            <a:r>
              <a:rPr lang="en-US" dirty="0" err="1">
                <a:latin typeface="+mj-lt"/>
              </a:rPr>
              <a:t>đồng</a:t>
            </a:r>
            <a:r>
              <a:rPr lang="en-US" dirty="0">
                <a:latin typeface="+mj-lt"/>
              </a:rPr>
              <a:t> </a:t>
            </a:r>
            <a:r>
              <a:rPr lang="en-US" dirty="0" err="1">
                <a:latin typeface="+mj-lt"/>
              </a:rPr>
              <a:t>bộ</a:t>
            </a:r>
            <a:r>
              <a:rPr lang="en-US" dirty="0">
                <a:latin typeface="+mj-lt"/>
              </a:rPr>
              <a:t> </a:t>
            </a:r>
            <a:r>
              <a:rPr lang="en-US" dirty="0" err="1">
                <a:latin typeface="+mj-lt"/>
              </a:rPr>
              <a:t>có</a:t>
            </a:r>
            <a:r>
              <a:rPr lang="en-US" dirty="0">
                <a:latin typeface="+mj-lt"/>
              </a:rPr>
              <a:t> </a:t>
            </a:r>
            <a:r>
              <a:rPr lang="en-US" dirty="0" err="1">
                <a:latin typeface="+mj-lt"/>
              </a:rPr>
              <a:t>hiệu</a:t>
            </a:r>
            <a:r>
              <a:rPr lang="en-US" dirty="0">
                <a:latin typeface="+mj-lt"/>
              </a:rPr>
              <a:t> </a:t>
            </a:r>
            <a:r>
              <a:rPr lang="en-US" dirty="0" err="1">
                <a:latin typeface="+mj-lt"/>
              </a:rPr>
              <a:t>suất</a:t>
            </a:r>
            <a:r>
              <a:rPr lang="en-US" dirty="0">
                <a:latin typeface="+mj-lt"/>
              </a:rPr>
              <a:t> </a:t>
            </a:r>
            <a:r>
              <a:rPr lang="en-US" dirty="0" err="1">
                <a:latin typeface="+mj-lt"/>
              </a:rPr>
              <a:t>cao</a:t>
            </a:r>
            <a:r>
              <a:rPr lang="en-US" dirty="0">
                <a:latin typeface="+mj-lt"/>
              </a:rPr>
              <a:t>, </a:t>
            </a:r>
            <a:r>
              <a:rPr lang="en-US" dirty="0" err="1">
                <a:latin typeface="+mj-lt"/>
              </a:rPr>
              <a:t>tích</a:t>
            </a:r>
            <a:r>
              <a:rPr lang="en-US" dirty="0">
                <a:latin typeface="+mj-lt"/>
              </a:rPr>
              <a:t> </a:t>
            </a:r>
            <a:r>
              <a:rPr lang="en-US" dirty="0" err="1">
                <a:latin typeface="+mj-lt"/>
              </a:rPr>
              <a:t>hợp</a:t>
            </a:r>
            <a:r>
              <a:rPr lang="en-US" dirty="0">
                <a:latin typeface="+mj-lt"/>
              </a:rPr>
              <a:t> 2 MOSFET </a:t>
            </a:r>
            <a:r>
              <a:rPr lang="en-US" dirty="0" err="1">
                <a:latin typeface="+mj-lt"/>
              </a:rPr>
              <a:t>với</a:t>
            </a:r>
            <a:r>
              <a:rPr lang="en-US" dirty="0">
                <a:latin typeface="+mj-lt"/>
              </a:rPr>
              <a:t> </a:t>
            </a:r>
            <a:r>
              <a:rPr lang="en-US" dirty="0" err="1">
                <a:latin typeface="+mj-lt"/>
              </a:rPr>
              <a:t>điện</a:t>
            </a:r>
            <a:r>
              <a:rPr lang="en-US" dirty="0">
                <a:latin typeface="+mj-lt"/>
              </a:rPr>
              <a:t> </a:t>
            </a:r>
            <a:r>
              <a:rPr lang="en-US" dirty="0" err="1">
                <a:latin typeface="+mj-lt"/>
              </a:rPr>
              <a:t>trở</a:t>
            </a:r>
            <a:r>
              <a:rPr lang="en-US" dirty="0">
                <a:latin typeface="+mj-lt"/>
              </a:rPr>
              <a:t> </a:t>
            </a:r>
            <a:r>
              <a:rPr lang="en-US" dirty="0" err="1">
                <a:latin typeface="+mj-lt"/>
              </a:rPr>
              <a:t>dẫn</a:t>
            </a:r>
            <a:r>
              <a:rPr lang="en-US" dirty="0">
                <a:latin typeface="+mj-lt"/>
              </a:rPr>
              <a:t> R</a:t>
            </a:r>
            <a:r>
              <a:rPr lang="en-US" sz="1400" dirty="0">
                <a:latin typeface="+mj-lt"/>
              </a:rPr>
              <a:t>DS</a:t>
            </a:r>
            <a:r>
              <a:rPr lang="en-US" dirty="0">
                <a:latin typeface="+mj-lt"/>
              </a:rPr>
              <a:t>(ON) </a:t>
            </a:r>
            <a:r>
              <a:rPr lang="en-US" dirty="0" err="1">
                <a:latin typeface="+mj-lt"/>
              </a:rPr>
              <a:t>rất</a:t>
            </a:r>
            <a:r>
              <a:rPr lang="en-US" dirty="0">
                <a:latin typeface="+mj-lt"/>
              </a:rPr>
              <a:t> </a:t>
            </a:r>
            <a:r>
              <a:rPr lang="en-US" dirty="0" err="1">
                <a:latin typeface="+mj-lt"/>
              </a:rPr>
              <a:t>thấp</a:t>
            </a:r>
            <a:r>
              <a:rPr lang="en-US" dirty="0">
                <a:latin typeface="+mj-lt"/>
              </a:rPr>
              <a:t> </a:t>
            </a:r>
            <a:r>
              <a:rPr lang="en-US" dirty="0" err="1">
                <a:latin typeface="+mj-lt"/>
              </a:rPr>
              <a:t>nhằm</a:t>
            </a:r>
            <a:r>
              <a:rPr lang="en-US" dirty="0">
                <a:latin typeface="+mj-lt"/>
              </a:rPr>
              <a:t> </a:t>
            </a:r>
            <a:r>
              <a:rPr lang="en-US" dirty="0" err="1">
                <a:latin typeface="+mj-lt"/>
              </a:rPr>
              <a:t>giảm</a:t>
            </a:r>
            <a:r>
              <a:rPr lang="en-US" dirty="0">
                <a:latin typeface="+mj-lt"/>
              </a:rPr>
              <a:t> </a:t>
            </a:r>
            <a:r>
              <a:rPr lang="en-US" dirty="0" err="1">
                <a:latin typeface="+mj-lt"/>
              </a:rPr>
              <a:t>tổn</a:t>
            </a:r>
            <a:r>
              <a:rPr lang="en-US" dirty="0">
                <a:latin typeface="+mj-lt"/>
              </a:rPr>
              <a:t> hao </a:t>
            </a:r>
            <a:r>
              <a:rPr lang="en-US" dirty="0" err="1">
                <a:latin typeface="+mj-lt"/>
              </a:rPr>
              <a:t>dẫn</a:t>
            </a:r>
            <a:r>
              <a:rPr lang="en-US" dirty="0">
                <a:latin typeface="+mj-lt"/>
              </a:rPr>
              <a:t>.</a:t>
            </a: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rPr>
              <a:t>IC này sử dụng kiến trúc PWM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t>Pulse Width Modulation) </a:t>
            </a:r>
            <a:r>
              <a:rPr lang="vi-VN" dirty="0">
                <a:latin typeface="Calibri" panose="020F0502020204030204" pitchFamily="34" charset="0"/>
                <a:ea typeface="Calibri" panose="020F0502020204030204" pitchFamily="34" charset="0"/>
                <a:cs typeface="Calibri" panose="020F0502020204030204" pitchFamily="34" charset="0"/>
              </a:rPr>
              <a:t>tức thời giúp đáp ứng nhanh khi có thay đổi tải, đồng thời duy trì hiệu suất cao ở tải nhẹ. Ngoài ra, SY8120B1 hoạt động ở tần số gần như cố định 500 kHz</a:t>
            </a:r>
            <a:r>
              <a:rPr lang="en-US" dirty="0">
                <a:latin typeface="Calibri" panose="020F0502020204030204" pitchFamily="34" charset="0"/>
                <a:ea typeface="Calibri" panose="020F0502020204030204" pitchFamily="34" charset="0"/>
                <a:cs typeface="Calibri" panose="020F0502020204030204" pitchFamily="34" charset="0"/>
              </a:rPr>
              <a:t>.</a:t>
            </a:r>
            <a:endParaRPr lang="vi-VN"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High Quality SY8120B1ABC WB SOT-23-6 Synchronous Step-down DC-DC Regulator  Chip">
            <a:extLst>
              <a:ext uri="{FF2B5EF4-FFF2-40B4-BE49-F238E27FC236}">
                <a16:creationId xmlns:a16="http://schemas.microsoft.com/office/drawing/2014/main" id="{1C264915-89D9-9A85-2486-1BF4E9A3D50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5855" y="3505390"/>
            <a:ext cx="2878269" cy="28782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455173-F4CD-273F-BAD9-F90BCA1C6D1D}"/>
              </a:ext>
            </a:extLst>
          </p:cNvPr>
          <p:cNvSpPr txBox="1"/>
          <p:nvPr/>
        </p:nvSpPr>
        <p:spPr>
          <a:xfrm>
            <a:off x="431180" y="3747618"/>
            <a:ext cx="4293220" cy="1711366"/>
          </a:xfrm>
          <a:prstGeom prst="rect">
            <a:avLst/>
          </a:prstGeom>
          <a:noFill/>
        </p:spPr>
        <p:txBody>
          <a:bodyPr wrap="square" rtlCol="0">
            <a:spAutoFit/>
          </a:bodyPr>
          <a:lstStyle/>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    </a:t>
            </a:r>
            <a:r>
              <a:rPr lang="vi-VN" dirty="0">
                <a:latin typeface="Calibri" panose="020F0502020204030204" pitchFamily="34" charset="0"/>
                <a:ea typeface="Calibri" panose="020F0502020204030204" pitchFamily="34" charset="0"/>
                <a:cs typeface="Calibri" panose="020F0502020204030204" pitchFamily="34" charset="0"/>
              </a:rPr>
              <a:t>SY8120B1 còn có các chức năng bảo vệ như giới hạn dòng theo chu kỳ và bảo vệ quá nhiệt. Ngoài ra, IC còn giám sát điện áp đầu ra để phát hiện và xử lý các lỗi bảo vệ.</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6418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6A41-ACEE-C8C2-F4E0-B5F71D5DAD8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DDD437-8236-767A-6C7D-F621C3F224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BBCF697F-FEA7-990D-2034-89A4AFDBA2F3}"/>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Tổng</a:t>
            </a:r>
            <a:r>
              <a:rPr lang="en-US" sz="3200" b="1" dirty="0">
                <a:solidFill>
                  <a:schemeClr val="bg1"/>
                </a:solidFill>
                <a:latin typeface="+mj-lt"/>
              </a:rPr>
              <a:t> </a:t>
            </a:r>
            <a:r>
              <a:rPr lang="en-US" sz="3200" b="1" dirty="0" err="1">
                <a:solidFill>
                  <a:schemeClr val="bg1"/>
                </a:solidFill>
                <a:latin typeface="+mj-lt"/>
              </a:rPr>
              <a:t>quan</a:t>
            </a:r>
            <a:endParaRPr lang="en-US" sz="3200" b="1" dirty="0">
              <a:solidFill>
                <a:schemeClr val="bg1"/>
              </a:solidFill>
              <a:latin typeface="+mj-lt"/>
            </a:endParaRPr>
          </a:p>
        </p:txBody>
      </p:sp>
      <p:sp>
        <p:nvSpPr>
          <p:cNvPr id="2" name="TextBox 1">
            <a:extLst>
              <a:ext uri="{FF2B5EF4-FFF2-40B4-BE49-F238E27FC236}">
                <a16:creationId xmlns:a16="http://schemas.microsoft.com/office/drawing/2014/main" id="{B5FDF3E6-A209-BDB8-A6F0-B0B389D5E27A}"/>
              </a:ext>
            </a:extLst>
          </p:cNvPr>
          <p:cNvSpPr txBox="1"/>
          <p:nvPr/>
        </p:nvSpPr>
        <p:spPr>
          <a:xfrm>
            <a:off x="457200" y="1080425"/>
            <a:ext cx="4648200" cy="2862322"/>
          </a:xfrm>
          <a:prstGeom prst="rect">
            <a:avLst/>
          </a:prstGeom>
          <a:noFill/>
        </p:spPr>
        <p:txBody>
          <a:bodyPr wrap="square" rtlCol="0">
            <a:spAutoFit/>
          </a:bodyPr>
          <a:lstStyle/>
          <a:p>
            <a:r>
              <a:rPr lang="vi-VN" b="1" dirty="0">
                <a:latin typeface="Calibri" panose="020F0502020204030204" pitchFamily="34" charset="0"/>
                <a:ea typeface="Calibri" panose="020F0502020204030204" pitchFamily="34" charset="0"/>
                <a:cs typeface="Calibri" panose="020F0502020204030204" pitchFamily="34" charset="0"/>
              </a:rPr>
              <a:t>Đặc </a:t>
            </a:r>
            <a:r>
              <a:rPr lang="en-US" b="1" dirty="0" err="1">
                <a:latin typeface="Calibri" panose="020F0502020204030204" pitchFamily="34" charset="0"/>
                <a:ea typeface="Calibri" panose="020F0502020204030204" pitchFamily="34" charset="0"/>
                <a:cs typeface="Calibri" panose="020F0502020204030204" pitchFamily="34" charset="0"/>
              </a:rPr>
              <a:t>điểm</a:t>
            </a:r>
            <a:r>
              <a:rPr lang="vi-VN" b="1"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vi-VN" dirty="0">
                <a:latin typeface="Calibri (Thân)"/>
              </a:rPr>
              <a:t>Điện trở R</a:t>
            </a:r>
            <a:r>
              <a:rPr lang="vi-VN" sz="1400" dirty="0">
                <a:latin typeface="Calibri (Thân)"/>
              </a:rPr>
              <a:t>DS</a:t>
            </a:r>
            <a:r>
              <a:rPr lang="vi-VN" dirty="0">
                <a:latin typeface="Calibri (Thân)"/>
              </a:rPr>
              <a:t>(ON) thấp cho các công tắc bên trong (trên/dưới): 130/120 m</a:t>
            </a:r>
            <a:r>
              <a:rPr lang="el-GR" dirty="0">
                <a:latin typeface="Calibri (Thân)"/>
              </a:rPr>
              <a:t>Ω</a:t>
            </a:r>
            <a:endParaRPr lang="vi-VN" dirty="0">
              <a:latin typeface="Calibri (Thân)"/>
            </a:endParaRPr>
          </a:p>
          <a:p>
            <a:pPr marL="285750" indent="-285750">
              <a:buFont typeface="Arial" panose="020B0604020202020204" pitchFamily="34" charset="0"/>
              <a:buChar char="•"/>
            </a:pPr>
            <a:r>
              <a:rPr lang="vi-VN" dirty="0">
                <a:latin typeface="Calibri (Thân)"/>
              </a:rPr>
              <a:t>Dải điện áp đầu vào 4,5-18V</a:t>
            </a:r>
          </a:p>
          <a:p>
            <a:pPr marL="285750" indent="-285750">
              <a:buFont typeface="Arial" panose="020B0604020202020204" pitchFamily="34" charset="0"/>
              <a:buChar char="•"/>
            </a:pPr>
            <a:r>
              <a:rPr lang="vi-VN" dirty="0">
                <a:latin typeface="Calibri (Thân)"/>
              </a:rPr>
              <a:t>Khả năng chịu dòng tải 2A</a:t>
            </a:r>
          </a:p>
          <a:p>
            <a:pPr marL="285750" indent="-285750">
              <a:buFont typeface="Arial" panose="020B0604020202020204" pitchFamily="34" charset="0"/>
              <a:buChar char="•"/>
            </a:pPr>
            <a:r>
              <a:rPr lang="vi-VN" dirty="0">
                <a:latin typeface="Calibri (Thân)"/>
              </a:rPr>
              <a:t>Hoạt động ở tần số 500kHz. </a:t>
            </a:r>
          </a:p>
          <a:p>
            <a:pPr marL="285750" indent="-285750">
              <a:buFont typeface="Arial" panose="020B0604020202020204" pitchFamily="34" charset="0"/>
              <a:buChar char="•"/>
            </a:pPr>
            <a:r>
              <a:rPr lang="vi-VN" dirty="0">
                <a:latin typeface="Calibri (Thân)"/>
              </a:rPr>
              <a:t>Điện áp tham chiếu 0,6V ±2%</a:t>
            </a:r>
          </a:p>
          <a:p>
            <a:pPr marL="285750" indent="-285750">
              <a:buFont typeface="Arial" panose="020B0604020202020204" pitchFamily="34" charset="0"/>
              <a:buChar char="•"/>
            </a:pPr>
            <a:r>
              <a:rPr lang="vi-VN" dirty="0">
                <a:latin typeface="Calibri (Thân)"/>
              </a:rPr>
              <a:t>Giới hạn dòng đỉnh theo chu kỳ</a:t>
            </a:r>
          </a:p>
          <a:p>
            <a:pPr marL="285750" indent="-285750">
              <a:buFont typeface="Arial" panose="020B0604020202020204" pitchFamily="34" charset="0"/>
              <a:buChar char="•"/>
            </a:pPr>
            <a:r>
              <a:rPr lang="en-US" dirty="0"/>
              <a:t>Phạm vi </a:t>
            </a:r>
            <a:r>
              <a:rPr lang="en-US" dirty="0" err="1"/>
              <a:t>nhiệt</a:t>
            </a:r>
            <a:r>
              <a:rPr lang="en-US" dirty="0"/>
              <a:t> </a:t>
            </a:r>
            <a:r>
              <a:rPr lang="en-US" dirty="0" err="1"/>
              <a:t>độ</a:t>
            </a:r>
            <a:r>
              <a:rPr lang="en-US" dirty="0"/>
              <a:t>: -40°C </a:t>
            </a:r>
            <a:r>
              <a:rPr lang="en-US" dirty="0" err="1"/>
              <a:t>đến</a:t>
            </a:r>
            <a:r>
              <a:rPr lang="en-US" dirty="0"/>
              <a:t> 85°C</a:t>
            </a:r>
            <a:endParaRPr lang="vi-VN" dirty="0">
              <a:latin typeface="Calibri (Thân)"/>
            </a:endParaRPr>
          </a:p>
          <a:p>
            <a:pPr marL="285750" indent="-285750">
              <a:buFont typeface="Arial" panose="020B0604020202020204" pitchFamily="34" charset="0"/>
              <a:buChar char="•"/>
            </a:pPr>
            <a:r>
              <a:rPr lang="vi-VN" dirty="0">
                <a:latin typeface="Calibri (Thân)"/>
              </a:rPr>
              <a:t>Kích thước gói nhỏ gọn</a:t>
            </a:r>
            <a:endParaRPr lang="en-US" dirty="0">
              <a:latin typeface="Calibri (Thân)"/>
            </a:endParaRPr>
          </a:p>
        </p:txBody>
      </p:sp>
      <p:sp>
        <p:nvSpPr>
          <p:cNvPr id="3" name="Hộp Văn bản 8">
            <a:extLst>
              <a:ext uri="{FF2B5EF4-FFF2-40B4-BE49-F238E27FC236}">
                <a16:creationId xmlns:a16="http://schemas.microsoft.com/office/drawing/2014/main" id="{0472A85C-BC09-E401-1188-D6FE80D6A932}"/>
              </a:ext>
            </a:extLst>
          </p:cNvPr>
          <p:cNvSpPr txBox="1"/>
          <p:nvPr/>
        </p:nvSpPr>
        <p:spPr>
          <a:xfrm>
            <a:off x="457200" y="3942747"/>
            <a:ext cx="2849716" cy="2585323"/>
          </a:xfrm>
          <a:prstGeom prst="rect">
            <a:avLst/>
          </a:prstGeom>
          <a:noFill/>
        </p:spPr>
        <p:txBody>
          <a:bodyPr wrap="square" rtlCol="0">
            <a:spAutoFit/>
          </a:bodyPr>
          <a:lstStyle/>
          <a:p>
            <a:r>
              <a:rPr lang="vi-VN" b="1" dirty="0">
                <a:latin typeface="Calibri" panose="020F0502020204030204" pitchFamily="34" charset="0"/>
                <a:ea typeface="Calibri" panose="020F0502020204030204" pitchFamily="34" charset="0"/>
                <a:cs typeface="Calibri" panose="020F0502020204030204" pitchFamily="34" charset="0"/>
              </a:rPr>
              <a:t>Ứng dụng:</a:t>
            </a:r>
          </a:p>
          <a:p>
            <a:pPr marL="285750" indent="-285750">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Đầu</a:t>
            </a:r>
            <a:r>
              <a:rPr lang="en-US" dirty="0">
                <a:latin typeface="Calibri" panose="020F0502020204030204" pitchFamily="34" charset="0"/>
                <a:ea typeface="Calibri" panose="020F0502020204030204" pitchFamily="34" charset="0"/>
                <a:cs typeface="Calibri" panose="020F0502020204030204" pitchFamily="34" charset="0"/>
              </a:rPr>
              <a:t> Thu </a:t>
            </a:r>
            <a:r>
              <a:rPr lang="en-US" dirty="0" err="1">
                <a:latin typeface="Calibri" panose="020F0502020204030204" pitchFamily="34" charset="0"/>
                <a:ea typeface="Calibri" panose="020F0502020204030204" pitchFamily="34" charset="0"/>
                <a:cs typeface="Calibri" panose="020F0502020204030204" pitchFamily="34" charset="0"/>
              </a:rPr>
              <a:t>Truyền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Hình</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TV Di </a:t>
            </a:r>
            <a:r>
              <a:rPr lang="en-US" dirty="0" err="1">
                <a:latin typeface="Calibri" panose="020F0502020204030204" pitchFamily="34" charset="0"/>
                <a:ea typeface="Calibri" panose="020F0502020204030204" pitchFamily="34" charset="0"/>
                <a:cs typeface="Calibri" panose="020F0502020204030204" pitchFamily="34" charset="0"/>
              </a:rPr>
              <a:t>Động</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Bộ</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Phát</a:t>
            </a:r>
            <a:r>
              <a:rPr lang="en-US" dirty="0">
                <a:latin typeface="Calibri" panose="020F0502020204030204" pitchFamily="34" charset="0"/>
                <a:ea typeface="Calibri" panose="020F0502020204030204" pitchFamily="34" charset="0"/>
                <a:cs typeface="Calibri" panose="020F0502020204030204" pitchFamily="34" charset="0"/>
              </a:rPr>
              <a:t> Wi-Fi</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Modem DSL</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TV LCD</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Camera </a:t>
            </a:r>
            <a:r>
              <a:rPr lang="en-US" dirty="0" err="1">
                <a:latin typeface="Calibri" panose="020F0502020204030204" pitchFamily="34" charset="0"/>
                <a:ea typeface="Calibri" panose="020F0502020204030204" pitchFamily="34" charset="0"/>
                <a:cs typeface="Calibri" panose="020F0502020204030204" pitchFamily="34" charset="0"/>
              </a:rPr>
              <a:t>Giám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Sát</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Camera IP</a:t>
            </a:r>
            <a:endParaRPr lang="vi-V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Mạng</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High Quality SY8120B1ABC WB SOT-23-6 Synchronous Step-down DC-DC Regulator  Chip">
            <a:extLst>
              <a:ext uri="{FF2B5EF4-FFF2-40B4-BE49-F238E27FC236}">
                <a16:creationId xmlns:a16="http://schemas.microsoft.com/office/drawing/2014/main" id="{33D34245-39F9-37D8-2A5C-E99952AE96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14544" y="2240683"/>
            <a:ext cx="3146425" cy="314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88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E2FCD-0EFF-90E2-43AF-640D2AC009C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B148323-A8FD-1539-8098-16F3C815FF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BC69B4C2-FDAE-CC29-AC65-D72375A11BFD}"/>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Chức</a:t>
            </a:r>
            <a:r>
              <a:rPr lang="en-US" sz="3200" b="1" dirty="0">
                <a:solidFill>
                  <a:schemeClr val="bg1"/>
                </a:solidFill>
                <a:latin typeface="+mj-lt"/>
              </a:rPr>
              <a:t> </a:t>
            </a:r>
            <a:r>
              <a:rPr lang="en-US" sz="3200" b="1" dirty="0" err="1">
                <a:solidFill>
                  <a:schemeClr val="bg1"/>
                </a:solidFill>
                <a:latin typeface="+mj-lt"/>
              </a:rPr>
              <a:t>năng</a:t>
            </a:r>
            <a:r>
              <a:rPr lang="en-US" sz="3200" b="1" dirty="0">
                <a:solidFill>
                  <a:schemeClr val="bg1"/>
                </a:solidFill>
                <a:latin typeface="+mj-lt"/>
              </a:rPr>
              <a:t> </a:t>
            </a:r>
            <a:r>
              <a:rPr lang="en-US" sz="3200" b="1" dirty="0" err="1">
                <a:solidFill>
                  <a:schemeClr val="bg1"/>
                </a:solidFill>
                <a:latin typeface="+mj-lt"/>
              </a:rPr>
              <a:t>các</a:t>
            </a:r>
            <a:r>
              <a:rPr lang="en-US" sz="3200" b="1" dirty="0">
                <a:solidFill>
                  <a:schemeClr val="bg1"/>
                </a:solidFill>
                <a:latin typeface="+mj-lt"/>
              </a:rPr>
              <a:t> </a:t>
            </a:r>
            <a:r>
              <a:rPr lang="en-US" sz="3200" b="1" dirty="0" err="1">
                <a:solidFill>
                  <a:schemeClr val="bg1"/>
                </a:solidFill>
                <a:latin typeface="+mj-lt"/>
              </a:rPr>
              <a:t>chân</a:t>
            </a:r>
            <a:endParaRPr lang="en-US" sz="3200" b="1" dirty="0">
              <a:solidFill>
                <a:schemeClr val="bg1"/>
              </a:solidFill>
              <a:latin typeface="+mj-lt"/>
            </a:endParaRPr>
          </a:p>
        </p:txBody>
      </p:sp>
      <p:graphicFrame>
        <p:nvGraphicFramePr>
          <p:cNvPr id="3" name="Table 2">
            <a:extLst>
              <a:ext uri="{FF2B5EF4-FFF2-40B4-BE49-F238E27FC236}">
                <a16:creationId xmlns:a16="http://schemas.microsoft.com/office/drawing/2014/main" id="{B4FA9AE9-3DCD-2F8E-F1FE-8DAD782A10C2}"/>
              </a:ext>
            </a:extLst>
          </p:cNvPr>
          <p:cNvGraphicFramePr>
            <a:graphicFrameLocks noGrp="1"/>
          </p:cNvGraphicFramePr>
          <p:nvPr>
            <p:extLst>
              <p:ext uri="{D42A27DB-BD31-4B8C-83A1-F6EECF244321}">
                <p14:modId xmlns:p14="http://schemas.microsoft.com/office/powerpoint/2010/main" val="3725148941"/>
              </p:ext>
            </p:extLst>
          </p:nvPr>
        </p:nvGraphicFramePr>
        <p:xfrm>
          <a:off x="2546794" y="1295400"/>
          <a:ext cx="6412611" cy="5169000"/>
        </p:xfrm>
        <a:graphic>
          <a:graphicData uri="http://schemas.openxmlformats.org/drawingml/2006/table">
            <a:tbl>
              <a:tblPr firstRow="1" bandRow="1">
                <a:tableStyleId>{5C22544A-7EE6-4342-B048-85BDC9FD1C3A}</a:tableStyleId>
              </a:tblPr>
              <a:tblGrid>
                <a:gridCol w="926211">
                  <a:extLst>
                    <a:ext uri="{9D8B030D-6E8A-4147-A177-3AD203B41FA5}">
                      <a16:colId xmlns:a16="http://schemas.microsoft.com/office/drawing/2014/main" val="4168357770"/>
                    </a:ext>
                  </a:extLst>
                </a:gridCol>
                <a:gridCol w="5486400">
                  <a:extLst>
                    <a:ext uri="{9D8B030D-6E8A-4147-A177-3AD203B41FA5}">
                      <a16:colId xmlns:a16="http://schemas.microsoft.com/office/drawing/2014/main" val="2422152213"/>
                    </a:ext>
                  </a:extLst>
                </a:gridCol>
              </a:tblGrid>
              <a:tr h="574211">
                <a:tc>
                  <a:txBody>
                    <a:bodyPr/>
                    <a:lstStyle/>
                    <a:p>
                      <a:pPr algn="ctr"/>
                      <a:r>
                        <a:rPr lang="en-US" sz="1800" b="1" dirty="0" err="1">
                          <a:solidFill>
                            <a:schemeClr val="tx1"/>
                          </a:solidFill>
                          <a:latin typeface="+mj-lt"/>
                        </a:rPr>
                        <a:t>Ký</a:t>
                      </a:r>
                      <a:r>
                        <a:rPr lang="en-US" sz="1800" b="1" dirty="0">
                          <a:solidFill>
                            <a:schemeClr val="tx1"/>
                          </a:solidFill>
                          <a:latin typeface="+mj-lt"/>
                        </a:rPr>
                        <a:t> </a:t>
                      </a:r>
                      <a:r>
                        <a:rPr lang="en-US" sz="1800" b="1" dirty="0" err="1">
                          <a:solidFill>
                            <a:schemeClr val="tx1"/>
                          </a:solidFill>
                          <a:latin typeface="+mj-lt"/>
                        </a:rPr>
                        <a:t>hiệu</a:t>
                      </a:r>
                      <a:endParaRPr lang="en-US" sz="1800" b="1"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err="1">
                          <a:solidFill>
                            <a:schemeClr val="tx1"/>
                          </a:solidFill>
                          <a:latin typeface="+mj-lt"/>
                        </a:rPr>
                        <a:t>Mô</a:t>
                      </a:r>
                      <a:r>
                        <a:rPr lang="en-US" sz="1800" dirty="0">
                          <a:solidFill>
                            <a:schemeClr val="tx1"/>
                          </a:solidFill>
                          <a:latin typeface="+mj-lt"/>
                        </a:rPr>
                        <a:t> </a:t>
                      </a:r>
                      <a:r>
                        <a:rPr lang="en-US" sz="1800" dirty="0" err="1">
                          <a:solidFill>
                            <a:schemeClr val="tx1"/>
                          </a:solidFill>
                          <a:latin typeface="+mj-lt"/>
                        </a:rPr>
                        <a:t>tả</a:t>
                      </a:r>
                      <a:endParaRPr lang="en-US" sz="18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1441801"/>
                  </a:ext>
                </a:extLst>
              </a:tr>
              <a:tr h="866960">
                <a:tc>
                  <a:txBody>
                    <a:bodyPr/>
                    <a:lstStyle/>
                    <a:p>
                      <a:pPr algn="ctr"/>
                      <a:r>
                        <a:rPr lang="en-US" sz="1800" b="1" dirty="0">
                          <a:latin typeface="+mj-lt"/>
                        </a:rPr>
                        <a:t>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b="1" dirty="0" err="1">
                          <a:latin typeface="+mj-lt"/>
                        </a:rPr>
                        <a:t>Chân</a:t>
                      </a:r>
                      <a:r>
                        <a:rPr lang="en-US" sz="1800" b="1" dirty="0">
                          <a:latin typeface="+mj-lt"/>
                        </a:rPr>
                        <a:t> Boot-Strap </a:t>
                      </a:r>
                      <a:r>
                        <a:rPr lang="en-US" sz="1800" dirty="0">
                          <a:latin typeface="+mj-lt"/>
                        </a:rPr>
                        <a:t>– </a:t>
                      </a:r>
                      <a:r>
                        <a:rPr lang="en-US" sz="1800" dirty="0" err="1">
                          <a:latin typeface="+mj-lt"/>
                        </a:rPr>
                        <a:t>cấp</a:t>
                      </a:r>
                      <a:r>
                        <a:rPr lang="en-US" sz="1800" dirty="0">
                          <a:latin typeface="+mj-lt"/>
                        </a:rPr>
                        <a:t> </a:t>
                      </a:r>
                      <a:r>
                        <a:rPr lang="en-US" sz="1800" dirty="0" err="1">
                          <a:latin typeface="+mj-lt"/>
                        </a:rPr>
                        <a:t>nguồn</a:t>
                      </a:r>
                      <a:r>
                        <a:rPr lang="en-US" sz="1800" dirty="0">
                          <a:latin typeface="+mj-lt"/>
                        </a:rPr>
                        <a:t> </a:t>
                      </a:r>
                      <a:r>
                        <a:rPr lang="en-US" sz="1800" dirty="0" err="1">
                          <a:latin typeface="+mj-lt"/>
                        </a:rPr>
                        <a:t>cho</a:t>
                      </a:r>
                      <a:r>
                        <a:rPr lang="en-US" sz="1800" dirty="0">
                          <a:latin typeface="+mj-lt"/>
                        </a:rPr>
                        <a:t> </a:t>
                      </a:r>
                      <a:r>
                        <a:rPr lang="en-US" sz="1800" dirty="0" err="1">
                          <a:latin typeface="+mj-lt"/>
                        </a:rPr>
                        <a:t>mạch</a:t>
                      </a:r>
                      <a:r>
                        <a:rPr lang="en-US" sz="1800" dirty="0">
                          <a:latin typeface="+mj-lt"/>
                        </a:rPr>
                        <a:t> </a:t>
                      </a:r>
                      <a:r>
                        <a:rPr lang="en-US" sz="1800" dirty="0" err="1">
                          <a:latin typeface="+mj-lt"/>
                        </a:rPr>
                        <a:t>điều</a:t>
                      </a:r>
                      <a:r>
                        <a:rPr lang="en-US" sz="1800" dirty="0">
                          <a:latin typeface="+mj-lt"/>
                        </a:rPr>
                        <a:t> </a:t>
                      </a:r>
                      <a:r>
                        <a:rPr lang="en-US" sz="1800" dirty="0" err="1">
                          <a:latin typeface="+mj-lt"/>
                        </a:rPr>
                        <a:t>khiển</a:t>
                      </a:r>
                      <a:r>
                        <a:rPr lang="en-US" sz="1800" dirty="0">
                          <a:latin typeface="+mj-lt"/>
                        </a:rPr>
                        <a:t> MOSFET </a:t>
                      </a:r>
                      <a:r>
                        <a:rPr lang="en-US" sz="1800" dirty="0" err="1">
                          <a:latin typeface="+mj-lt"/>
                        </a:rPr>
                        <a:t>cao</a:t>
                      </a:r>
                      <a:r>
                        <a:rPr lang="en-US" sz="1800" dirty="0">
                          <a:latin typeface="+mj-lt"/>
                        </a:rPr>
                        <a:t> </a:t>
                      </a:r>
                      <a:r>
                        <a:rPr lang="en-US" sz="1800" dirty="0" err="1">
                          <a:latin typeface="+mj-lt"/>
                        </a:rPr>
                        <a:t>áp</a:t>
                      </a:r>
                      <a:r>
                        <a:rPr lang="en-US" sz="1800" dirty="0">
                          <a:latin typeface="+mj-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994466"/>
                  </a:ext>
                </a:extLst>
              </a:tr>
              <a:tr h="480391">
                <a:tc>
                  <a:txBody>
                    <a:bodyPr/>
                    <a:lstStyle/>
                    <a:p>
                      <a:pPr algn="ctr"/>
                      <a:r>
                        <a:rPr lang="en-US" sz="1800" b="1" dirty="0">
                          <a:latin typeface="+mj-lt"/>
                        </a:rPr>
                        <a:t>GND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b="1" i="0" kern="1200" dirty="0" err="1">
                          <a:solidFill>
                            <a:schemeClr val="tx1"/>
                          </a:solidFill>
                          <a:effectLst/>
                          <a:latin typeface="+mj-lt"/>
                          <a:ea typeface="+mn-ea"/>
                          <a:cs typeface="+mn-cs"/>
                        </a:rPr>
                        <a:t>Chân</a:t>
                      </a:r>
                      <a:r>
                        <a:rPr lang="en-US" sz="1800" b="1" i="0" kern="1200" dirty="0">
                          <a:solidFill>
                            <a:schemeClr val="tx1"/>
                          </a:solidFill>
                          <a:effectLst/>
                          <a:latin typeface="+mj-lt"/>
                          <a:ea typeface="+mn-ea"/>
                          <a:cs typeface="+mn-cs"/>
                        </a:rPr>
                        <a:t> </a:t>
                      </a:r>
                      <a:r>
                        <a:rPr lang="en-US" sz="1800" b="1" i="0" kern="1200" dirty="0" err="1">
                          <a:solidFill>
                            <a:schemeClr val="tx1"/>
                          </a:solidFill>
                          <a:effectLst/>
                          <a:latin typeface="+mj-lt"/>
                          <a:ea typeface="+mn-ea"/>
                          <a:cs typeface="+mn-cs"/>
                        </a:rPr>
                        <a:t>nối</a:t>
                      </a:r>
                      <a:r>
                        <a:rPr lang="en-US" sz="1800" b="1" i="0" kern="1200" dirty="0">
                          <a:solidFill>
                            <a:schemeClr val="tx1"/>
                          </a:solidFill>
                          <a:effectLst/>
                          <a:latin typeface="+mj-lt"/>
                          <a:ea typeface="+mn-ea"/>
                          <a:cs typeface="+mn-cs"/>
                        </a:rPr>
                        <a:t> </a:t>
                      </a:r>
                      <a:r>
                        <a:rPr lang="en-US" sz="1800" b="1" i="0" kern="1200" dirty="0" err="1">
                          <a:solidFill>
                            <a:schemeClr val="tx1"/>
                          </a:solidFill>
                          <a:effectLst/>
                          <a:latin typeface="+mj-lt"/>
                          <a:ea typeface="+mn-ea"/>
                          <a:cs typeface="+mn-cs"/>
                        </a:rPr>
                        <a:t>đất</a:t>
                      </a:r>
                      <a:r>
                        <a:rPr lang="en-US" sz="1800" b="1" i="0" kern="1200" dirty="0">
                          <a:solidFill>
                            <a:schemeClr val="tx1"/>
                          </a:solidFill>
                          <a:effectLst/>
                          <a:latin typeface="+mj-lt"/>
                          <a:ea typeface="+mn-ea"/>
                          <a:cs typeface="+mn-cs"/>
                        </a:rPr>
                        <a:t> (Mass).</a:t>
                      </a:r>
                      <a:endParaRPr lang="en-US" sz="18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296641"/>
                  </a:ext>
                </a:extLst>
              </a:tr>
              <a:tr h="1152937">
                <a:tc>
                  <a:txBody>
                    <a:bodyPr/>
                    <a:lstStyle/>
                    <a:p>
                      <a:pPr algn="ctr"/>
                      <a:r>
                        <a:rPr lang="en-US" sz="1800" b="1" dirty="0">
                          <a:latin typeface="+mj-lt"/>
                        </a:rPr>
                        <a:t>FB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sz="1800" b="1" dirty="0">
                          <a:latin typeface="Calibri" panose="020F0502020204030204" pitchFamily="34" charset="0"/>
                          <a:ea typeface="Calibri" panose="020F0502020204030204" pitchFamily="34" charset="0"/>
                          <a:cs typeface="Calibri" panose="020F0502020204030204" pitchFamily="34" charset="0"/>
                        </a:rPr>
                        <a:t>Chân </a:t>
                      </a:r>
                      <a:r>
                        <a:rPr lang="en-US" sz="1800" b="1" dirty="0" err="1">
                          <a:latin typeface="Calibri" panose="020F0502020204030204" pitchFamily="34" charset="0"/>
                          <a:ea typeface="Calibri" panose="020F0502020204030204" pitchFamily="34" charset="0"/>
                          <a:cs typeface="Calibri" panose="020F0502020204030204" pitchFamily="34" charset="0"/>
                        </a:rPr>
                        <a:t>hồi</a:t>
                      </a: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b="1" dirty="0" err="1">
                          <a:latin typeface="Calibri" panose="020F0502020204030204" pitchFamily="34" charset="0"/>
                          <a:ea typeface="Calibri" panose="020F0502020204030204" pitchFamily="34" charset="0"/>
                          <a:cs typeface="Calibri" panose="020F0502020204030204" pitchFamily="34" charset="0"/>
                        </a:rPr>
                        <a:t>tiếp</a:t>
                      </a:r>
                      <a:r>
                        <a:rPr lang="vi-VN" sz="1800" b="1" dirty="0">
                          <a:latin typeface="Calibri" panose="020F0502020204030204" pitchFamily="34" charset="0"/>
                          <a:ea typeface="Calibri" panose="020F0502020204030204" pitchFamily="34" charset="0"/>
                          <a:cs typeface="Calibri" panose="020F0502020204030204" pitchFamily="34" charset="0"/>
                        </a:rPr>
                        <a:t> điện áp (Feedback). </a:t>
                      </a:r>
                      <a:r>
                        <a:rPr lang="vi-VN" sz="1800" dirty="0">
                          <a:latin typeface="Calibri" panose="020F0502020204030204" pitchFamily="34" charset="0"/>
                          <a:ea typeface="Calibri" panose="020F0502020204030204" pitchFamily="34" charset="0"/>
                          <a:cs typeface="Calibri" panose="020F0502020204030204" pitchFamily="34" charset="0"/>
                        </a:rPr>
                        <a:t>Nối chân này tới điểm giữa của cầu chia điện trở để cài đặt điện áp đầu ra theo công thức:</a:t>
                      </a:r>
                      <a:r>
                        <a:rPr lang="en-US" sz="1800" dirty="0">
                          <a:latin typeface="Calibri" panose="020F0502020204030204" pitchFamily="34" charset="0"/>
                          <a:ea typeface="Calibri" panose="020F0502020204030204" pitchFamily="34" charset="0"/>
                          <a:cs typeface="Calibri" panose="020F0502020204030204" pitchFamily="34" charset="0"/>
                        </a:rPr>
                        <a:t> </a:t>
                      </a:r>
                      <a:r>
                        <a:rPr lang="pt-BR" sz="1800" dirty="0">
                          <a:latin typeface="Calibri" panose="020F0502020204030204" pitchFamily="34" charset="0"/>
                          <a:ea typeface="Calibri" panose="020F0502020204030204" pitchFamily="34" charset="0"/>
                          <a:cs typeface="Calibri" panose="020F0502020204030204" pitchFamily="34" charset="0"/>
                        </a:rPr>
                        <a:t>Vout = 0.6 × (1 + R1/R2).</a:t>
                      </a:r>
                      <a:endParaRPr lang="en-US" sz="1800" b="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0053737"/>
                  </a:ext>
                </a:extLst>
              </a:tr>
              <a:tr h="480391">
                <a:tc>
                  <a:txBody>
                    <a:bodyPr/>
                    <a:lstStyle/>
                    <a:p>
                      <a:pPr algn="ctr"/>
                      <a:r>
                        <a:rPr lang="en-US" sz="1800" b="1" dirty="0">
                          <a:latin typeface="+mj-lt"/>
                        </a:rPr>
                        <a: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b="1" dirty="0" err="1">
                          <a:latin typeface="+mj-lt"/>
                        </a:rPr>
                        <a:t>Chân</a:t>
                      </a:r>
                      <a:r>
                        <a:rPr lang="en-US" sz="1800" b="1" dirty="0">
                          <a:latin typeface="+mj-lt"/>
                        </a:rPr>
                        <a:t> </a:t>
                      </a:r>
                      <a:r>
                        <a:rPr lang="en-US" sz="1800" b="1" dirty="0" err="1">
                          <a:latin typeface="+mj-lt"/>
                        </a:rPr>
                        <a:t>kích</a:t>
                      </a:r>
                      <a:r>
                        <a:rPr lang="en-US" sz="1800" b="1" dirty="0">
                          <a:latin typeface="+mj-lt"/>
                        </a:rPr>
                        <a:t> </a:t>
                      </a:r>
                      <a:r>
                        <a:rPr lang="en-US" sz="1800" b="1" dirty="0" err="1">
                          <a:latin typeface="+mj-lt"/>
                        </a:rPr>
                        <a:t>hoạt</a:t>
                      </a:r>
                      <a:r>
                        <a:rPr lang="en-US" sz="1800" b="1" dirty="0">
                          <a:latin typeface="+mj-lt"/>
                        </a:rPr>
                        <a:t> 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336146"/>
                  </a:ext>
                </a:extLst>
              </a:tr>
              <a:tr h="807055">
                <a:tc>
                  <a:txBody>
                    <a:bodyPr/>
                    <a:lstStyle/>
                    <a:p>
                      <a:pPr algn="ctr"/>
                      <a:r>
                        <a:rPr lang="en-US" sz="1800" b="1" dirty="0">
                          <a:latin typeface="+mj-lt"/>
                        </a:rPr>
                        <a: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b="1" i="0" kern="1200" dirty="0" err="1">
                          <a:solidFill>
                            <a:schemeClr val="dk1"/>
                          </a:solidFill>
                          <a:effectLst/>
                          <a:latin typeface="+mj-lt"/>
                          <a:ea typeface="+mn-ea"/>
                          <a:cs typeface="+mn-cs"/>
                        </a:rPr>
                        <a:t>Chân</a:t>
                      </a:r>
                      <a:r>
                        <a:rPr lang="en-US" sz="1800" b="1" i="0" kern="1200" dirty="0">
                          <a:solidFill>
                            <a:schemeClr val="dk1"/>
                          </a:solidFill>
                          <a:effectLst/>
                          <a:latin typeface="+mj-lt"/>
                          <a:ea typeface="+mn-ea"/>
                          <a:cs typeface="+mn-cs"/>
                        </a:rPr>
                        <a:t> </a:t>
                      </a:r>
                      <a:r>
                        <a:rPr lang="en-US" sz="1800" b="1" i="0" kern="1200" dirty="0" err="1">
                          <a:solidFill>
                            <a:schemeClr val="dk1"/>
                          </a:solidFill>
                          <a:effectLst/>
                          <a:latin typeface="+mj-lt"/>
                          <a:ea typeface="+mn-ea"/>
                          <a:cs typeface="+mn-cs"/>
                        </a:rPr>
                        <a:t>nguồn</a:t>
                      </a:r>
                      <a:r>
                        <a:rPr lang="en-US" sz="1800" b="1" i="0" kern="1200" dirty="0">
                          <a:solidFill>
                            <a:schemeClr val="dk1"/>
                          </a:solidFill>
                          <a:effectLst/>
                          <a:latin typeface="+mj-lt"/>
                          <a:ea typeface="+mn-ea"/>
                          <a:cs typeface="+mn-cs"/>
                        </a:rPr>
                        <a:t> </a:t>
                      </a:r>
                      <a:r>
                        <a:rPr lang="en-US" sz="1800" b="1" i="0" kern="1200" dirty="0" err="1">
                          <a:solidFill>
                            <a:schemeClr val="dk1"/>
                          </a:solidFill>
                          <a:effectLst/>
                          <a:latin typeface="+mj-lt"/>
                          <a:ea typeface="+mn-ea"/>
                          <a:cs typeface="+mn-cs"/>
                        </a:rPr>
                        <a:t>vào</a:t>
                      </a:r>
                      <a:r>
                        <a:rPr lang="en-US" sz="1800" b="1"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Nối</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chân</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này</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với</a:t>
                      </a:r>
                      <a:r>
                        <a:rPr lang="en-US" sz="1800" b="0" i="0" kern="1200" dirty="0">
                          <a:solidFill>
                            <a:schemeClr val="dk1"/>
                          </a:solidFill>
                          <a:effectLst/>
                          <a:latin typeface="+mj-lt"/>
                          <a:ea typeface="+mn-ea"/>
                          <a:cs typeface="+mn-cs"/>
                        </a:rPr>
                        <a:t> GND </a:t>
                      </a:r>
                      <a:r>
                        <a:rPr lang="en-US" sz="1800" b="0" i="0" kern="1200" dirty="0" err="1">
                          <a:solidFill>
                            <a:schemeClr val="dk1"/>
                          </a:solidFill>
                          <a:effectLst/>
                          <a:latin typeface="+mj-lt"/>
                          <a:ea typeface="+mn-ea"/>
                          <a:cs typeface="+mn-cs"/>
                        </a:rPr>
                        <a:t>bằng</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tụ</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gốm</a:t>
                      </a:r>
                      <a:r>
                        <a:rPr lang="en-US" sz="1800" b="0" i="0" kern="1200" dirty="0">
                          <a:solidFill>
                            <a:schemeClr val="dk1"/>
                          </a:solidFill>
                          <a:effectLst/>
                          <a:latin typeface="+mj-lt"/>
                          <a:ea typeface="+mn-ea"/>
                          <a:cs typeface="+mn-cs"/>
                        </a:rPr>
                        <a:t> ≥ 1 µF </a:t>
                      </a:r>
                      <a:r>
                        <a:rPr lang="en-US" sz="1800" b="0" i="0" kern="1200" dirty="0" err="1">
                          <a:solidFill>
                            <a:schemeClr val="dk1"/>
                          </a:solidFill>
                          <a:effectLst/>
                          <a:latin typeface="+mj-lt"/>
                          <a:ea typeface="+mn-ea"/>
                          <a:cs typeface="+mn-cs"/>
                        </a:rPr>
                        <a:t>để</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lọc</a:t>
                      </a:r>
                      <a:r>
                        <a:rPr lang="en-US" sz="1800" b="0" i="0" kern="1200" dirty="0">
                          <a:solidFill>
                            <a:schemeClr val="dk1"/>
                          </a:solidFill>
                          <a:effectLst/>
                          <a:latin typeface="+mj-lt"/>
                          <a:ea typeface="+mn-ea"/>
                          <a:cs typeface="+mn-cs"/>
                        </a:rPr>
                        <a:t> </a:t>
                      </a:r>
                      <a:r>
                        <a:rPr lang="en-US" sz="1800" b="0" i="0" kern="1200" dirty="0" err="1">
                          <a:solidFill>
                            <a:schemeClr val="dk1"/>
                          </a:solidFill>
                          <a:effectLst/>
                          <a:latin typeface="+mj-lt"/>
                          <a:ea typeface="+mn-ea"/>
                          <a:cs typeface="+mn-cs"/>
                        </a:rPr>
                        <a:t>nhiễu</a:t>
                      </a:r>
                      <a:r>
                        <a:rPr lang="en-US" sz="1800" b="0" i="0" kern="1200" dirty="0">
                          <a:solidFill>
                            <a:schemeClr val="dk1"/>
                          </a:solidFill>
                          <a:effectLst/>
                          <a:latin typeface="+mj-lt"/>
                          <a:ea typeface="+mn-ea"/>
                          <a:cs typeface="+mn-cs"/>
                        </a:rPr>
                        <a:t>.</a:t>
                      </a:r>
                      <a:endParaRPr lang="en-US" sz="18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0847968"/>
                  </a:ext>
                </a:extLst>
              </a:tr>
              <a:tr h="807055">
                <a:tc>
                  <a:txBody>
                    <a:bodyPr/>
                    <a:lstStyle/>
                    <a:p>
                      <a:pPr algn="ctr"/>
                      <a:r>
                        <a:rPr lang="en-US" sz="1800" b="1" dirty="0">
                          <a:latin typeface="+mj-lt"/>
                        </a:rPr>
                        <a:t>LX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err="1">
                          <a:latin typeface="+mj-lt"/>
                        </a:rPr>
                        <a:t>Chân</a:t>
                      </a:r>
                      <a:r>
                        <a:rPr lang="en-US" b="1" dirty="0">
                          <a:latin typeface="+mj-lt"/>
                        </a:rPr>
                        <a:t> </a:t>
                      </a:r>
                      <a:r>
                        <a:rPr lang="en-US" b="1" dirty="0" err="1">
                          <a:latin typeface="+mj-lt"/>
                        </a:rPr>
                        <a:t>nối</a:t>
                      </a:r>
                      <a:r>
                        <a:rPr lang="en-US" b="1" dirty="0">
                          <a:latin typeface="+mj-lt"/>
                        </a:rPr>
                        <a:t> </a:t>
                      </a:r>
                      <a:r>
                        <a:rPr lang="en-US" b="1" dirty="0" err="1">
                          <a:latin typeface="+mj-lt"/>
                        </a:rPr>
                        <a:t>cuộn</a:t>
                      </a:r>
                      <a:r>
                        <a:rPr lang="en-US" b="1" dirty="0">
                          <a:latin typeface="+mj-lt"/>
                        </a:rPr>
                        <a:t> </a:t>
                      </a:r>
                      <a:r>
                        <a:rPr lang="en-US" b="1" dirty="0" err="1">
                          <a:latin typeface="+mj-lt"/>
                        </a:rPr>
                        <a:t>cảm</a:t>
                      </a:r>
                      <a:r>
                        <a:rPr lang="en-US" b="1" dirty="0">
                          <a:latin typeface="+mj-lt"/>
                        </a:rPr>
                        <a:t> (Switch Node). </a:t>
                      </a:r>
                      <a:r>
                        <a:rPr lang="en-US" b="0" dirty="0" err="1">
                          <a:latin typeface="+mj-lt"/>
                        </a:rPr>
                        <a:t>Nối</a:t>
                      </a:r>
                      <a:r>
                        <a:rPr lang="en-US" b="0" dirty="0">
                          <a:latin typeface="+mj-lt"/>
                        </a:rPr>
                        <a:t> </a:t>
                      </a:r>
                      <a:r>
                        <a:rPr lang="en-US" b="0" dirty="0" err="1">
                          <a:latin typeface="+mj-lt"/>
                        </a:rPr>
                        <a:t>tới</a:t>
                      </a:r>
                      <a:r>
                        <a:rPr lang="en-US" b="0" dirty="0">
                          <a:latin typeface="+mj-lt"/>
                        </a:rPr>
                        <a:t> </a:t>
                      </a:r>
                      <a:r>
                        <a:rPr lang="en-US" b="0" dirty="0" err="1">
                          <a:latin typeface="+mj-lt"/>
                        </a:rPr>
                        <a:t>cuộn</a:t>
                      </a:r>
                      <a:r>
                        <a:rPr lang="en-US" b="0" dirty="0">
                          <a:latin typeface="+mj-lt"/>
                        </a:rPr>
                        <a:t> </a:t>
                      </a:r>
                      <a:r>
                        <a:rPr lang="en-US" b="0" dirty="0" err="1">
                          <a:latin typeface="+mj-lt"/>
                        </a:rPr>
                        <a:t>cảm</a:t>
                      </a:r>
                      <a:r>
                        <a:rPr lang="en-US" b="0" dirty="0">
                          <a:latin typeface="+mj-lt"/>
                        </a:rPr>
                        <a:t> </a:t>
                      </a:r>
                      <a:r>
                        <a:rPr lang="en-US" b="0" dirty="0" err="1">
                          <a:latin typeface="+mj-lt"/>
                        </a:rPr>
                        <a:t>và</a:t>
                      </a:r>
                      <a:r>
                        <a:rPr lang="en-US" b="0" dirty="0">
                          <a:latin typeface="+mj-lt"/>
                        </a:rPr>
                        <a:t> </a:t>
                      </a:r>
                      <a:r>
                        <a:rPr lang="en-US" b="0" dirty="0" err="1">
                          <a:latin typeface="+mj-lt"/>
                        </a:rPr>
                        <a:t>là</a:t>
                      </a:r>
                      <a:r>
                        <a:rPr lang="en-US" b="0" dirty="0">
                          <a:latin typeface="+mj-lt"/>
                        </a:rPr>
                        <a:t> </a:t>
                      </a:r>
                      <a:r>
                        <a:rPr lang="en-US" b="0" dirty="0" err="1">
                          <a:latin typeface="+mj-lt"/>
                        </a:rPr>
                        <a:t>điểm</a:t>
                      </a:r>
                      <a:r>
                        <a:rPr lang="en-US" b="0" dirty="0">
                          <a:latin typeface="+mj-lt"/>
                        </a:rPr>
                        <a:t> </a:t>
                      </a:r>
                      <a:r>
                        <a:rPr lang="en-US" b="0" dirty="0" err="1">
                          <a:latin typeface="+mj-lt"/>
                        </a:rPr>
                        <a:t>chuyển</a:t>
                      </a:r>
                      <a:r>
                        <a:rPr lang="en-US" b="0" dirty="0">
                          <a:latin typeface="+mj-lt"/>
                        </a:rPr>
                        <a:t> </a:t>
                      </a:r>
                      <a:r>
                        <a:rPr lang="en-US" b="0" dirty="0" err="1">
                          <a:latin typeface="+mj-lt"/>
                        </a:rPr>
                        <a:t>mạch</a:t>
                      </a:r>
                      <a:r>
                        <a:rPr lang="en-US" b="0" dirty="0">
                          <a:latin typeface="+mj-lt"/>
                        </a:rPr>
                        <a:t> </a:t>
                      </a:r>
                      <a:r>
                        <a:rPr lang="en-US" b="0" dirty="0" err="1">
                          <a:latin typeface="+mj-lt"/>
                        </a:rPr>
                        <a:t>công</a:t>
                      </a:r>
                      <a:r>
                        <a:rPr lang="en-US" b="0" dirty="0">
                          <a:latin typeface="+mj-lt"/>
                        </a:rPr>
                        <a:t> </a:t>
                      </a:r>
                      <a:r>
                        <a:rPr lang="en-US" b="0" dirty="0" err="1">
                          <a:latin typeface="+mj-lt"/>
                        </a:rPr>
                        <a:t>suất</a:t>
                      </a:r>
                      <a:r>
                        <a:rPr lang="en-US" b="0" dirty="0">
                          <a:latin typeface="+mj-lt"/>
                        </a:rPr>
                        <a:t>.</a:t>
                      </a:r>
                      <a:endParaRPr lang="en-US" sz="18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1616259"/>
                  </a:ext>
                </a:extLst>
              </a:tr>
            </a:tbl>
          </a:graphicData>
        </a:graphic>
      </p:graphicFrame>
      <p:pic>
        <p:nvPicPr>
          <p:cNvPr id="2" name="Hình ảnh 6">
            <a:extLst>
              <a:ext uri="{FF2B5EF4-FFF2-40B4-BE49-F238E27FC236}">
                <a16:creationId xmlns:a16="http://schemas.microsoft.com/office/drawing/2014/main" id="{F063D6D0-DE65-835F-7768-32FB75B2B249}"/>
              </a:ext>
            </a:extLst>
          </p:cNvPr>
          <p:cNvPicPr>
            <a:picLocks noChangeAspect="1"/>
          </p:cNvPicPr>
          <p:nvPr/>
        </p:nvPicPr>
        <p:blipFill>
          <a:blip r:embed="rId4"/>
          <a:stretch>
            <a:fillRect/>
          </a:stretch>
        </p:blipFill>
        <p:spPr>
          <a:xfrm>
            <a:off x="0" y="2670536"/>
            <a:ext cx="2546794" cy="2248214"/>
          </a:xfrm>
          <a:prstGeom prst="rect">
            <a:avLst/>
          </a:prstGeom>
        </p:spPr>
      </p:pic>
    </p:spTree>
    <p:extLst>
      <p:ext uri="{BB962C8B-B14F-4D97-AF65-F5344CB8AC3E}">
        <p14:creationId xmlns:p14="http://schemas.microsoft.com/office/powerpoint/2010/main" val="1262220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EACC-15F1-EF6D-BB09-DCF4FC7295B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D8573A6-7BF7-4B4E-E58F-6F7E2F190C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5E484852-0E1C-BA4C-C885-B4D5A83A4D6A}"/>
              </a:ext>
            </a:extLst>
          </p:cNvPr>
          <p:cNvSpPr txBox="1"/>
          <p:nvPr/>
        </p:nvSpPr>
        <p:spPr>
          <a:xfrm>
            <a:off x="457200" y="0"/>
            <a:ext cx="8229600" cy="1077218"/>
          </a:xfrm>
          <a:prstGeom prst="rect">
            <a:avLst/>
          </a:prstGeom>
          <a:noFill/>
        </p:spPr>
        <p:txBody>
          <a:bodyPr wrap="square" rtlCol="0">
            <a:spAutoFit/>
          </a:bodyPr>
          <a:lstStyle/>
          <a:p>
            <a:pPr algn="ctr"/>
            <a:r>
              <a:rPr lang="en-US" sz="3200" b="1" dirty="0" err="1">
                <a:solidFill>
                  <a:schemeClr val="bg1"/>
                </a:solidFill>
                <a:latin typeface="+mj-lt"/>
              </a:rPr>
              <a:t>Giới</a:t>
            </a:r>
            <a:r>
              <a:rPr lang="en-US" sz="3200" b="1" dirty="0">
                <a:solidFill>
                  <a:schemeClr val="bg1"/>
                </a:solidFill>
                <a:latin typeface="+mj-lt"/>
              </a:rPr>
              <a:t> </a:t>
            </a:r>
            <a:r>
              <a:rPr lang="en-US" sz="3200" b="1" dirty="0" err="1">
                <a:solidFill>
                  <a:schemeClr val="bg1"/>
                </a:solidFill>
                <a:latin typeface="+mj-lt"/>
              </a:rPr>
              <a:t>hạn</a:t>
            </a:r>
            <a:r>
              <a:rPr lang="en-US" sz="3200" b="1" dirty="0">
                <a:solidFill>
                  <a:schemeClr val="bg1"/>
                </a:solidFill>
                <a:latin typeface="+mj-lt"/>
              </a:rPr>
              <a:t> </a:t>
            </a:r>
            <a:r>
              <a:rPr lang="en-US" sz="3200" b="1" dirty="0" err="1">
                <a:solidFill>
                  <a:schemeClr val="bg1"/>
                </a:solidFill>
                <a:latin typeface="+mj-lt"/>
              </a:rPr>
              <a:t>tuyệt</a:t>
            </a:r>
            <a:r>
              <a:rPr lang="en-US" sz="3200" b="1" dirty="0">
                <a:solidFill>
                  <a:schemeClr val="bg1"/>
                </a:solidFill>
                <a:latin typeface="+mj-lt"/>
              </a:rPr>
              <a:t> </a:t>
            </a:r>
            <a:r>
              <a:rPr lang="en-US" sz="3200" b="1" dirty="0" err="1">
                <a:solidFill>
                  <a:schemeClr val="bg1"/>
                </a:solidFill>
                <a:latin typeface="+mj-lt"/>
              </a:rPr>
              <a:t>đối</a:t>
            </a:r>
            <a:r>
              <a:rPr lang="en-US" sz="3200" b="1" dirty="0">
                <a:solidFill>
                  <a:schemeClr val="bg1"/>
                </a:solidFill>
                <a:latin typeface="+mj-lt"/>
              </a:rPr>
              <a:t>&amp;</a:t>
            </a:r>
            <a:br>
              <a:rPr lang="en-US" sz="3200" b="1" dirty="0">
                <a:solidFill>
                  <a:schemeClr val="bg1"/>
                </a:solidFill>
                <a:latin typeface="+mj-lt"/>
              </a:rPr>
            </a:br>
            <a:r>
              <a:rPr lang="en-US" sz="3200" b="1" dirty="0" err="1">
                <a:solidFill>
                  <a:schemeClr val="bg1"/>
                </a:solidFill>
                <a:latin typeface="+mj-lt"/>
              </a:rPr>
              <a:t>Điều</a:t>
            </a:r>
            <a:r>
              <a:rPr lang="en-US" sz="3200" b="1" dirty="0">
                <a:solidFill>
                  <a:schemeClr val="bg1"/>
                </a:solidFill>
                <a:latin typeface="+mj-lt"/>
              </a:rPr>
              <a:t> </a:t>
            </a:r>
            <a:r>
              <a:rPr lang="en-US" sz="3200" b="1" dirty="0" err="1">
                <a:solidFill>
                  <a:schemeClr val="bg1"/>
                </a:solidFill>
                <a:latin typeface="+mj-lt"/>
              </a:rPr>
              <a:t>kiện</a:t>
            </a:r>
            <a:r>
              <a:rPr lang="en-US" sz="3200" b="1" dirty="0">
                <a:solidFill>
                  <a:schemeClr val="bg1"/>
                </a:solidFill>
                <a:latin typeface="+mj-lt"/>
              </a:rPr>
              <a:t> </a:t>
            </a:r>
            <a:r>
              <a:rPr lang="en-US" sz="3200" b="1" dirty="0" err="1">
                <a:solidFill>
                  <a:schemeClr val="bg1"/>
                </a:solidFill>
                <a:latin typeface="+mj-lt"/>
              </a:rPr>
              <a:t>hoạt</a:t>
            </a:r>
            <a:r>
              <a:rPr lang="en-US" sz="3200" b="1" dirty="0">
                <a:solidFill>
                  <a:schemeClr val="bg1"/>
                </a:solidFill>
                <a:latin typeface="+mj-lt"/>
              </a:rPr>
              <a:t> </a:t>
            </a:r>
            <a:r>
              <a:rPr lang="en-US" sz="3200" b="1" dirty="0" err="1">
                <a:solidFill>
                  <a:schemeClr val="bg1"/>
                </a:solidFill>
                <a:latin typeface="+mj-lt"/>
              </a:rPr>
              <a:t>động</a:t>
            </a:r>
            <a:r>
              <a:rPr lang="en-US" sz="3200" b="1" dirty="0">
                <a:solidFill>
                  <a:schemeClr val="bg1"/>
                </a:solidFill>
                <a:latin typeface="+mj-lt"/>
              </a:rPr>
              <a:t> </a:t>
            </a:r>
            <a:r>
              <a:rPr lang="en-US" sz="3200" b="1" dirty="0" err="1">
                <a:solidFill>
                  <a:schemeClr val="bg1"/>
                </a:solidFill>
                <a:latin typeface="+mj-lt"/>
              </a:rPr>
              <a:t>khuyến</a:t>
            </a:r>
            <a:r>
              <a:rPr lang="en-US" sz="3200" b="1" dirty="0">
                <a:solidFill>
                  <a:schemeClr val="bg1"/>
                </a:solidFill>
                <a:latin typeface="+mj-lt"/>
              </a:rPr>
              <a:t> </a:t>
            </a:r>
            <a:r>
              <a:rPr lang="en-US" sz="3200" b="1" dirty="0" err="1">
                <a:solidFill>
                  <a:schemeClr val="bg1"/>
                </a:solidFill>
                <a:latin typeface="+mj-lt"/>
              </a:rPr>
              <a:t>nghị</a:t>
            </a:r>
            <a:endParaRPr lang="en-US" sz="3200" b="1" dirty="0">
              <a:solidFill>
                <a:schemeClr val="bg1"/>
              </a:solidFill>
              <a:latin typeface="+mj-lt"/>
            </a:endParaRPr>
          </a:p>
        </p:txBody>
      </p:sp>
      <p:graphicFrame>
        <p:nvGraphicFramePr>
          <p:cNvPr id="3" name="Table 2">
            <a:extLst>
              <a:ext uri="{FF2B5EF4-FFF2-40B4-BE49-F238E27FC236}">
                <a16:creationId xmlns:a16="http://schemas.microsoft.com/office/drawing/2014/main" id="{EC00BCFA-0B63-B1EF-1FD5-06A9F5A92469}"/>
              </a:ext>
            </a:extLst>
          </p:cNvPr>
          <p:cNvGraphicFramePr>
            <a:graphicFrameLocks noGrp="1"/>
          </p:cNvGraphicFramePr>
          <p:nvPr>
            <p:extLst>
              <p:ext uri="{D42A27DB-BD31-4B8C-83A1-F6EECF244321}">
                <p14:modId xmlns:p14="http://schemas.microsoft.com/office/powerpoint/2010/main" val="3485379801"/>
              </p:ext>
            </p:extLst>
          </p:nvPr>
        </p:nvGraphicFramePr>
        <p:xfrm>
          <a:off x="345688" y="1836234"/>
          <a:ext cx="3956826" cy="3605146"/>
        </p:xfrm>
        <a:graphic>
          <a:graphicData uri="http://schemas.openxmlformats.org/drawingml/2006/table">
            <a:tbl>
              <a:tblPr firstRow="1" bandRow="1">
                <a:tableStyleId>{5C22544A-7EE6-4342-B048-85BDC9FD1C3A}</a:tableStyleId>
              </a:tblPr>
              <a:tblGrid>
                <a:gridCol w="2166876">
                  <a:extLst>
                    <a:ext uri="{9D8B030D-6E8A-4147-A177-3AD203B41FA5}">
                      <a16:colId xmlns:a16="http://schemas.microsoft.com/office/drawing/2014/main" val="297423455"/>
                    </a:ext>
                  </a:extLst>
                </a:gridCol>
                <a:gridCol w="1789950">
                  <a:extLst>
                    <a:ext uri="{9D8B030D-6E8A-4147-A177-3AD203B41FA5}">
                      <a16:colId xmlns:a16="http://schemas.microsoft.com/office/drawing/2014/main" val="4168357770"/>
                    </a:ext>
                  </a:extLst>
                </a:gridCol>
              </a:tblGrid>
              <a:tr h="411162">
                <a:tc>
                  <a:txBody>
                    <a:bodyPr/>
                    <a:lstStyle/>
                    <a:p>
                      <a:pPr algn="ctr"/>
                      <a:r>
                        <a:rPr lang="en-US" sz="2000" b="1" dirty="0">
                          <a:solidFill>
                            <a:schemeClr val="tx1"/>
                          </a:solidFill>
                          <a:latin typeface="+mj-lt"/>
                        </a:rPr>
                        <a:t>Tham </a:t>
                      </a:r>
                      <a:r>
                        <a:rPr lang="en-US" sz="2000" b="1" dirty="0" err="1">
                          <a:solidFill>
                            <a:schemeClr val="tx1"/>
                          </a:solidFill>
                          <a:latin typeface="+mj-lt"/>
                        </a:rPr>
                        <a:t>số</a:t>
                      </a:r>
                      <a:endParaRPr lang="en-US" sz="2000" b="1"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err="1">
                          <a:solidFill>
                            <a:schemeClr val="tx1"/>
                          </a:solidFill>
                          <a:latin typeface="+mj-lt"/>
                        </a:rPr>
                        <a:t>Giá</a:t>
                      </a:r>
                      <a:r>
                        <a:rPr lang="en-US" sz="2000" b="1" dirty="0">
                          <a:solidFill>
                            <a:schemeClr val="tx1"/>
                          </a:solidFill>
                          <a:latin typeface="+mj-lt"/>
                        </a:rPr>
                        <a:t> </a:t>
                      </a:r>
                      <a:r>
                        <a:rPr lang="en-US" sz="2000" b="1" dirty="0" err="1">
                          <a:solidFill>
                            <a:schemeClr val="tx1"/>
                          </a:solidFill>
                          <a:latin typeface="+mj-lt"/>
                        </a:rPr>
                        <a:t>trị</a:t>
                      </a:r>
                      <a:endParaRPr lang="en-US" sz="2000" b="1"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1441801"/>
                  </a:ext>
                </a:extLst>
              </a:tr>
              <a:tr h="458603">
                <a:tc>
                  <a:txBody>
                    <a:bodyPr/>
                    <a:lstStyle/>
                    <a:p>
                      <a:pPr algn="l"/>
                      <a:r>
                        <a:rPr lang="en-US" sz="2000" b="1" i="0" kern="1200" dirty="0" err="1">
                          <a:solidFill>
                            <a:schemeClr val="dk1"/>
                          </a:solidFill>
                          <a:effectLst/>
                          <a:latin typeface="+mn-lt"/>
                          <a:ea typeface="+mn-ea"/>
                          <a:cs typeface="+mn-cs"/>
                        </a:rPr>
                        <a:t>Điện</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áp</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nguồn</a:t>
                      </a:r>
                      <a:endParaRPr lang="en-US" sz="2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latin typeface="+mj-lt"/>
                        </a:rPr>
                        <a:t>19V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1994466"/>
                  </a:ext>
                </a:extLst>
              </a:tr>
              <a:tr h="474417">
                <a:tc>
                  <a:txBody>
                    <a:bodyPr/>
                    <a:lstStyle/>
                    <a:p>
                      <a:pPr algn="l"/>
                      <a:r>
                        <a:rPr lang="en-US" sz="2000" b="1" i="0" kern="1200" dirty="0" err="1">
                          <a:solidFill>
                            <a:schemeClr val="dk1"/>
                          </a:solidFill>
                          <a:effectLst/>
                          <a:latin typeface="+mj-lt"/>
                          <a:ea typeface="+mn-ea"/>
                          <a:cs typeface="+mn-cs"/>
                        </a:rPr>
                        <a:t>Chân</a:t>
                      </a:r>
                      <a:r>
                        <a:rPr lang="en-US" sz="2000" b="1" i="0" kern="1200" dirty="0">
                          <a:solidFill>
                            <a:schemeClr val="dk1"/>
                          </a:solidFill>
                          <a:effectLst/>
                          <a:latin typeface="+mj-lt"/>
                          <a:ea typeface="+mn-ea"/>
                          <a:cs typeface="+mn-cs"/>
                        </a:rPr>
                        <a:t> LX, 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0" kern="1200" dirty="0">
                          <a:solidFill>
                            <a:schemeClr val="dk1"/>
                          </a:solidFill>
                          <a:effectLst/>
                          <a:latin typeface="+mn-lt"/>
                          <a:ea typeface="+mn-ea"/>
                          <a:cs typeface="+mn-cs"/>
                        </a:rPr>
                        <a:t>V</a:t>
                      </a:r>
                      <a:r>
                        <a:rPr lang="en-US" sz="1600" b="0" i="0" kern="1200" dirty="0">
                          <a:solidFill>
                            <a:schemeClr val="dk1"/>
                          </a:solidFill>
                          <a:effectLst/>
                          <a:latin typeface="+mn-lt"/>
                          <a:ea typeface="+mn-ea"/>
                          <a:cs typeface="+mn-cs"/>
                        </a:rPr>
                        <a:t>IN</a:t>
                      </a:r>
                      <a:r>
                        <a:rPr lang="en-US" sz="1600" b="0" i="1" kern="1200" dirty="0">
                          <a:solidFill>
                            <a:schemeClr val="dk1"/>
                          </a:solidFill>
                          <a:effectLst/>
                          <a:latin typeface="+mn-lt"/>
                          <a:ea typeface="+mn-ea"/>
                          <a:cs typeface="+mn-cs"/>
                        </a:rPr>
                        <a:t> </a:t>
                      </a:r>
                      <a:r>
                        <a:rPr lang="en-US" sz="2400" b="0" i="0" kern="1200" dirty="0">
                          <a:solidFill>
                            <a:schemeClr val="dk1"/>
                          </a:solidFill>
                          <a:effectLst/>
                          <a:latin typeface="+mn-lt"/>
                          <a:ea typeface="+mn-ea"/>
                          <a:cs typeface="+mn-cs"/>
                        </a:rPr>
                        <a:t>​</a:t>
                      </a:r>
                      <a:r>
                        <a:rPr lang="en-US" sz="2000" b="0" i="0" kern="1200" dirty="0">
                          <a:solidFill>
                            <a:schemeClr val="dk1"/>
                          </a:solidFill>
                          <a:effectLst/>
                          <a:latin typeface="+mn-lt"/>
                          <a:ea typeface="+mn-ea"/>
                          <a:cs typeface="+mn-cs"/>
                        </a:rPr>
                        <a:t>+ 0.3</a:t>
                      </a:r>
                      <a:r>
                        <a:rPr lang="en-US" sz="2000" b="0" i="1" kern="1200" dirty="0">
                          <a:solidFill>
                            <a:schemeClr val="dk1"/>
                          </a:solidFill>
                          <a:effectLst/>
                          <a:latin typeface="+mn-lt"/>
                          <a:ea typeface="+mn-ea"/>
                          <a:cs typeface="+mn-cs"/>
                        </a:rPr>
                        <a:t>V</a:t>
                      </a:r>
                      <a:endParaRPr lang="en-US" sz="28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296641"/>
                  </a:ext>
                </a:extLst>
              </a:tr>
              <a:tr h="4586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0" kern="1200" dirty="0" err="1">
                          <a:solidFill>
                            <a:schemeClr val="dk1"/>
                          </a:solidFill>
                          <a:effectLst/>
                          <a:latin typeface="+mn-lt"/>
                          <a:ea typeface="+mn-ea"/>
                          <a:cs typeface="+mn-cs"/>
                        </a:rPr>
                        <a:t>Chân</a:t>
                      </a:r>
                      <a:r>
                        <a:rPr lang="en-US" sz="2000" b="1" i="0" kern="1200" dirty="0">
                          <a:solidFill>
                            <a:schemeClr val="dk1"/>
                          </a:solidFill>
                          <a:effectLst/>
                          <a:latin typeface="+mn-lt"/>
                          <a:ea typeface="+mn-ea"/>
                          <a:cs typeface="+mn-cs"/>
                        </a:rPr>
                        <a:t> FB, BS-LX</a:t>
                      </a:r>
                      <a:endParaRPr lang="en-US" sz="2000" b="1"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0" kern="1200" dirty="0">
                          <a:solidFill>
                            <a:schemeClr val="dk1"/>
                          </a:solidFill>
                          <a:effectLst/>
                          <a:latin typeface="+mn-lt"/>
                          <a:ea typeface="+mn-ea"/>
                          <a:cs typeface="+mn-cs"/>
                        </a:rPr>
                        <a:t>4V</a:t>
                      </a:r>
                      <a:endParaRPr lang="en-US" sz="24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336146"/>
                  </a:ext>
                </a:extLst>
              </a:tr>
              <a:tr h="411162">
                <a:tc>
                  <a:txBody>
                    <a:bodyPr/>
                    <a:lstStyle/>
                    <a:p>
                      <a:pPr algn="l"/>
                      <a:r>
                        <a:rPr lang="en-US" sz="2000" b="1" i="0" kern="1200" dirty="0">
                          <a:solidFill>
                            <a:schemeClr val="dk1"/>
                          </a:solidFill>
                          <a:effectLst/>
                          <a:latin typeface="+mn-lt"/>
                          <a:ea typeface="+mn-ea"/>
                          <a:cs typeface="+mn-cs"/>
                        </a:rPr>
                        <a:t>Công </a:t>
                      </a:r>
                      <a:r>
                        <a:rPr lang="en-US" sz="2000" b="1" i="0" kern="1200" dirty="0" err="1">
                          <a:solidFill>
                            <a:schemeClr val="dk1"/>
                          </a:solidFill>
                          <a:effectLst/>
                          <a:latin typeface="+mn-lt"/>
                          <a:ea typeface="+mn-ea"/>
                          <a:cs typeface="+mn-cs"/>
                        </a:rPr>
                        <a:t>suất</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tiêu</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tán</a:t>
                      </a:r>
                      <a:endParaRPr lang="en-US" sz="2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dk1"/>
                          </a:solidFill>
                          <a:effectLst/>
                          <a:latin typeface="+mn-lt"/>
                          <a:ea typeface="+mn-ea"/>
                          <a:cs typeface="+mn-cs"/>
                        </a:rPr>
                        <a:t>0.6W (ở 25°C)</a:t>
                      </a:r>
                      <a:endParaRPr lang="en-US" sz="2400" b="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1095373"/>
                  </a:ext>
                </a:extLst>
              </a:tr>
              <a:tr h="526600">
                <a:tc>
                  <a:txBody>
                    <a:bodyPr/>
                    <a:lstStyle/>
                    <a:p>
                      <a:pPr algn="l"/>
                      <a:r>
                        <a:rPr lang="en-US" sz="2000" b="1" i="0" kern="1200" dirty="0" err="1">
                          <a:solidFill>
                            <a:schemeClr val="dk1"/>
                          </a:solidFill>
                          <a:effectLst/>
                          <a:latin typeface="+mn-lt"/>
                          <a:ea typeface="+mn-ea"/>
                          <a:cs typeface="+mn-cs"/>
                        </a:rPr>
                        <a:t>Nhiệt</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độ</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mối</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nối</a:t>
                      </a:r>
                      <a:endParaRPr lang="en-US" sz="2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0" kern="1200" dirty="0">
                          <a:solidFill>
                            <a:schemeClr val="dk1"/>
                          </a:solidFill>
                          <a:effectLst/>
                          <a:latin typeface="+mn-lt"/>
                          <a:ea typeface="+mn-ea"/>
                          <a:cs typeface="+mn-cs"/>
                        </a:rPr>
                        <a:t>-65°C to 150°C</a:t>
                      </a:r>
                      <a:endParaRPr lang="en-US" sz="24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1616259"/>
                  </a:ext>
                </a:extLst>
              </a:tr>
              <a:tr h="453437">
                <a:tc>
                  <a:txBody>
                    <a:bodyPr/>
                    <a:lstStyle/>
                    <a:p>
                      <a:pPr algn="l"/>
                      <a:r>
                        <a:rPr lang="en-US" sz="2000" b="1" i="0" kern="1200" dirty="0" err="1">
                          <a:solidFill>
                            <a:schemeClr val="dk1"/>
                          </a:solidFill>
                          <a:effectLst/>
                          <a:latin typeface="+mn-lt"/>
                          <a:ea typeface="+mn-ea"/>
                          <a:cs typeface="+mn-cs"/>
                        </a:rPr>
                        <a:t>Nhiệt</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độ</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hàn</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chân</a:t>
                      </a:r>
                      <a:endParaRPr lang="en-US" sz="2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0" kern="1200" dirty="0">
                          <a:solidFill>
                            <a:schemeClr val="dk1"/>
                          </a:solidFill>
                          <a:effectLst/>
                          <a:latin typeface="+mn-lt"/>
                          <a:ea typeface="+mn-ea"/>
                          <a:cs typeface="+mn-cs"/>
                        </a:rPr>
                        <a:t>260°C</a:t>
                      </a:r>
                      <a:endParaRPr lang="en-US" sz="24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3627910"/>
                  </a:ext>
                </a:extLst>
              </a:tr>
              <a:tr h="411162">
                <a:tc>
                  <a:txBody>
                    <a:bodyPr/>
                    <a:lstStyle/>
                    <a:p>
                      <a:pPr algn="l"/>
                      <a:r>
                        <a:rPr lang="vi-VN" sz="2000" b="1"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Nhiệt độ </a:t>
                      </a:r>
                      <a:r>
                        <a:rPr lang="en-US" sz="2000" b="1"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l</a:t>
                      </a:r>
                      <a:r>
                        <a:rPr lang="vi-VN" sz="2000" b="1"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ưu trữ</a:t>
                      </a:r>
                      <a:endParaRPr lang="en-US" sz="2400" b="1"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0" kern="1200" dirty="0">
                          <a:solidFill>
                            <a:schemeClr val="dk1"/>
                          </a:solidFill>
                          <a:effectLst/>
                          <a:latin typeface="+mn-lt"/>
                          <a:ea typeface="+mn-ea"/>
                          <a:cs typeface="+mn-cs"/>
                        </a:rPr>
                        <a:t>-65°C to 150°C</a:t>
                      </a:r>
                      <a:endParaRPr lang="en-US" sz="24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279393"/>
                  </a:ext>
                </a:extLst>
              </a:tr>
            </a:tbl>
          </a:graphicData>
        </a:graphic>
      </p:graphicFrame>
      <p:pic>
        <p:nvPicPr>
          <p:cNvPr id="2" name="Hình ảnh 6">
            <a:extLst>
              <a:ext uri="{FF2B5EF4-FFF2-40B4-BE49-F238E27FC236}">
                <a16:creationId xmlns:a16="http://schemas.microsoft.com/office/drawing/2014/main" id="{347124DE-F15F-5D34-2DF0-F5B763ACFD2D}"/>
              </a:ext>
            </a:extLst>
          </p:cNvPr>
          <p:cNvPicPr>
            <a:picLocks noChangeAspect="1"/>
          </p:cNvPicPr>
          <p:nvPr/>
        </p:nvPicPr>
        <p:blipFill>
          <a:blip r:embed="rId4"/>
          <a:stretch>
            <a:fillRect/>
          </a:stretch>
        </p:blipFill>
        <p:spPr>
          <a:xfrm>
            <a:off x="5101894" y="3977498"/>
            <a:ext cx="2978812" cy="2511064"/>
          </a:xfrm>
          <a:prstGeom prst="rect">
            <a:avLst/>
          </a:prstGeom>
        </p:spPr>
      </p:pic>
      <p:graphicFrame>
        <p:nvGraphicFramePr>
          <p:cNvPr id="6" name="Table 5">
            <a:extLst>
              <a:ext uri="{FF2B5EF4-FFF2-40B4-BE49-F238E27FC236}">
                <a16:creationId xmlns:a16="http://schemas.microsoft.com/office/drawing/2014/main" id="{6AAC87CC-DFCF-1328-248B-C51436291E1B}"/>
              </a:ext>
            </a:extLst>
          </p:cNvPr>
          <p:cNvGraphicFramePr>
            <a:graphicFrameLocks noGrp="1"/>
          </p:cNvGraphicFramePr>
          <p:nvPr>
            <p:extLst>
              <p:ext uri="{D42A27DB-BD31-4B8C-83A1-F6EECF244321}">
                <p14:modId xmlns:p14="http://schemas.microsoft.com/office/powerpoint/2010/main" val="1294461021"/>
              </p:ext>
            </p:extLst>
          </p:nvPr>
        </p:nvGraphicFramePr>
        <p:xfrm>
          <a:off x="4648201" y="1828800"/>
          <a:ext cx="4191000" cy="1745866"/>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97423455"/>
                    </a:ext>
                  </a:extLst>
                </a:gridCol>
                <a:gridCol w="1752600">
                  <a:extLst>
                    <a:ext uri="{9D8B030D-6E8A-4147-A177-3AD203B41FA5}">
                      <a16:colId xmlns:a16="http://schemas.microsoft.com/office/drawing/2014/main" val="4168357770"/>
                    </a:ext>
                  </a:extLst>
                </a:gridCol>
              </a:tblGrid>
              <a:tr h="303279">
                <a:tc>
                  <a:txBody>
                    <a:bodyPr/>
                    <a:lstStyle/>
                    <a:p>
                      <a:pPr algn="ctr"/>
                      <a:r>
                        <a:rPr lang="en-US" sz="2000" b="1" dirty="0">
                          <a:solidFill>
                            <a:schemeClr val="tx1"/>
                          </a:solidFill>
                          <a:latin typeface="+mj-lt"/>
                        </a:rPr>
                        <a:t>Tham </a:t>
                      </a:r>
                      <a:r>
                        <a:rPr lang="en-US" sz="2000" b="1" dirty="0" err="1">
                          <a:solidFill>
                            <a:schemeClr val="tx1"/>
                          </a:solidFill>
                          <a:latin typeface="+mj-lt"/>
                        </a:rPr>
                        <a:t>số</a:t>
                      </a:r>
                      <a:endParaRPr lang="en-US" sz="2000" b="1"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err="1">
                          <a:solidFill>
                            <a:schemeClr val="tx1"/>
                          </a:solidFill>
                          <a:latin typeface="+mj-lt"/>
                        </a:rPr>
                        <a:t>Giá</a:t>
                      </a:r>
                      <a:r>
                        <a:rPr lang="en-US" sz="2000" b="1" dirty="0">
                          <a:solidFill>
                            <a:schemeClr val="tx1"/>
                          </a:solidFill>
                          <a:latin typeface="+mj-lt"/>
                        </a:rPr>
                        <a:t> </a:t>
                      </a:r>
                      <a:r>
                        <a:rPr lang="en-US" sz="2000" b="1" dirty="0" err="1">
                          <a:solidFill>
                            <a:schemeClr val="tx1"/>
                          </a:solidFill>
                          <a:latin typeface="+mj-lt"/>
                        </a:rPr>
                        <a:t>trị</a:t>
                      </a:r>
                      <a:endParaRPr lang="en-US" sz="2000" b="1"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1441801"/>
                  </a:ext>
                </a:extLst>
              </a:tr>
              <a:tr h="441960">
                <a:tc>
                  <a:txBody>
                    <a:bodyPr/>
                    <a:lstStyle/>
                    <a:p>
                      <a:pPr algn="l"/>
                      <a:r>
                        <a:rPr lang="en-US" sz="2000" b="1" i="0" kern="1200" dirty="0" err="1">
                          <a:solidFill>
                            <a:schemeClr val="dk1"/>
                          </a:solidFill>
                          <a:effectLst/>
                          <a:latin typeface="+mn-lt"/>
                          <a:ea typeface="+mn-ea"/>
                          <a:cs typeface="+mn-cs"/>
                        </a:rPr>
                        <a:t>Điện</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áp</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nguồn</a:t>
                      </a:r>
                      <a:endParaRPr lang="en-US" sz="2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latin typeface="+mj-lt"/>
                        </a:rPr>
                        <a:t>4.5V to 18V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1994466"/>
                  </a:ext>
                </a:extLst>
              </a:tr>
              <a:tr h="465706">
                <a:tc>
                  <a:txBody>
                    <a:bodyPr/>
                    <a:lstStyle/>
                    <a:p>
                      <a:pPr algn="l"/>
                      <a:r>
                        <a:rPr lang="en-US" sz="2000" b="1" i="0" kern="1200" dirty="0" err="1">
                          <a:solidFill>
                            <a:schemeClr val="dk1"/>
                          </a:solidFill>
                          <a:effectLst/>
                          <a:latin typeface="+mn-lt"/>
                          <a:ea typeface="+mn-ea"/>
                          <a:cs typeface="+mn-cs"/>
                        </a:rPr>
                        <a:t>Nhiệt</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độ</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mối</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nối</a:t>
                      </a:r>
                      <a:endParaRPr lang="en-US" sz="2400" b="1"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t>-40°C to 125°C</a:t>
                      </a:r>
                      <a:endParaRPr lang="en-US" sz="28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296641"/>
                  </a:ext>
                </a:extLst>
              </a:tr>
              <a:tr h="441960">
                <a:tc>
                  <a:txBody>
                    <a:bodyPr/>
                    <a:lstStyle/>
                    <a:p>
                      <a:pPr algn="l"/>
                      <a:r>
                        <a:rPr lang="en-US" sz="2000" b="1" i="0" kern="1200" dirty="0" err="1">
                          <a:solidFill>
                            <a:schemeClr val="dk1"/>
                          </a:solidFill>
                          <a:effectLst/>
                          <a:latin typeface="+mn-lt"/>
                          <a:ea typeface="+mn-ea"/>
                          <a:cs typeface="+mn-cs"/>
                        </a:rPr>
                        <a:t>Nhiệt</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độ</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môi</a:t>
                      </a:r>
                      <a:r>
                        <a:rPr lang="en-US" sz="2000" b="1" i="0" kern="1200" dirty="0">
                          <a:solidFill>
                            <a:schemeClr val="dk1"/>
                          </a:solidFill>
                          <a:effectLst/>
                          <a:latin typeface="+mn-lt"/>
                          <a:ea typeface="+mn-ea"/>
                          <a:cs typeface="+mn-cs"/>
                        </a:rPr>
                        <a:t> </a:t>
                      </a:r>
                      <a:r>
                        <a:rPr lang="en-US" sz="2000" b="1" i="0" kern="1200" dirty="0" err="1">
                          <a:solidFill>
                            <a:schemeClr val="dk1"/>
                          </a:solidFill>
                          <a:effectLst/>
                          <a:latin typeface="+mn-lt"/>
                          <a:ea typeface="+mn-ea"/>
                          <a:cs typeface="+mn-cs"/>
                        </a:rPr>
                        <a:t>trường</a:t>
                      </a:r>
                      <a:endParaRPr lang="en-US" sz="2400" b="1"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t>-40°C to 85°C</a:t>
                      </a:r>
                      <a:endParaRPr lang="en-US" sz="24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336146"/>
                  </a:ext>
                </a:extLst>
              </a:tr>
            </a:tbl>
          </a:graphicData>
        </a:graphic>
      </p:graphicFrame>
    </p:spTree>
    <p:extLst>
      <p:ext uri="{BB962C8B-B14F-4D97-AF65-F5344CB8AC3E}">
        <p14:creationId xmlns:p14="http://schemas.microsoft.com/office/powerpoint/2010/main" val="2223252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65FF-30B2-C90A-19A8-D4F2A09E683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9F19950-A19C-9BB2-287B-1B74462C45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F3B45839-79D9-0805-2D97-057177B3CECA}"/>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Sơ</a:t>
            </a:r>
            <a:r>
              <a:rPr lang="en-US" sz="3200" b="1" dirty="0">
                <a:solidFill>
                  <a:schemeClr val="bg1"/>
                </a:solidFill>
                <a:latin typeface="+mj-lt"/>
              </a:rPr>
              <a:t> </a:t>
            </a:r>
            <a:r>
              <a:rPr lang="en-US" sz="3200" b="1" dirty="0" err="1">
                <a:solidFill>
                  <a:schemeClr val="bg1"/>
                </a:solidFill>
                <a:latin typeface="+mj-lt"/>
              </a:rPr>
              <a:t>đồ</a:t>
            </a:r>
            <a:r>
              <a:rPr lang="en-US" sz="3200" b="1" dirty="0">
                <a:solidFill>
                  <a:schemeClr val="bg1"/>
                </a:solidFill>
                <a:latin typeface="+mj-lt"/>
              </a:rPr>
              <a:t> </a:t>
            </a:r>
            <a:r>
              <a:rPr lang="en-US" sz="3200" b="1" dirty="0" err="1">
                <a:solidFill>
                  <a:schemeClr val="bg1"/>
                </a:solidFill>
                <a:latin typeface="+mj-lt"/>
              </a:rPr>
              <a:t>khối</a:t>
            </a:r>
            <a:r>
              <a:rPr lang="en-US" sz="3200" b="1" dirty="0">
                <a:solidFill>
                  <a:schemeClr val="bg1"/>
                </a:solidFill>
                <a:latin typeface="+mj-lt"/>
              </a:rPr>
              <a:t> </a:t>
            </a:r>
            <a:r>
              <a:rPr lang="en-US" sz="3200" b="1" dirty="0" err="1">
                <a:solidFill>
                  <a:schemeClr val="bg1"/>
                </a:solidFill>
                <a:latin typeface="+mj-lt"/>
              </a:rPr>
              <a:t>chức</a:t>
            </a:r>
            <a:r>
              <a:rPr lang="en-US" sz="3200" b="1" dirty="0">
                <a:solidFill>
                  <a:schemeClr val="bg1"/>
                </a:solidFill>
                <a:latin typeface="+mj-lt"/>
              </a:rPr>
              <a:t> </a:t>
            </a:r>
            <a:r>
              <a:rPr lang="en-US" sz="3200" b="1" dirty="0" err="1">
                <a:solidFill>
                  <a:schemeClr val="bg1"/>
                </a:solidFill>
                <a:latin typeface="+mj-lt"/>
              </a:rPr>
              <a:t>năng</a:t>
            </a:r>
            <a:endParaRPr lang="en-US" sz="3200" b="1" dirty="0">
              <a:solidFill>
                <a:schemeClr val="bg1"/>
              </a:solidFill>
              <a:latin typeface="+mj-lt"/>
            </a:endParaRPr>
          </a:p>
        </p:txBody>
      </p:sp>
      <p:pic>
        <p:nvPicPr>
          <p:cNvPr id="3" name="Picture 2">
            <a:extLst>
              <a:ext uri="{FF2B5EF4-FFF2-40B4-BE49-F238E27FC236}">
                <a16:creationId xmlns:a16="http://schemas.microsoft.com/office/drawing/2014/main" id="{1455F559-8391-AD58-F67D-3994990E5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26305"/>
            <a:ext cx="9144000" cy="5705095"/>
          </a:xfrm>
          <a:prstGeom prst="rect">
            <a:avLst/>
          </a:prstGeom>
        </p:spPr>
      </p:pic>
    </p:spTree>
    <p:extLst>
      <p:ext uri="{BB962C8B-B14F-4D97-AF65-F5344CB8AC3E}">
        <p14:creationId xmlns:p14="http://schemas.microsoft.com/office/powerpoint/2010/main" val="1845146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C3990-A43B-D6C9-A664-885C2864DC0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F9698D3-6576-DF3B-C343-95257F6D07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2CAB1A53-362A-9B67-29D5-3B1AD51712CD}"/>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Đặc</a:t>
            </a:r>
            <a:r>
              <a:rPr lang="en-US" sz="3200" b="1" dirty="0">
                <a:solidFill>
                  <a:schemeClr val="bg1"/>
                </a:solidFill>
                <a:latin typeface="+mj-lt"/>
              </a:rPr>
              <a:t> </a:t>
            </a:r>
            <a:r>
              <a:rPr lang="en-US" sz="3200" b="1" dirty="0" err="1">
                <a:solidFill>
                  <a:schemeClr val="bg1"/>
                </a:solidFill>
                <a:latin typeface="+mj-lt"/>
              </a:rPr>
              <a:t>tính</a:t>
            </a:r>
            <a:r>
              <a:rPr lang="en-US" sz="3200" b="1" dirty="0">
                <a:solidFill>
                  <a:schemeClr val="bg1"/>
                </a:solidFill>
                <a:latin typeface="+mj-lt"/>
              </a:rPr>
              <a:t> </a:t>
            </a:r>
            <a:r>
              <a:rPr lang="en-US" sz="3200" b="1" dirty="0" err="1">
                <a:solidFill>
                  <a:schemeClr val="bg1"/>
                </a:solidFill>
                <a:latin typeface="+mj-lt"/>
              </a:rPr>
              <a:t>điện</a:t>
            </a:r>
            <a:endParaRPr lang="en-US" sz="3200" b="1" dirty="0">
              <a:solidFill>
                <a:schemeClr val="bg1"/>
              </a:solidFill>
              <a:latin typeface="+mj-lt"/>
            </a:endParaRPr>
          </a:p>
        </p:txBody>
      </p:sp>
      <p:graphicFrame>
        <p:nvGraphicFramePr>
          <p:cNvPr id="4" name="Table 3">
            <a:extLst>
              <a:ext uri="{FF2B5EF4-FFF2-40B4-BE49-F238E27FC236}">
                <a16:creationId xmlns:a16="http://schemas.microsoft.com/office/drawing/2014/main" id="{3A0EC12C-C6F1-0E99-1E26-F986BFEBCAC8}"/>
              </a:ext>
            </a:extLst>
          </p:cNvPr>
          <p:cNvGraphicFramePr>
            <a:graphicFrameLocks noGrp="1"/>
          </p:cNvGraphicFramePr>
          <p:nvPr>
            <p:extLst>
              <p:ext uri="{D42A27DB-BD31-4B8C-83A1-F6EECF244321}">
                <p14:modId xmlns:p14="http://schemas.microsoft.com/office/powerpoint/2010/main" val="2053274709"/>
              </p:ext>
            </p:extLst>
          </p:nvPr>
        </p:nvGraphicFramePr>
        <p:xfrm>
          <a:off x="685800" y="1762760"/>
          <a:ext cx="7696200" cy="3332480"/>
        </p:xfrm>
        <a:graphic>
          <a:graphicData uri="http://schemas.openxmlformats.org/drawingml/2006/table">
            <a:tbl>
              <a:tblPr firstRow="1" bandRow="1">
                <a:tableStyleId>{5C22544A-7EE6-4342-B048-85BDC9FD1C3A}</a:tableStyleId>
              </a:tblPr>
              <a:tblGrid>
                <a:gridCol w="3332376">
                  <a:extLst>
                    <a:ext uri="{9D8B030D-6E8A-4147-A177-3AD203B41FA5}">
                      <a16:colId xmlns:a16="http://schemas.microsoft.com/office/drawing/2014/main" val="1149770778"/>
                    </a:ext>
                  </a:extLst>
                </a:gridCol>
                <a:gridCol w="1190134">
                  <a:extLst>
                    <a:ext uri="{9D8B030D-6E8A-4147-A177-3AD203B41FA5}">
                      <a16:colId xmlns:a16="http://schemas.microsoft.com/office/drawing/2014/main" val="2938394304"/>
                    </a:ext>
                  </a:extLst>
                </a:gridCol>
                <a:gridCol w="822074">
                  <a:extLst>
                    <a:ext uri="{9D8B030D-6E8A-4147-A177-3AD203B41FA5}">
                      <a16:colId xmlns:a16="http://schemas.microsoft.com/office/drawing/2014/main" val="59165675"/>
                    </a:ext>
                  </a:extLst>
                </a:gridCol>
                <a:gridCol w="712612">
                  <a:extLst>
                    <a:ext uri="{9D8B030D-6E8A-4147-A177-3AD203B41FA5}">
                      <a16:colId xmlns:a16="http://schemas.microsoft.com/office/drawing/2014/main" val="2999350300"/>
                    </a:ext>
                  </a:extLst>
                </a:gridCol>
                <a:gridCol w="712612">
                  <a:extLst>
                    <a:ext uri="{9D8B030D-6E8A-4147-A177-3AD203B41FA5}">
                      <a16:colId xmlns:a16="http://schemas.microsoft.com/office/drawing/2014/main" val="3851144410"/>
                    </a:ext>
                  </a:extLst>
                </a:gridCol>
                <a:gridCol w="926392">
                  <a:extLst>
                    <a:ext uri="{9D8B030D-6E8A-4147-A177-3AD203B41FA5}">
                      <a16:colId xmlns:a16="http://schemas.microsoft.com/office/drawing/2014/main" val="3157722990"/>
                    </a:ext>
                  </a:extLst>
                </a:gridCol>
              </a:tblGrid>
              <a:tr h="370840">
                <a:tc>
                  <a:txBody>
                    <a:bodyPr/>
                    <a:lstStyle/>
                    <a:p>
                      <a:pPr algn="ctr"/>
                      <a:r>
                        <a:rPr lang="en-US" dirty="0">
                          <a:solidFill>
                            <a:schemeClr val="tx1"/>
                          </a:solidFill>
                        </a:rPr>
                        <a:t>Thông </a:t>
                      </a:r>
                      <a:r>
                        <a:rPr lang="en-US" dirty="0" err="1">
                          <a:solidFill>
                            <a:schemeClr val="tx1"/>
                          </a:solidFill>
                        </a:rPr>
                        <a:t>số</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solidFill>
                            <a:schemeClr val="tx1"/>
                          </a:solidFill>
                        </a:rPr>
                        <a:t>Ký</a:t>
                      </a:r>
                      <a:r>
                        <a:rPr lang="en-US" dirty="0">
                          <a:solidFill>
                            <a:schemeClr val="tx1"/>
                          </a:solidFill>
                        </a:rPr>
                        <a:t> </a:t>
                      </a:r>
                      <a:r>
                        <a:rPr lang="en-US" dirty="0" err="1">
                          <a:solidFill>
                            <a:schemeClr val="tx1"/>
                          </a:solidFill>
                        </a:rPr>
                        <a:t>hiệu</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solidFill>
                            <a:schemeClr val="tx1"/>
                          </a:solidFill>
                        </a:rPr>
                        <a:t>Typ</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solidFill>
                            <a:schemeClr val="tx1"/>
                          </a:solidFill>
                        </a:rPr>
                        <a:t>Đơn</a:t>
                      </a:r>
                      <a:r>
                        <a:rPr lang="en-US" dirty="0">
                          <a:solidFill>
                            <a:schemeClr val="tx1"/>
                          </a:solidFill>
                        </a:rPr>
                        <a:t> </a:t>
                      </a:r>
                      <a:r>
                        <a:rPr lang="en-US" dirty="0" err="1">
                          <a:solidFill>
                            <a:schemeClr val="tx1"/>
                          </a:solidFill>
                        </a:rPr>
                        <a:t>vị</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7039507"/>
                  </a:ext>
                </a:extLst>
              </a:tr>
              <a:tr h="370840">
                <a:tc>
                  <a:txBody>
                    <a:bodyPr/>
                    <a:lstStyle/>
                    <a:p>
                      <a:r>
                        <a:rPr lang="en-US" b="1" dirty="0" err="1">
                          <a:solidFill>
                            <a:schemeClr val="tx1"/>
                          </a:solidFill>
                        </a:rPr>
                        <a:t>Điện</a:t>
                      </a:r>
                      <a:r>
                        <a:rPr lang="en-US" b="1" dirty="0">
                          <a:solidFill>
                            <a:schemeClr val="tx1"/>
                          </a:solidFill>
                        </a:rPr>
                        <a:t> </a:t>
                      </a:r>
                      <a:r>
                        <a:rPr lang="en-US" b="1" dirty="0" err="1">
                          <a:solidFill>
                            <a:schemeClr val="tx1"/>
                          </a:solidFill>
                        </a:rPr>
                        <a:t>áp</a:t>
                      </a:r>
                      <a:r>
                        <a:rPr lang="en-US" b="1" dirty="0">
                          <a:solidFill>
                            <a:schemeClr val="tx1"/>
                          </a:solidFill>
                        </a:rPr>
                        <a:t> </a:t>
                      </a:r>
                      <a:r>
                        <a:rPr lang="en-US" b="1" dirty="0" err="1">
                          <a:solidFill>
                            <a:schemeClr val="tx1"/>
                          </a:solidFill>
                        </a:rPr>
                        <a:t>vào</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V</a:t>
                      </a:r>
                      <a:r>
                        <a:rPr lang="en-US" sz="1400" dirty="0">
                          <a:solidFill>
                            <a:schemeClr val="tx1"/>
                          </a:solidFill>
                        </a:rPr>
                        <a:t>IN</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9688524"/>
                  </a:ext>
                </a:extLst>
              </a:tr>
              <a:tr h="370840">
                <a:tc>
                  <a:txBody>
                    <a:bodyPr/>
                    <a:lstStyle/>
                    <a:p>
                      <a:r>
                        <a:rPr lang="en-US" b="1" dirty="0" err="1">
                          <a:solidFill>
                            <a:schemeClr val="tx1"/>
                          </a:solidFill>
                        </a:rPr>
                        <a:t>Dòng</a:t>
                      </a:r>
                      <a:r>
                        <a:rPr lang="en-US" b="1" dirty="0">
                          <a:solidFill>
                            <a:schemeClr val="tx1"/>
                          </a:solidFill>
                        </a:rPr>
                        <a:t> </a:t>
                      </a:r>
                      <a:r>
                        <a:rPr lang="en-US" b="1" dirty="0" err="1">
                          <a:solidFill>
                            <a:schemeClr val="tx1"/>
                          </a:solidFill>
                        </a:rPr>
                        <a:t>không</a:t>
                      </a:r>
                      <a:r>
                        <a:rPr lang="en-US" b="1" dirty="0">
                          <a:solidFill>
                            <a:schemeClr val="tx1"/>
                          </a:solidFill>
                        </a:rPr>
                        <a:t> </a:t>
                      </a:r>
                      <a:r>
                        <a:rPr lang="en-US" b="1" dirty="0" err="1">
                          <a:solidFill>
                            <a:schemeClr val="tx1"/>
                          </a:solidFill>
                        </a:rPr>
                        <a:t>tải</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solidFill>
                            <a:schemeClr val="tx1"/>
                          </a:solidFill>
                        </a:rPr>
                        <a:t>I</a:t>
                      </a:r>
                      <a:r>
                        <a:rPr lang="en-US" sz="1400" dirty="0" err="1">
                          <a:solidFill>
                            <a:schemeClr val="tx1"/>
                          </a:solidFill>
                        </a:rPr>
                        <a:t>q</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µA</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7131216"/>
                  </a:ext>
                </a:extLst>
              </a:tr>
              <a:tr h="370840">
                <a:tc>
                  <a:txBody>
                    <a:bodyPr/>
                    <a:lstStyle/>
                    <a:p>
                      <a:r>
                        <a:rPr lang="en-US" b="1" dirty="0" err="1">
                          <a:solidFill>
                            <a:schemeClr val="tx1"/>
                          </a:solidFill>
                        </a:rPr>
                        <a:t>Điện</a:t>
                      </a:r>
                      <a:r>
                        <a:rPr lang="en-US" b="1" dirty="0">
                          <a:solidFill>
                            <a:schemeClr val="tx1"/>
                          </a:solidFill>
                        </a:rPr>
                        <a:t> </a:t>
                      </a:r>
                      <a:r>
                        <a:rPr lang="en-US" b="1" dirty="0" err="1">
                          <a:solidFill>
                            <a:schemeClr val="tx1"/>
                          </a:solidFill>
                        </a:rPr>
                        <a:t>áp</a:t>
                      </a:r>
                      <a:r>
                        <a:rPr lang="en-US" b="1" dirty="0">
                          <a:solidFill>
                            <a:schemeClr val="tx1"/>
                          </a:solidFill>
                        </a:rPr>
                        <a:t> </a:t>
                      </a:r>
                      <a:r>
                        <a:rPr lang="en-US" b="1" dirty="0" err="1">
                          <a:solidFill>
                            <a:schemeClr val="tx1"/>
                          </a:solidFill>
                        </a:rPr>
                        <a:t>tham</a:t>
                      </a:r>
                      <a:r>
                        <a:rPr lang="en-US" b="1" dirty="0">
                          <a:solidFill>
                            <a:schemeClr val="tx1"/>
                          </a:solidFill>
                        </a:rPr>
                        <a:t> </a:t>
                      </a:r>
                      <a:r>
                        <a:rPr lang="en-US" b="1" dirty="0" err="1">
                          <a:solidFill>
                            <a:schemeClr val="tx1"/>
                          </a:solidFill>
                        </a:rPr>
                        <a:t>chiếu</a:t>
                      </a:r>
                      <a:r>
                        <a:rPr lang="en-US" b="1" dirty="0">
                          <a:solidFill>
                            <a:schemeClr val="tx1"/>
                          </a:solidFill>
                        </a:rPr>
                        <a:t> FB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solidFill>
                            <a:schemeClr val="tx1"/>
                          </a:solidFill>
                        </a:rPr>
                        <a:t>V</a:t>
                      </a:r>
                      <a:r>
                        <a:rPr lang="en-US" sz="1400" dirty="0" err="1">
                          <a:solidFill>
                            <a:schemeClr val="tx1"/>
                          </a:solidFill>
                        </a:rPr>
                        <a:t>ref</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0.518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0.612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5196677"/>
                  </a:ext>
                </a:extLst>
              </a:tr>
              <a:tr h="370840">
                <a:tc>
                  <a:txBody>
                    <a:bodyPr/>
                    <a:lstStyle/>
                    <a:p>
                      <a:r>
                        <a:rPr lang="en-US" b="1" dirty="0" err="1">
                          <a:solidFill>
                            <a:schemeClr val="tx1"/>
                          </a:solidFill>
                        </a:rPr>
                        <a:t>Điện</a:t>
                      </a:r>
                      <a:r>
                        <a:rPr lang="en-US" b="1" dirty="0">
                          <a:solidFill>
                            <a:schemeClr val="tx1"/>
                          </a:solidFill>
                        </a:rPr>
                        <a:t> </a:t>
                      </a:r>
                      <a:r>
                        <a:rPr lang="en-US" b="1" dirty="0" err="1">
                          <a:solidFill>
                            <a:schemeClr val="tx1"/>
                          </a:solidFill>
                        </a:rPr>
                        <a:t>trở</a:t>
                      </a:r>
                      <a:r>
                        <a:rPr lang="en-US" b="1" dirty="0">
                          <a:solidFill>
                            <a:schemeClr val="tx1"/>
                          </a:solidFill>
                        </a:rPr>
                        <a:t> FET </a:t>
                      </a:r>
                      <a:r>
                        <a:rPr lang="en-US" b="1" dirty="0" err="1">
                          <a:solidFill>
                            <a:schemeClr val="tx1"/>
                          </a:solidFill>
                        </a:rPr>
                        <a:t>trên</a:t>
                      </a:r>
                      <a:r>
                        <a:rPr lang="en-US" b="1" dirty="0">
                          <a:solidFill>
                            <a:schemeClr val="tx1"/>
                          </a:solidFill>
                        </a:rPr>
                        <a:t> (HS-MOSFET)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R</a:t>
                      </a:r>
                      <a:r>
                        <a:rPr lang="en-US" sz="1400" dirty="0">
                          <a:solidFill>
                            <a:schemeClr val="tx1"/>
                          </a:solidFill>
                        </a:rPr>
                        <a:t>DS(ON)1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l-GR" dirty="0"/>
                        <a:t>Ω</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9885097"/>
                  </a:ext>
                </a:extLst>
              </a:tr>
              <a:tr h="370840">
                <a:tc>
                  <a:txBody>
                    <a:bodyPr/>
                    <a:lstStyle/>
                    <a:p>
                      <a:r>
                        <a:rPr lang="en-US" b="1" dirty="0" err="1">
                          <a:solidFill>
                            <a:schemeClr val="tx1"/>
                          </a:solidFill>
                        </a:rPr>
                        <a:t>Điện</a:t>
                      </a:r>
                      <a:r>
                        <a:rPr lang="en-US" b="1" dirty="0">
                          <a:solidFill>
                            <a:schemeClr val="tx1"/>
                          </a:solidFill>
                        </a:rPr>
                        <a:t> </a:t>
                      </a:r>
                      <a:r>
                        <a:rPr lang="en-US" b="1" dirty="0" err="1">
                          <a:solidFill>
                            <a:schemeClr val="tx1"/>
                          </a:solidFill>
                        </a:rPr>
                        <a:t>trở</a:t>
                      </a:r>
                      <a:r>
                        <a:rPr lang="en-US" b="1" dirty="0">
                          <a:solidFill>
                            <a:schemeClr val="tx1"/>
                          </a:solidFill>
                        </a:rPr>
                        <a:t> FET </a:t>
                      </a:r>
                      <a:r>
                        <a:rPr lang="en-US" b="1" dirty="0" err="1">
                          <a:solidFill>
                            <a:schemeClr val="tx1"/>
                          </a:solidFill>
                        </a:rPr>
                        <a:t>dưới</a:t>
                      </a:r>
                      <a:r>
                        <a:rPr lang="en-US" b="1" dirty="0">
                          <a:solidFill>
                            <a:schemeClr val="tx1"/>
                          </a:solidFill>
                        </a:rPr>
                        <a:t> (LS-MOSFET)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R</a:t>
                      </a:r>
                      <a:r>
                        <a:rPr lang="en-US" sz="1400" dirty="0">
                          <a:solidFill>
                            <a:schemeClr val="tx1"/>
                          </a:solidFill>
                        </a:rPr>
                        <a:t>DS(ON)2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l-GR" dirty="0"/>
                        <a:t>Ω</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833777"/>
                  </a:ext>
                </a:extLst>
              </a:tr>
              <a:tr h="370840">
                <a:tc>
                  <a:txBody>
                    <a:bodyPr/>
                    <a:lstStyle/>
                    <a:p>
                      <a:r>
                        <a:rPr lang="en-US" b="1" dirty="0" err="1">
                          <a:solidFill>
                            <a:schemeClr val="tx1"/>
                          </a:solidFill>
                        </a:rPr>
                        <a:t>Tần</a:t>
                      </a:r>
                      <a:r>
                        <a:rPr lang="en-US" b="1" dirty="0">
                          <a:solidFill>
                            <a:schemeClr val="tx1"/>
                          </a:solidFill>
                        </a:rPr>
                        <a:t> </a:t>
                      </a:r>
                      <a:r>
                        <a:rPr lang="en-US" b="1" dirty="0" err="1">
                          <a:solidFill>
                            <a:schemeClr val="tx1"/>
                          </a:solidFill>
                        </a:rPr>
                        <a:t>số</a:t>
                      </a:r>
                      <a:r>
                        <a:rPr lang="en-US" b="1" dirty="0">
                          <a:solidFill>
                            <a:schemeClr val="tx1"/>
                          </a:solidFill>
                        </a:rPr>
                        <a:t> </a:t>
                      </a:r>
                      <a:r>
                        <a:rPr lang="en-US" b="1" dirty="0" err="1">
                          <a:solidFill>
                            <a:schemeClr val="tx1"/>
                          </a:solidFill>
                        </a:rPr>
                        <a:t>chuyển</a:t>
                      </a:r>
                      <a:r>
                        <a:rPr lang="en-US" b="1" dirty="0">
                          <a:solidFill>
                            <a:schemeClr val="tx1"/>
                          </a:solidFill>
                        </a:rPr>
                        <a:t> </a:t>
                      </a:r>
                      <a:r>
                        <a:rPr lang="en-US" b="1" dirty="0" err="1">
                          <a:solidFill>
                            <a:schemeClr val="tx1"/>
                          </a:solidFill>
                        </a:rPr>
                        <a:t>mạch</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F</a:t>
                      </a:r>
                      <a:r>
                        <a:rPr lang="en-US" sz="1400" dirty="0">
                          <a:solidFill>
                            <a:schemeClr val="tx1"/>
                          </a:solidFill>
                        </a:rPr>
                        <a:t>SW</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kHz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6885708"/>
                  </a:ext>
                </a:extLst>
              </a:tr>
              <a:tr h="121920">
                <a:tc>
                  <a:txBody>
                    <a:bodyPr/>
                    <a:lstStyle/>
                    <a:p>
                      <a:r>
                        <a:rPr lang="en-US" b="1" dirty="0" err="1">
                          <a:solidFill>
                            <a:schemeClr val="tx1"/>
                          </a:solidFill>
                        </a:rPr>
                        <a:t>Thời</a:t>
                      </a:r>
                      <a:r>
                        <a:rPr lang="en-US" b="1" dirty="0">
                          <a:solidFill>
                            <a:schemeClr val="tx1"/>
                          </a:solidFill>
                        </a:rPr>
                        <a:t> </a:t>
                      </a:r>
                      <a:r>
                        <a:rPr lang="en-US" b="1" dirty="0" err="1">
                          <a:solidFill>
                            <a:schemeClr val="tx1"/>
                          </a:solidFill>
                        </a:rPr>
                        <a:t>gian</a:t>
                      </a:r>
                      <a:r>
                        <a:rPr lang="en-US" b="1" dirty="0">
                          <a:solidFill>
                            <a:schemeClr val="tx1"/>
                          </a:solidFill>
                        </a:rPr>
                        <a:t> ON </a:t>
                      </a:r>
                      <a:r>
                        <a:rPr lang="en-US" b="1" dirty="0" err="1">
                          <a:solidFill>
                            <a:schemeClr val="tx1"/>
                          </a:solidFill>
                        </a:rPr>
                        <a:t>tối</a:t>
                      </a:r>
                      <a:r>
                        <a:rPr lang="en-US" b="1" dirty="0">
                          <a:solidFill>
                            <a:schemeClr val="tx1"/>
                          </a:solidFill>
                        </a:rPr>
                        <a:t> </a:t>
                      </a:r>
                      <a:r>
                        <a:rPr lang="en-US" b="1" dirty="0" err="1">
                          <a:solidFill>
                            <a:schemeClr val="tx1"/>
                          </a:solidFill>
                        </a:rPr>
                        <a:t>thiểu</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0242494"/>
                  </a:ext>
                </a:extLst>
              </a:tr>
              <a:tr h="370840">
                <a:tc>
                  <a:txBody>
                    <a:bodyPr/>
                    <a:lstStyle/>
                    <a:p>
                      <a:r>
                        <a:rPr lang="en-US" b="1" dirty="0" err="1">
                          <a:solidFill>
                            <a:schemeClr val="tx1"/>
                          </a:solidFill>
                        </a:rPr>
                        <a:t>Thời</a:t>
                      </a:r>
                      <a:r>
                        <a:rPr lang="en-US" b="1" dirty="0">
                          <a:solidFill>
                            <a:schemeClr val="tx1"/>
                          </a:solidFill>
                        </a:rPr>
                        <a:t> </a:t>
                      </a:r>
                      <a:r>
                        <a:rPr lang="en-US" b="1" dirty="0" err="1">
                          <a:solidFill>
                            <a:schemeClr val="tx1"/>
                          </a:solidFill>
                        </a:rPr>
                        <a:t>gian</a:t>
                      </a:r>
                      <a:r>
                        <a:rPr lang="en-US" b="1" dirty="0">
                          <a:solidFill>
                            <a:schemeClr val="tx1"/>
                          </a:solidFill>
                        </a:rPr>
                        <a:t> OFF </a:t>
                      </a:r>
                      <a:r>
                        <a:rPr lang="en-US" b="1" dirty="0" err="1">
                          <a:solidFill>
                            <a:schemeClr val="tx1"/>
                          </a:solidFill>
                        </a:rPr>
                        <a:t>tối</a:t>
                      </a:r>
                      <a:r>
                        <a:rPr lang="en-US" b="1" dirty="0">
                          <a:solidFill>
                            <a:schemeClr val="tx1"/>
                          </a:solidFill>
                        </a:rPr>
                        <a:t> </a:t>
                      </a:r>
                      <a:r>
                        <a:rPr lang="en-US" b="1" dirty="0" err="1">
                          <a:solidFill>
                            <a:schemeClr val="tx1"/>
                          </a:solidFill>
                        </a:rPr>
                        <a:t>thiểu</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2777970"/>
                  </a:ext>
                </a:extLst>
              </a:tr>
            </a:tbl>
          </a:graphicData>
        </a:graphic>
      </p:graphicFrame>
    </p:spTree>
    <p:extLst>
      <p:ext uri="{BB962C8B-B14F-4D97-AF65-F5344CB8AC3E}">
        <p14:creationId xmlns:p14="http://schemas.microsoft.com/office/powerpoint/2010/main" val="167256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3089-8009-0CAA-3FE3-7AB1B844F5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B090E54-26EC-FEF8-2AFA-482BB95D4E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61" y="0"/>
            <a:ext cx="9144000" cy="6464401"/>
          </a:xfrm>
          <a:prstGeom prst="rect">
            <a:avLst/>
          </a:prstGeom>
        </p:spPr>
      </p:pic>
      <p:sp>
        <p:nvSpPr>
          <p:cNvPr id="5" name="TextBox 4">
            <a:extLst>
              <a:ext uri="{FF2B5EF4-FFF2-40B4-BE49-F238E27FC236}">
                <a16:creationId xmlns:a16="http://schemas.microsoft.com/office/drawing/2014/main" id="{89157C27-49BF-A9F9-EEB1-77C59A8F8AA0}"/>
              </a:ext>
            </a:extLst>
          </p:cNvPr>
          <p:cNvSpPr txBox="1"/>
          <p:nvPr/>
        </p:nvSpPr>
        <p:spPr>
          <a:xfrm>
            <a:off x="457200" y="220765"/>
            <a:ext cx="8229600" cy="584775"/>
          </a:xfrm>
          <a:prstGeom prst="rect">
            <a:avLst/>
          </a:prstGeom>
          <a:noFill/>
        </p:spPr>
        <p:txBody>
          <a:bodyPr wrap="square" rtlCol="0">
            <a:spAutoFit/>
          </a:bodyPr>
          <a:lstStyle/>
          <a:p>
            <a:pPr algn="ctr"/>
            <a:r>
              <a:rPr lang="en-US" sz="3200" b="1" dirty="0">
                <a:solidFill>
                  <a:schemeClr val="bg1"/>
                </a:solidFill>
                <a:latin typeface="+mj-lt"/>
              </a:rPr>
              <a:t>Hiệu </a:t>
            </a:r>
            <a:r>
              <a:rPr lang="en-US" sz="3200" b="1" dirty="0" err="1">
                <a:solidFill>
                  <a:schemeClr val="bg1"/>
                </a:solidFill>
                <a:latin typeface="+mj-lt"/>
              </a:rPr>
              <a:t>suất</a:t>
            </a:r>
            <a:endParaRPr lang="en-US" sz="3200" b="1" dirty="0">
              <a:solidFill>
                <a:schemeClr val="bg1"/>
              </a:solidFill>
              <a:latin typeface="+mj-lt"/>
            </a:endParaRPr>
          </a:p>
        </p:txBody>
      </p:sp>
      <p:pic>
        <p:nvPicPr>
          <p:cNvPr id="3" name="Picture 2">
            <a:extLst>
              <a:ext uri="{FF2B5EF4-FFF2-40B4-BE49-F238E27FC236}">
                <a16:creationId xmlns:a16="http://schemas.microsoft.com/office/drawing/2014/main" id="{9524187C-33DB-9608-DAD3-F90D14BD3FF8}"/>
              </a:ext>
            </a:extLst>
          </p:cNvPr>
          <p:cNvPicPr>
            <a:picLocks noChangeAspect="1"/>
          </p:cNvPicPr>
          <p:nvPr/>
        </p:nvPicPr>
        <p:blipFill>
          <a:blip r:embed="rId4"/>
          <a:stretch>
            <a:fillRect/>
          </a:stretch>
        </p:blipFill>
        <p:spPr>
          <a:xfrm>
            <a:off x="1012603" y="1102075"/>
            <a:ext cx="7153517" cy="2758196"/>
          </a:xfrm>
          <a:prstGeom prst="rect">
            <a:avLst/>
          </a:prstGeom>
        </p:spPr>
      </p:pic>
      <p:pic>
        <p:nvPicPr>
          <p:cNvPr id="8" name="Picture 7">
            <a:extLst>
              <a:ext uri="{FF2B5EF4-FFF2-40B4-BE49-F238E27FC236}">
                <a16:creationId xmlns:a16="http://schemas.microsoft.com/office/drawing/2014/main" id="{B9BC7E30-F6E7-3AF7-D1D7-90398ED0D33C}"/>
              </a:ext>
            </a:extLst>
          </p:cNvPr>
          <p:cNvPicPr>
            <a:picLocks noChangeAspect="1"/>
          </p:cNvPicPr>
          <p:nvPr/>
        </p:nvPicPr>
        <p:blipFill>
          <a:blip r:embed="rId5"/>
          <a:stretch>
            <a:fillRect/>
          </a:stretch>
        </p:blipFill>
        <p:spPr>
          <a:xfrm>
            <a:off x="974022" y="3736411"/>
            <a:ext cx="3681671" cy="2990766"/>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CC7916E-833A-D3D3-E162-4C048049B4F9}"/>
                  </a:ext>
                </a:extLst>
              </p:cNvPr>
              <p:cNvSpPr txBox="1"/>
              <p:nvPr/>
            </p:nvSpPr>
            <p:spPr>
              <a:xfrm>
                <a:off x="4716661" y="4110984"/>
                <a:ext cx="4409978" cy="1754326"/>
              </a:xfrm>
              <a:prstGeom prst="rect">
                <a:avLst/>
              </a:prstGeom>
              <a:noFill/>
            </p:spPr>
            <p:txBody>
              <a:bodyPr wrap="square" rtlCol="0">
                <a:spAutoFit/>
              </a:bodyPr>
              <a:lstStyle/>
              <a:p>
                <a:pPr marL="285750" indent="-285750">
                  <a:buFontTx/>
                  <a:buChar char="-"/>
                </a:pPr>
                <a:r>
                  <a:rPr lang="en-US" b="1" dirty="0" err="1">
                    <a:latin typeface="Calibri" panose="020F0502020204030204" pitchFamily="34" charset="0"/>
                    <a:ea typeface="Calibri" panose="020F0502020204030204" pitchFamily="34" charset="0"/>
                    <a:cs typeface="Calibri" panose="020F0502020204030204" pitchFamily="34" charset="0"/>
                  </a:rPr>
                  <a:t>Tổn</a:t>
                </a:r>
                <a:r>
                  <a:rPr lang="en-US" b="1" dirty="0">
                    <a:latin typeface="Calibri" panose="020F0502020204030204" pitchFamily="34" charset="0"/>
                    <a:ea typeface="Calibri" panose="020F0502020204030204" pitchFamily="34" charset="0"/>
                    <a:cs typeface="Calibri" panose="020F0502020204030204" pitchFamily="34" charset="0"/>
                  </a:rPr>
                  <a:t> hao </a:t>
                </a:r>
                <a:r>
                  <a:rPr lang="en-US" b="1" dirty="0" err="1">
                    <a:latin typeface="Calibri" panose="020F0502020204030204" pitchFamily="34" charset="0"/>
                    <a:ea typeface="Calibri" panose="020F0502020204030204" pitchFamily="34" charset="0"/>
                    <a:cs typeface="Calibri" panose="020F0502020204030204" pitchFamily="34" charset="0"/>
                  </a:rPr>
                  <a:t>khi</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không</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tải</a:t>
                </a:r>
                <a:r>
                  <a:rPr lang="en-US" b="1"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a:t>
                </a:r>
                <a:r>
                  <a:rPr lang="en-US" sz="1400" dirty="0" err="1">
                    <a:latin typeface="Calibri" panose="020F0502020204030204" pitchFamily="34" charset="0"/>
                    <a:ea typeface="Calibri" panose="020F0502020204030204" pitchFamily="34" charset="0"/>
                    <a:cs typeface="Calibri" panose="020F0502020204030204" pitchFamily="34" charset="0"/>
                  </a:rPr>
                  <a:t>q</a:t>
                </a:r>
                <a:r>
                  <a:rPr lang="en-US" dirty="0">
                    <a:latin typeface="Calibri" panose="020F0502020204030204" pitchFamily="34" charset="0"/>
                    <a:ea typeface="Calibri" panose="020F0502020204030204" pitchFamily="34" charset="0"/>
                    <a:cs typeface="Calibri" panose="020F0502020204030204" pitchFamily="34" charset="0"/>
                  </a:rPr>
                  <a:t> = </a:t>
                </a:r>
                <a:r>
                  <a:rPr lang="en-US" dirty="0" err="1">
                    <a:latin typeface="Calibri" panose="020F0502020204030204" pitchFamily="34" charset="0"/>
                    <a:ea typeface="Calibri" panose="020F0502020204030204" pitchFamily="34" charset="0"/>
                    <a:cs typeface="Calibri" panose="020F0502020204030204" pitchFamily="34" charset="0"/>
                  </a:rPr>
                  <a:t>I</a:t>
                </a:r>
                <a:r>
                  <a:rPr lang="en-US" sz="1400" dirty="0" err="1">
                    <a:latin typeface="Calibri" panose="020F0502020204030204" pitchFamily="34" charset="0"/>
                    <a:ea typeface="Calibri" panose="020F0502020204030204" pitchFamily="34" charset="0"/>
                    <a:cs typeface="Calibri" panose="020F0502020204030204" pitchFamily="34" charset="0"/>
                  </a:rPr>
                  <a:t>q</a:t>
                </a:r>
                <a:r>
                  <a:rPr lang="en-US" dirty="0">
                    <a:latin typeface="Calibri" panose="020F0502020204030204" pitchFamily="34" charset="0"/>
                    <a:ea typeface="Calibri" panose="020F0502020204030204" pitchFamily="34" charset="0"/>
                    <a:cs typeface="Calibri" panose="020F0502020204030204" pitchFamily="34" charset="0"/>
                  </a:rPr>
                  <a:t> x V</a:t>
                </a:r>
                <a:r>
                  <a:rPr lang="en-US" sz="1400" dirty="0">
                    <a:latin typeface="Calibri" panose="020F0502020204030204" pitchFamily="34" charset="0"/>
                    <a:ea typeface="Calibri" panose="020F0502020204030204" pitchFamily="34" charset="0"/>
                    <a:cs typeface="Calibri" panose="020F0502020204030204" pitchFamily="34" charset="0"/>
                  </a:rPr>
                  <a:t>IN</a:t>
                </a:r>
              </a:p>
              <a:p>
                <a:pPr marL="285750" indent="-285750">
                  <a:buFontTx/>
                  <a:buChar char="-"/>
                </a:pPr>
                <a:r>
                  <a:rPr lang="en-US" b="1" dirty="0" err="1">
                    <a:latin typeface="Calibri" panose="020F0502020204030204" pitchFamily="34" charset="0"/>
                    <a:ea typeface="Calibri" panose="020F0502020204030204" pitchFamily="34" charset="0"/>
                    <a:cs typeface="Calibri" panose="020F0502020204030204" pitchFamily="34" charset="0"/>
                  </a:rPr>
                  <a:t>Tổn</a:t>
                </a:r>
                <a:r>
                  <a:rPr lang="en-US" b="1" dirty="0">
                    <a:latin typeface="Calibri" panose="020F0502020204030204" pitchFamily="34" charset="0"/>
                    <a:ea typeface="Calibri" panose="020F0502020204030204" pitchFamily="34" charset="0"/>
                    <a:cs typeface="Calibri" panose="020F0502020204030204" pitchFamily="34" charset="0"/>
                  </a:rPr>
                  <a:t> hao </a:t>
                </a:r>
                <a:r>
                  <a:rPr lang="en-US" b="1" dirty="0" err="1">
                    <a:latin typeface="Calibri" panose="020F0502020204030204" pitchFamily="34" charset="0"/>
                    <a:ea typeface="Calibri" panose="020F0502020204030204" pitchFamily="34" charset="0"/>
                    <a:cs typeface="Calibri" panose="020F0502020204030204" pitchFamily="34" charset="0"/>
                  </a:rPr>
                  <a:t>dẫn</a:t>
                </a:r>
                <a:r>
                  <a:rPr lang="en-US" b="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P</a:t>
                </a:r>
                <a:r>
                  <a:rPr lang="en-US" sz="1400" dirty="0">
                    <a:latin typeface="Calibri" panose="020F0502020204030204" pitchFamily="34" charset="0"/>
                    <a:ea typeface="Calibri" panose="020F0502020204030204" pitchFamily="34" charset="0"/>
                    <a:cs typeface="Calibri" panose="020F0502020204030204" pitchFamily="34" charset="0"/>
                  </a:rPr>
                  <a:t>cond</a:t>
                </a:r>
                <a:r>
                  <a:rPr lang="en-US"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p>
                      <m:sSupPr>
                        <m:ctrlPr>
                          <a:rPr lang="en-US" i="1" smtClean="0">
                            <a:latin typeface="Cambria Math" panose="02040503050406030204" pitchFamily="18" charset="0"/>
                            <a:ea typeface="Calibri" panose="020F0502020204030204" pitchFamily="34" charset="0"/>
                            <a:cs typeface="Calibri" panose="020F0502020204030204" pitchFamily="34" charset="0"/>
                          </a:rPr>
                        </m:ctrlPr>
                      </m:sSupPr>
                      <m:e>
                        <m:r>
                          <m:rPr>
                            <m:nor/>
                          </m:rPr>
                          <a:rPr lang="en-US" dirty="0">
                            <a:latin typeface="Calibri" panose="020F0502020204030204" pitchFamily="34" charset="0"/>
                            <a:ea typeface="Calibri" panose="020F0502020204030204" pitchFamily="34" charset="0"/>
                            <a:cs typeface="Calibri" panose="020F0502020204030204" pitchFamily="34" charset="0"/>
                          </a:rPr>
                          <m:t>Iout</m:t>
                        </m:r>
                      </m:e>
                      <m:sup>
                        <m:r>
                          <a:rPr lang="en-US" b="0" i="1" smtClean="0">
                            <a:latin typeface="Cambria Math" panose="02040503050406030204" pitchFamily="18" charset="0"/>
                            <a:ea typeface="Calibri" panose="020F0502020204030204" pitchFamily="34" charset="0"/>
                            <a:cs typeface="Calibri" panose="020F0502020204030204" pitchFamily="34" charset="0"/>
                          </a:rPr>
                          <m:t>2</m:t>
                        </m:r>
                      </m:sup>
                    </m:sSup>
                  </m:oMath>
                </a14:m>
                <a:r>
                  <a:rPr lang="en-US" dirty="0">
                    <a:latin typeface="Calibri" panose="020F0502020204030204" pitchFamily="34" charset="0"/>
                    <a:ea typeface="Calibri" panose="020F0502020204030204" pitchFamily="34" charset="0"/>
                    <a:cs typeface="Calibri" panose="020F0502020204030204" pitchFamily="34" charset="0"/>
                  </a:rPr>
                  <a:t> x R</a:t>
                </a:r>
                <a:r>
                  <a:rPr lang="en-US" sz="1400" dirty="0">
                    <a:latin typeface="Calibri" panose="020F0502020204030204" pitchFamily="34" charset="0"/>
                    <a:ea typeface="Calibri" panose="020F0502020204030204" pitchFamily="34" charset="0"/>
                    <a:cs typeface="Calibri" panose="020F0502020204030204" pitchFamily="34" charset="0"/>
                  </a:rPr>
                  <a:t>eq</a:t>
                </a:r>
              </a:p>
              <a:p>
                <a:r>
                  <a:rPr lang="en-US" dirty="0" err="1">
                    <a:latin typeface="Calibri" panose="020F0502020204030204" pitchFamily="34" charset="0"/>
                    <a:ea typeface="Calibri" panose="020F0502020204030204" pitchFamily="34" charset="0"/>
                    <a:cs typeface="Calibri" panose="020F0502020204030204" pitchFamily="34" charset="0"/>
                  </a:rPr>
                  <a:t>Với</a:t>
                </a:r>
                <a:r>
                  <a:rPr lang="en-US" dirty="0">
                    <a:latin typeface="Calibri" panose="020F0502020204030204" pitchFamily="34" charset="0"/>
                    <a:ea typeface="Calibri" panose="020F0502020204030204" pitchFamily="34" charset="0"/>
                    <a:cs typeface="Calibri" panose="020F0502020204030204" pitchFamily="34" charset="0"/>
                  </a:rPr>
                  <a:t> R</a:t>
                </a:r>
                <a:r>
                  <a:rPr lang="en-US" sz="1400" dirty="0">
                    <a:latin typeface="Calibri" panose="020F0502020204030204" pitchFamily="34" charset="0"/>
                    <a:ea typeface="Calibri" panose="020F0502020204030204" pitchFamily="34" charset="0"/>
                    <a:cs typeface="Calibri" panose="020F0502020204030204" pitchFamily="34" charset="0"/>
                  </a:rPr>
                  <a:t>eq</a:t>
                </a:r>
                <a:r>
                  <a:rPr lang="en-US" dirty="0">
                    <a:latin typeface="Calibri" panose="020F0502020204030204" pitchFamily="34" charset="0"/>
                    <a:ea typeface="Calibri" panose="020F0502020204030204" pitchFamily="34" charset="0"/>
                    <a:cs typeface="Calibri" panose="020F0502020204030204" pitchFamily="34" charset="0"/>
                  </a:rPr>
                  <a:t> = D x </a:t>
                </a:r>
                <a:r>
                  <a:rPr lang="en-US" dirty="0"/>
                  <a:t>R</a:t>
                </a:r>
                <a:r>
                  <a:rPr lang="en-US" sz="1400" dirty="0"/>
                  <a:t>DS(ON)1 </a:t>
                </a:r>
                <a:r>
                  <a:rPr lang="en-US" dirty="0"/>
                  <a:t>+ (1 - D) x R</a:t>
                </a:r>
                <a:r>
                  <a:rPr lang="en-US" sz="1400" dirty="0"/>
                  <a:t>DS(ON)2</a:t>
                </a:r>
              </a:p>
              <a:p>
                <a:pPr marL="285750" indent="-285750">
                  <a:buFontTx/>
                  <a:buChar char="-"/>
                </a:pPr>
                <a:r>
                  <a:rPr lang="en-US" b="1" dirty="0" err="1"/>
                  <a:t>Tổn</a:t>
                </a:r>
                <a:r>
                  <a:rPr lang="en-US" b="1" dirty="0"/>
                  <a:t> hao </a:t>
                </a:r>
                <a:r>
                  <a:rPr lang="en-US" b="1" dirty="0" err="1"/>
                  <a:t>chuyển</a:t>
                </a:r>
                <a:r>
                  <a:rPr lang="en-US" b="1" dirty="0"/>
                  <a:t> </a:t>
                </a:r>
                <a:r>
                  <a:rPr lang="en-US" b="1" dirty="0" err="1"/>
                  <a:t>mạch</a:t>
                </a:r>
                <a:r>
                  <a:rPr lang="en-US" b="1" dirty="0"/>
                  <a:t>:</a:t>
                </a:r>
              </a:p>
              <a:p>
                <a:r>
                  <a:rPr lang="en-US" dirty="0"/>
                  <a:t>P</a:t>
                </a:r>
                <a:r>
                  <a:rPr lang="en-US" sz="1400" dirty="0"/>
                  <a:t>SW</a:t>
                </a:r>
                <a:r>
                  <a:rPr lang="en-US" dirty="0"/>
                  <a:t> = 0.5 x V</a:t>
                </a:r>
                <a:r>
                  <a:rPr lang="en-US" sz="1400" dirty="0"/>
                  <a:t>IN</a:t>
                </a:r>
                <a:r>
                  <a:rPr lang="en-US" dirty="0"/>
                  <a:t> x I</a:t>
                </a:r>
                <a:r>
                  <a:rPr lang="en-US" sz="1400" dirty="0"/>
                  <a:t>OUT</a:t>
                </a:r>
                <a:r>
                  <a:rPr lang="en-US" dirty="0"/>
                  <a:t> x (</a:t>
                </a:r>
                <a:r>
                  <a:rPr lang="en-US" dirty="0" err="1"/>
                  <a:t>t</a:t>
                </a:r>
                <a:r>
                  <a:rPr lang="en-US" sz="1400" dirty="0" err="1"/>
                  <a:t>ON</a:t>
                </a:r>
                <a:r>
                  <a:rPr lang="en-US" dirty="0"/>
                  <a:t> + </a:t>
                </a:r>
                <a:r>
                  <a:rPr lang="en-US" dirty="0" err="1"/>
                  <a:t>t</a:t>
                </a:r>
                <a:r>
                  <a:rPr lang="en-US" sz="1400" dirty="0" err="1"/>
                  <a:t>OFF</a:t>
                </a:r>
                <a:r>
                  <a:rPr lang="en-US" dirty="0"/>
                  <a:t>) x F</a:t>
                </a:r>
                <a:r>
                  <a:rPr lang="en-US" sz="1400" dirty="0"/>
                  <a:t>SW</a:t>
                </a:r>
              </a:p>
              <a:p>
                <a:endParaRPr lang="vi-VN" b="1"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9" name="TextBox 8">
                <a:extLst>
                  <a:ext uri="{FF2B5EF4-FFF2-40B4-BE49-F238E27FC236}">
                    <a16:creationId xmlns:a16="http://schemas.microsoft.com/office/drawing/2014/main" id="{8CC7916E-833A-D3D3-E162-4C048049B4F9}"/>
                  </a:ext>
                </a:extLst>
              </p:cNvPr>
              <p:cNvSpPr txBox="1">
                <a:spLocks noRot="1" noChangeAspect="1" noMove="1" noResize="1" noEditPoints="1" noAdjustHandles="1" noChangeArrowheads="1" noChangeShapeType="1" noTextEdit="1"/>
              </p:cNvSpPr>
              <p:nvPr/>
            </p:nvSpPr>
            <p:spPr>
              <a:xfrm>
                <a:off x="4716661" y="4110984"/>
                <a:ext cx="4409978" cy="1754326"/>
              </a:xfrm>
              <a:prstGeom prst="rect">
                <a:avLst/>
              </a:prstGeom>
              <a:blipFill>
                <a:blip r:embed="rId6"/>
                <a:stretch>
                  <a:fillRect l="-1245" t="-1736"/>
                </a:stretch>
              </a:blipFill>
            </p:spPr>
            <p:txBody>
              <a:bodyPr/>
              <a:lstStyle/>
              <a:p>
                <a:r>
                  <a:rPr lang="en-US">
                    <a:noFill/>
                  </a:rPr>
                  <a:t> </a:t>
                </a:r>
              </a:p>
            </p:txBody>
          </p:sp>
        </mc:Fallback>
      </mc:AlternateContent>
    </p:spTree>
    <p:extLst>
      <p:ext uri="{BB962C8B-B14F-4D97-AF65-F5344CB8AC3E}">
        <p14:creationId xmlns:p14="http://schemas.microsoft.com/office/powerpoint/2010/main" val="135365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C763B-2101-FE27-9A88-06F289A1627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4EC348-5F0B-2C7F-4A78-5FC01E9601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C8070824-DA2B-7AA4-883D-805337AA98C9}"/>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Lựa</a:t>
            </a:r>
            <a:r>
              <a:rPr lang="en-US" sz="3200" b="1" dirty="0">
                <a:solidFill>
                  <a:schemeClr val="bg1"/>
                </a:solidFill>
                <a:latin typeface="+mj-lt"/>
              </a:rPr>
              <a:t> </a:t>
            </a:r>
            <a:r>
              <a:rPr lang="en-US" sz="3200" b="1" dirty="0" err="1">
                <a:solidFill>
                  <a:schemeClr val="bg1"/>
                </a:solidFill>
                <a:latin typeface="+mj-lt"/>
              </a:rPr>
              <a:t>chọn</a:t>
            </a:r>
            <a:r>
              <a:rPr lang="en-US" sz="3200" b="1" dirty="0">
                <a:solidFill>
                  <a:schemeClr val="bg1"/>
                </a:solidFill>
                <a:latin typeface="+mj-lt"/>
              </a:rPr>
              <a:t> </a:t>
            </a:r>
            <a:r>
              <a:rPr lang="en-US" sz="3200" b="1" dirty="0" err="1">
                <a:solidFill>
                  <a:schemeClr val="bg1"/>
                </a:solidFill>
                <a:latin typeface="+mj-lt"/>
              </a:rPr>
              <a:t>linh</a:t>
            </a:r>
            <a:r>
              <a:rPr lang="en-US" sz="3200" b="1" dirty="0">
                <a:solidFill>
                  <a:schemeClr val="bg1"/>
                </a:solidFill>
                <a:latin typeface="+mj-lt"/>
              </a:rPr>
              <a:t> </a:t>
            </a:r>
            <a:r>
              <a:rPr lang="en-US" sz="3200" b="1" dirty="0" err="1">
                <a:solidFill>
                  <a:schemeClr val="bg1"/>
                </a:solidFill>
                <a:latin typeface="+mj-lt"/>
              </a:rPr>
              <a:t>kiện</a:t>
            </a:r>
            <a:endParaRPr lang="en-US" sz="3200" b="1" dirty="0">
              <a:solidFill>
                <a:schemeClr val="bg1"/>
              </a:solidFill>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C26BE24-F2AE-A0C6-7F4A-47438283C48F}"/>
                  </a:ext>
                </a:extLst>
              </p:cNvPr>
              <p:cNvSpPr txBox="1"/>
              <p:nvPr/>
            </p:nvSpPr>
            <p:spPr>
              <a:xfrm>
                <a:off x="457200" y="1219200"/>
                <a:ext cx="8229600" cy="4412618"/>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b="1" dirty="0">
                    <a:latin typeface="+mj-lt"/>
                  </a:rPr>
                  <a:t>Cuộn </a:t>
                </a:r>
                <a:r>
                  <a:rPr lang="en-US" b="1" dirty="0" err="1">
                    <a:latin typeface="+mj-lt"/>
                  </a:rPr>
                  <a:t>cảm</a:t>
                </a:r>
                <a:r>
                  <a:rPr lang="en-US" b="1" dirty="0">
                    <a:latin typeface="+mj-lt"/>
                  </a:rPr>
                  <a:t> </a:t>
                </a:r>
                <a:r>
                  <a:rPr lang="en-US" b="1" dirty="0" err="1">
                    <a:latin typeface="+mj-lt"/>
                  </a:rPr>
                  <a:t>đầu</a:t>
                </a:r>
                <a:r>
                  <a:rPr lang="en-US" b="1" dirty="0">
                    <a:latin typeface="+mj-lt"/>
                  </a:rPr>
                  <a:t> </a:t>
                </a:r>
                <a:r>
                  <a:rPr lang="en-US" b="1" dirty="0" err="1">
                    <a:latin typeface="+mj-lt"/>
                  </a:rPr>
                  <a:t>ra</a:t>
                </a:r>
                <a:r>
                  <a:rPr lang="en-US" b="1" dirty="0">
                    <a:latin typeface="+mj-lt"/>
                  </a:rPr>
                  <a:t>: L</a:t>
                </a:r>
                <a:r>
                  <a:rPr lang="en-US" b="1" dirty="0">
                    <a:latin typeface="Calibri" panose="020F0502020204030204" pitchFamily="34" charset="0"/>
                    <a:ea typeface="Calibri" panose="020F0502020204030204" pitchFamily="34" charset="0"/>
                    <a:cs typeface="Calibri" panose="020F0502020204030204" pitchFamily="34" charset="0"/>
                  </a:rPr>
                  <a:t> = 4.7</a:t>
                </a:r>
                <a:r>
                  <a:rPr lang="en-US" b="1" dirty="0"/>
                  <a:t>µH</a:t>
                </a:r>
                <a:endParaRPr lang="en-US"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b="1" dirty="0">
                    <a:latin typeface="+mj-lt"/>
                  </a:rPr>
                  <a:t>- </a:t>
                </a:r>
                <a:r>
                  <a:rPr lang="en-US" b="1" dirty="0" err="1">
                    <a:latin typeface="+mj-lt"/>
                  </a:rPr>
                  <a:t>Khuyến</a:t>
                </a:r>
                <a:r>
                  <a:rPr lang="en-US" b="1" dirty="0">
                    <a:latin typeface="+mj-lt"/>
                  </a:rPr>
                  <a:t> </a:t>
                </a:r>
                <a:r>
                  <a:rPr lang="en-US" b="1" dirty="0" err="1">
                    <a:latin typeface="+mj-lt"/>
                  </a:rPr>
                  <a:t>nghị</a:t>
                </a:r>
                <a:r>
                  <a:rPr lang="en-US" b="1" dirty="0">
                    <a:latin typeface="+mj-lt"/>
                  </a:rPr>
                  <a:t>: </a:t>
                </a:r>
                <a:r>
                  <a:rPr lang="en-US" b="1" dirty="0" err="1">
                    <a:latin typeface="+mj-lt"/>
                  </a:rPr>
                  <a:t>Độ</a:t>
                </a:r>
                <a:r>
                  <a:rPr lang="en-US" b="1" dirty="0">
                    <a:latin typeface="+mj-lt"/>
                  </a:rPr>
                  <a:t> </a:t>
                </a:r>
                <a:r>
                  <a:rPr lang="en-US" b="1" dirty="0" err="1">
                    <a:latin typeface="+mj-lt"/>
                  </a:rPr>
                  <a:t>gợn</a:t>
                </a:r>
                <a:r>
                  <a:rPr lang="en-US" b="1" dirty="0">
                    <a:latin typeface="+mj-lt"/>
                  </a:rPr>
                  <a:t> </a:t>
                </a:r>
                <a:r>
                  <a:rPr lang="en-US" b="1" dirty="0" err="1">
                    <a:latin typeface="+mj-lt"/>
                  </a:rPr>
                  <a:t>dòng</a:t>
                </a:r>
                <a:r>
                  <a:rPr lang="en-US" b="1" dirty="0">
                    <a:latin typeface="+mj-lt"/>
                  </a:rPr>
                  <a:t> </a:t>
                </a:r>
                <a:r>
                  <a:rPr lang="en-US" b="1" dirty="0"/>
                  <a:t>(ripple current)</a:t>
                </a:r>
                <a:r>
                  <a:rPr lang="en-US" b="1" dirty="0">
                    <a:latin typeface="+mj-lt"/>
                  </a:rPr>
                  <a:t> </a:t>
                </a:r>
                <a:r>
                  <a:rPr lang="el-GR" b="1" dirty="0">
                    <a:latin typeface="+mj-lt"/>
                  </a:rPr>
                  <a:t>Δ</a:t>
                </a:r>
                <a:r>
                  <a:rPr lang="en-US" b="1" dirty="0">
                    <a:latin typeface="+mj-lt"/>
                  </a:rPr>
                  <a:t>IL ≈ 30%−40% I</a:t>
                </a:r>
                <a:r>
                  <a:rPr lang="en-US" sz="1400" b="1" dirty="0">
                    <a:latin typeface="+mj-lt"/>
                  </a:rPr>
                  <a:t>OUT(MAX).</a:t>
                </a:r>
              </a:p>
              <a:p>
                <a:pPr algn="ctr">
                  <a:lnSpc>
                    <a:spcPct val="150000"/>
                  </a:lnSpc>
                </a:pPr>
                <a:r>
                  <a:rPr lang="en-US" sz="2000" b="1" dirty="0">
                    <a:latin typeface="+mj-lt"/>
                  </a:rPr>
                  <a:t>Công </a:t>
                </a:r>
                <a:r>
                  <a:rPr lang="en-US" sz="2000" b="1" dirty="0" err="1">
                    <a:latin typeface="+mj-lt"/>
                  </a:rPr>
                  <a:t>thức</a:t>
                </a:r>
                <a:r>
                  <a:rPr lang="en-US" sz="2000" b="1" dirty="0">
                    <a:latin typeface="+mj-lt"/>
                  </a:rPr>
                  <a:t>: </a:t>
                </a:r>
                <a:r>
                  <a:rPr lang="el-GR" sz="2000" b="1" dirty="0"/>
                  <a:t>Δ</a:t>
                </a:r>
                <a:r>
                  <a:rPr lang="en-US" sz="2000" b="1" dirty="0"/>
                  <a:t>IL</a:t>
                </a:r>
                <a:r>
                  <a:rPr lang="en-US" sz="2000" b="1" dirty="0">
                    <a:latin typeface="+mj-lt"/>
                  </a:rPr>
                  <a:t> = </a:t>
                </a:r>
                <a14:m>
                  <m:oMath xmlns:m="http://schemas.openxmlformats.org/officeDocument/2006/math">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0">
                                <a:latin typeface="Cambria Math" panose="02040503050406030204" pitchFamily="18" charset="0"/>
                              </a:rPr>
                              <m:t>𝐕</m:t>
                            </m:r>
                          </m:e>
                          <m:sub>
                            <m:r>
                              <a:rPr lang="en-US" sz="2000" b="1" i="0">
                                <a:latin typeface="Cambria Math" panose="02040503050406030204" pitchFamily="18" charset="0"/>
                              </a:rPr>
                              <m:t>𝐎𝐔𝐓</m:t>
                            </m:r>
                          </m:sub>
                        </m:sSub>
                        <m:r>
                          <a:rPr lang="en-US" sz="2000" b="1" i="0" smtClean="0">
                            <a:latin typeface="Cambria Math" panose="02040503050406030204" pitchFamily="18" charset="0"/>
                          </a:rPr>
                          <m:t> (</m:t>
                        </m:r>
                        <m:r>
                          <a:rPr lang="en-US" sz="2000" b="1" i="0" smtClean="0">
                            <a:latin typeface="Cambria Math" panose="02040503050406030204" pitchFamily="18" charset="0"/>
                          </a:rPr>
                          <m:t>𝟏</m:t>
                        </m:r>
                        <m:r>
                          <a:rPr lang="en-US" sz="2000" b="1" i="0" smtClean="0">
                            <a:latin typeface="Cambria Math" panose="02040503050406030204" pitchFamily="18" charset="0"/>
                          </a:rPr>
                          <m:t> −</m:t>
                        </m:r>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0">
                                    <a:latin typeface="Cambria Math" panose="02040503050406030204" pitchFamily="18" charset="0"/>
                                  </a:rPr>
                                  <m:t>𝐕</m:t>
                                </m:r>
                              </m:e>
                              <m:sub>
                                <m:r>
                                  <a:rPr lang="en-US" sz="2000" b="1" i="0">
                                    <a:latin typeface="Cambria Math" panose="02040503050406030204" pitchFamily="18" charset="0"/>
                                  </a:rPr>
                                  <m:t>𝐎𝐔𝐓</m:t>
                                </m:r>
                              </m:sub>
                            </m:sSub>
                          </m:num>
                          <m:den>
                            <m:sSub>
                              <m:sSubPr>
                                <m:ctrlPr>
                                  <a:rPr lang="en-US" sz="2000" b="1" i="1">
                                    <a:latin typeface="Cambria Math" panose="02040503050406030204" pitchFamily="18" charset="0"/>
                                  </a:rPr>
                                </m:ctrlPr>
                              </m:sSubPr>
                              <m:e>
                                <m:r>
                                  <a:rPr lang="en-US" sz="2000" b="1" i="0">
                                    <a:latin typeface="Cambria Math" panose="02040503050406030204" pitchFamily="18" charset="0"/>
                                  </a:rPr>
                                  <m:t>𝐕</m:t>
                                </m:r>
                              </m:e>
                              <m:sub>
                                <m:r>
                                  <a:rPr lang="en-US" sz="2000" b="1" i="0" smtClean="0">
                                    <a:latin typeface="Cambria Math" panose="02040503050406030204" pitchFamily="18" charset="0"/>
                                  </a:rPr>
                                  <m:t>𝐈𝐍</m:t>
                                </m:r>
                              </m:sub>
                            </m:sSub>
                          </m:den>
                        </m:f>
                        <m:r>
                          <a:rPr lang="en-US" sz="2000" b="1" i="0" smtClean="0">
                            <a:latin typeface="Cambria Math" panose="02040503050406030204" pitchFamily="18" charset="0"/>
                          </a:rPr>
                          <m:t>)</m:t>
                        </m:r>
                      </m:num>
                      <m:den>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𝐅</m:t>
                            </m:r>
                          </m:e>
                          <m:sub>
                            <m:r>
                              <a:rPr lang="en-US" sz="2000" b="1" i="0" smtClean="0">
                                <a:latin typeface="Cambria Math" panose="02040503050406030204" pitchFamily="18" charset="0"/>
                              </a:rPr>
                              <m:t>𝐒𝐖</m:t>
                            </m:r>
                            <m:r>
                              <a:rPr lang="en-US" sz="2000" b="1" i="0" smtClean="0">
                                <a:latin typeface="Cambria Math" panose="02040503050406030204" pitchFamily="18" charset="0"/>
                              </a:rPr>
                              <m:t> </m:t>
                            </m:r>
                          </m:sub>
                        </m:sSub>
                        <m:r>
                          <m:rPr>
                            <m:nor/>
                          </m:rPr>
                          <a:rPr lang="en-US" sz="2000" b="1" smtClean="0">
                            <a:latin typeface="+mj-lt"/>
                          </a:rPr>
                          <m:t>×</m:t>
                        </m:r>
                        <m:r>
                          <m:rPr>
                            <m:nor/>
                          </m:rPr>
                          <a:rPr lang="en-US" sz="2000" b="1" i="0" smtClean="0">
                            <a:latin typeface="+mj-lt"/>
                          </a:rPr>
                          <m:t> </m:t>
                        </m:r>
                        <m:r>
                          <a:rPr lang="en-US" sz="2000" b="1" i="0" smtClean="0">
                            <a:latin typeface="Cambria Math" panose="02040503050406030204" pitchFamily="18" charset="0"/>
                          </a:rPr>
                          <m:t>𝐋</m:t>
                        </m:r>
                      </m:den>
                    </m:f>
                  </m:oMath>
                </a14:m>
                <a:endParaRPr lang="en-US" b="1" dirty="0">
                  <a:latin typeface="+mj-lt"/>
                </a:endParaRPr>
              </a:p>
              <a:p>
                <a:pPr>
                  <a:lnSpc>
                    <a:spcPct val="150000"/>
                  </a:lnSpc>
                </a:pPr>
                <a:r>
                  <a:rPr lang="en-US" dirty="0">
                    <a:latin typeface="+mj-lt"/>
                  </a:rPr>
                  <a:t>Với </a:t>
                </a:r>
                <a14:m>
                  <m:oMath xmlns:m="http://schemas.openxmlformats.org/officeDocument/2006/math">
                    <m:sSub>
                      <m:sSubPr>
                        <m:ctrlPr>
                          <a:rPr lang="en-US" i="1">
                            <a:latin typeface="Cambria Math" panose="02040503050406030204" pitchFamily="18" charset="0"/>
                          </a:rPr>
                        </m:ctrlPr>
                      </m:sSubPr>
                      <m:e>
                        <m:r>
                          <m:rPr>
                            <m:sty m:val="p"/>
                          </m:rPr>
                          <a:rPr lang="en-US" b="0" i="1">
                            <a:latin typeface="Cambria Math" panose="02040503050406030204" pitchFamily="18" charset="0"/>
                          </a:rPr>
                          <m:t>V</m:t>
                        </m:r>
                      </m:e>
                      <m:sub>
                        <m:r>
                          <m:rPr>
                            <m:sty m:val="p"/>
                          </m:rPr>
                          <a:rPr lang="en-US" b="0" i="1">
                            <a:latin typeface="Cambria Math" panose="02040503050406030204" pitchFamily="18" charset="0"/>
                          </a:rPr>
                          <m:t>OUT</m:t>
                        </m:r>
                      </m:sub>
                    </m:sSub>
                  </m:oMath>
                </a14:m>
                <a:r>
                  <a:rPr lang="en-US" dirty="0">
                    <a:latin typeface="+mj-lt"/>
                  </a:rPr>
                  <a:t> = 3.3V, </a:t>
                </a:r>
                <a14:m>
                  <m:oMath xmlns:m="http://schemas.openxmlformats.org/officeDocument/2006/math">
                    <m:sSub>
                      <m:sSubPr>
                        <m:ctrlPr>
                          <a:rPr lang="en-US" i="1">
                            <a:latin typeface="Cambria Math" panose="02040503050406030204" pitchFamily="18" charset="0"/>
                          </a:rPr>
                        </m:ctrlPr>
                      </m:sSubPr>
                      <m:e>
                        <m:r>
                          <m:rPr>
                            <m:sty m:val="p"/>
                          </m:rPr>
                          <a:rPr lang="en-US" b="0" i="1">
                            <a:latin typeface="Cambria Math" panose="02040503050406030204" pitchFamily="18" charset="0"/>
                          </a:rPr>
                          <m:t>V</m:t>
                        </m:r>
                      </m:e>
                      <m:sub>
                        <m:r>
                          <m:rPr>
                            <m:sty m:val="p"/>
                          </m:rPr>
                          <a:rPr lang="en-US" b="0" i="1">
                            <a:latin typeface="Cambria Math" panose="02040503050406030204" pitchFamily="18" charset="0"/>
                          </a:rPr>
                          <m:t>IN</m:t>
                        </m:r>
                      </m:sub>
                    </m:sSub>
                  </m:oMath>
                </a14:m>
                <a:r>
                  <a:rPr lang="en-US" dirty="0">
                    <a:latin typeface="+mj-lt"/>
                  </a:rPr>
                  <a:t> = 12V, </a:t>
                </a:r>
                <a14:m>
                  <m:oMath xmlns:m="http://schemas.openxmlformats.org/officeDocument/2006/math">
                    <m:sSub>
                      <m:sSubPr>
                        <m:ctrlPr>
                          <a:rPr lang="en-US" i="1">
                            <a:latin typeface="Cambria Math" panose="02040503050406030204" pitchFamily="18" charset="0"/>
                          </a:rPr>
                        </m:ctrlPr>
                      </m:sSubPr>
                      <m:e>
                        <m:r>
                          <m:rPr>
                            <m:sty m:val="p"/>
                          </m:rPr>
                          <a:rPr lang="en-US" b="0" i="1">
                            <a:latin typeface="Cambria Math" panose="02040503050406030204" pitchFamily="18" charset="0"/>
                          </a:rPr>
                          <m:t>F</m:t>
                        </m:r>
                      </m:e>
                      <m:sub>
                        <m:r>
                          <m:rPr>
                            <m:sty m:val="p"/>
                          </m:rPr>
                          <a:rPr lang="en-US" b="0" i="1">
                            <a:latin typeface="Cambria Math" panose="02040503050406030204" pitchFamily="18" charset="0"/>
                          </a:rPr>
                          <m:t>SW</m:t>
                        </m:r>
                        <m:r>
                          <a:rPr lang="en-US" b="0">
                            <a:latin typeface="Cambria Math" panose="02040503050406030204" pitchFamily="18" charset="0"/>
                          </a:rPr>
                          <m:t> </m:t>
                        </m:r>
                      </m:sub>
                    </m:sSub>
                  </m:oMath>
                </a14:m>
                <a:r>
                  <a:rPr lang="en-US" dirty="0">
                    <a:latin typeface="+mj-lt"/>
                  </a:rPr>
                  <a:t> = 500kHz, </a:t>
                </a:r>
                <a:r>
                  <a:rPr lang="en-US" dirty="0"/>
                  <a:t>L</a:t>
                </a:r>
                <a:r>
                  <a:rPr lang="en-US" dirty="0">
                    <a:latin typeface="Calibri" panose="020F0502020204030204" pitchFamily="34" charset="0"/>
                    <a:ea typeface="Calibri" panose="020F0502020204030204" pitchFamily="34" charset="0"/>
                    <a:cs typeface="Calibri" panose="020F0502020204030204" pitchFamily="34" charset="0"/>
                  </a:rPr>
                  <a:t> = 4.7</a:t>
                </a:r>
                <a:r>
                  <a:rPr lang="en-US" dirty="0"/>
                  <a:t>µH</a:t>
                </a:r>
                <a:endParaRPr lang="en-US" dirty="0">
                  <a:latin typeface="+mj-lt"/>
                </a:endParaRPr>
              </a:p>
              <a:p>
                <a:pPr marL="285750" indent="-285750">
                  <a:lnSpc>
                    <a:spcPct val="150000"/>
                  </a:lnSpc>
                  <a:buFont typeface="Symbol" panose="05050102010706020507" pitchFamily="18" charset="2"/>
                  <a:buChar char="Þ"/>
                </a:pPr>
                <a:r>
                  <a:rPr lang="el-GR" b="1" dirty="0"/>
                  <a:t>Δ</a:t>
                </a:r>
                <a:r>
                  <a:rPr lang="en-US" b="1" dirty="0"/>
                  <a:t>IL ≈ 1.02 (A) ≈ 51% </a:t>
                </a:r>
                <a14:m>
                  <m:oMath xmlns:m="http://schemas.openxmlformats.org/officeDocument/2006/math">
                    <m:sSub>
                      <m:sSubPr>
                        <m:ctrlPr>
                          <a:rPr lang="en-US" b="1" i="1">
                            <a:latin typeface="Cambria Math" panose="02040503050406030204" pitchFamily="18" charset="0"/>
                          </a:rPr>
                        </m:ctrlPr>
                      </m:sSubPr>
                      <m:e>
                        <m:r>
                          <a:rPr lang="en-US" b="1" i="0" smtClean="0">
                            <a:latin typeface="Cambria Math" panose="02040503050406030204" pitchFamily="18" charset="0"/>
                          </a:rPr>
                          <m:t>𝐈</m:t>
                        </m:r>
                      </m:e>
                      <m:sub>
                        <m:r>
                          <a:rPr lang="en-US" b="1" i="0" smtClean="0">
                            <a:latin typeface="Cambria Math" panose="02040503050406030204" pitchFamily="18" charset="0"/>
                          </a:rPr>
                          <m:t>𝐎</m:t>
                        </m:r>
                        <m:r>
                          <a:rPr lang="en-US" b="1" i="0">
                            <a:latin typeface="Cambria Math" panose="02040503050406030204" pitchFamily="18" charset="0"/>
                          </a:rPr>
                          <m:t>𝐔𝐓</m:t>
                        </m:r>
                        <m:r>
                          <a:rPr lang="en-US" b="1" i="0" smtClean="0">
                            <a:latin typeface="Cambria Math" panose="02040503050406030204" pitchFamily="18" charset="0"/>
                          </a:rPr>
                          <m:t>(</m:t>
                        </m:r>
                        <m:r>
                          <a:rPr lang="en-US" b="1" i="0" smtClean="0">
                            <a:latin typeface="Cambria Math" panose="02040503050406030204" pitchFamily="18" charset="0"/>
                          </a:rPr>
                          <m:t>𝐌𝐀𝐗</m:t>
                        </m:r>
                        <m:r>
                          <a:rPr lang="en-US" b="1" i="0" smtClean="0">
                            <a:latin typeface="Cambria Math" panose="02040503050406030204" pitchFamily="18" charset="0"/>
                          </a:rPr>
                          <m:t>)</m:t>
                        </m:r>
                      </m:sub>
                    </m:sSub>
                  </m:oMath>
                </a14:m>
                <a:endParaRPr lang="en-US" b="1" dirty="0">
                  <a:latin typeface="+mj-lt"/>
                </a:endParaRPr>
              </a:p>
              <a:p>
                <a:pPr>
                  <a:lnSpc>
                    <a:spcPct val="150000"/>
                  </a:lnSpc>
                </a:pPr>
                <a:r>
                  <a:rPr lang="en-US" dirty="0">
                    <a:latin typeface="+mj-lt"/>
                  </a:rPr>
                  <a:t>- </a:t>
                </a:r>
                <a:r>
                  <a:rPr lang="en-US" dirty="0" err="1">
                    <a:latin typeface="+mj-lt"/>
                  </a:rPr>
                  <a:t>Mặc</a:t>
                </a:r>
                <a:r>
                  <a:rPr lang="en-US" dirty="0">
                    <a:latin typeface="+mj-lt"/>
                  </a:rPr>
                  <a:t> </a:t>
                </a:r>
                <a:r>
                  <a:rPr lang="en-US" dirty="0" err="1">
                    <a:latin typeface="+mj-lt"/>
                  </a:rPr>
                  <a:t>dù</a:t>
                </a:r>
                <a:r>
                  <a:rPr lang="en-US" dirty="0">
                    <a:latin typeface="+mj-lt"/>
                  </a:rPr>
                  <a:t> </a:t>
                </a:r>
                <a:r>
                  <a:rPr lang="en-US" dirty="0" err="1">
                    <a:latin typeface="+mj-lt"/>
                  </a:rPr>
                  <a:t>độ</a:t>
                </a:r>
                <a:r>
                  <a:rPr lang="en-US" dirty="0">
                    <a:latin typeface="+mj-lt"/>
                  </a:rPr>
                  <a:t> </a:t>
                </a:r>
                <a:r>
                  <a:rPr lang="en-US" dirty="0" err="1">
                    <a:latin typeface="+mj-lt"/>
                  </a:rPr>
                  <a:t>gợn</a:t>
                </a:r>
                <a:r>
                  <a:rPr lang="en-US" dirty="0">
                    <a:latin typeface="+mj-lt"/>
                  </a:rPr>
                  <a:t> </a:t>
                </a:r>
                <a:r>
                  <a:rPr lang="en-US" dirty="0" err="1">
                    <a:latin typeface="+mj-lt"/>
                  </a:rPr>
                  <a:t>dòng</a:t>
                </a:r>
                <a:r>
                  <a:rPr lang="en-US" dirty="0">
                    <a:latin typeface="+mj-lt"/>
                  </a:rPr>
                  <a:t> </a:t>
                </a:r>
                <a:r>
                  <a:rPr lang="en-US" dirty="0" err="1">
                    <a:latin typeface="+mj-lt"/>
                  </a:rPr>
                  <a:t>lớn</a:t>
                </a:r>
                <a:r>
                  <a:rPr lang="en-US" dirty="0">
                    <a:latin typeface="+mj-lt"/>
                  </a:rPr>
                  <a:t> </a:t>
                </a:r>
                <a:r>
                  <a:rPr lang="en-US" dirty="0" err="1">
                    <a:latin typeface="+mj-lt"/>
                  </a:rPr>
                  <a:t>hơn</a:t>
                </a:r>
                <a:r>
                  <a:rPr lang="en-US" dirty="0">
                    <a:latin typeface="+mj-lt"/>
                  </a:rPr>
                  <a:t> </a:t>
                </a:r>
                <a:r>
                  <a:rPr lang="en-US" dirty="0" err="1">
                    <a:latin typeface="+mj-lt"/>
                  </a:rPr>
                  <a:t>mức</a:t>
                </a:r>
                <a:r>
                  <a:rPr lang="en-US" dirty="0">
                    <a:latin typeface="+mj-lt"/>
                  </a:rPr>
                  <a:t> </a:t>
                </a:r>
                <a:r>
                  <a:rPr lang="en-US" dirty="0" err="1">
                    <a:latin typeface="+mj-lt"/>
                  </a:rPr>
                  <a:t>khuyến</a:t>
                </a:r>
                <a:r>
                  <a:rPr lang="en-US" dirty="0">
                    <a:latin typeface="+mj-lt"/>
                  </a:rPr>
                  <a:t> </a:t>
                </a:r>
                <a:r>
                  <a:rPr lang="en-US" dirty="0" err="1">
                    <a:latin typeface="+mj-lt"/>
                  </a:rPr>
                  <a:t>nghị</a:t>
                </a:r>
                <a:r>
                  <a:rPr lang="en-US" dirty="0">
                    <a:latin typeface="+mj-lt"/>
                  </a:rPr>
                  <a:t> </a:t>
                </a:r>
                <a:r>
                  <a:rPr lang="en-US" dirty="0" err="1">
                    <a:latin typeface="+mj-lt"/>
                  </a:rPr>
                  <a:t>nhưng</a:t>
                </a:r>
                <a:r>
                  <a:rPr lang="en-US" dirty="0">
                    <a:latin typeface="+mj-lt"/>
                  </a:rPr>
                  <a:t> </a:t>
                </a:r>
                <a:r>
                  <a:rPr lang="en-US" dirty="0" err="1">
                    <a:latin typeface="+mj-lt"/>
                  </a:rPr>
                  <a:t>vẫn</a:t>
                </a:r>
                <a:r>
                  <a:rPr lang="en-US" dirty="0">
                    <a:latin typeface="+mj-lt"/>
                  </a:rPr>
                  <a:t> </a:t>
                </a:r>
                <a:r>
                  <a:rPr lang="en-US" dirty="0" err="1">
                    <a:latin typeface="+mj-lt"/>
                  </a:rPr>
                  <a:t>trong</a:t>
                </a:r>
                <a:r>
                  <a:rPr lang="en-US" dirty="0">
                    <a:latin typeface="+mj-lt"/>
                  </a:rPr>
                  <a:t> </a:t>
                </a:r>
                <a:r>
                  <a:rPr lang="en-US" dirty="0" err="1">
                    <a:latin typeface="+mj-lt"/>
                  </a:rPr>
                  <a:t>khả</a:t>
                </a:r>
                <a:r>
                  <a:rPr lang="en-US" dirty="0">
                    <a:latin typeface="+mj-lt"/>
                  </a:rPr>
                  <a:t> </a:t>
                </a:r>
                <a:r>
                  <a:rPr lang="en-US" dirty="0" err="1">
                    <a:latin typeface="+mj-lt"/>
                  </a:rPr>
                  <a:t>năng</a:t>
                </a:r>
                <a:r>
                  <a:rPr lang="en-US" dirty="0">
                    <a:latin typeface="+mj-lt"/>
                  </a:rPr>
                  <a:t> IC </a:t>
                </a:r>
                <a:r>
                  <a:rPr lang="en-US" dirty="0"/>
                  <a:t>SY8120B1</a:t>
                </a:r>
                <a:r>
                  <a:rPr lang="en-US" dirty="0">
                    <a:latin typeface="+mj-lt"/>
                  </a:rPr>
                  <a:t> </a:t>
                </a:r>
                <a:r>
                  <a:rPr lang="en-US" dirty="0" err="1">
                    <a:latin typeface="+mj-lt"/>
                  </a:rPr>
                  <a:t>chịu</a:t>
                </a:r>
                <a:r>
                  <a:rPr lang="en-US" dirty="0">
                    <a:latin typeface="+mj-lt"/>
                  </a:rPr>
                  <a:t> </a:t>
                </a:r>
                <a:r>
                  <a:rPr lang="en-US" dirty="0" err="1">
                    <a:latin typeface="+mj-lt"/>
                  </a:rPr>
                  <a:t>được</a:t>
                </a:r>
                <a:r>
                  <a:rPr lang="en-US" dirty="0">
                    <a:latin typeface="+mj-lt"/>
                  </a:rPr>
                  <a:t> </a:t>
                </a:r>
                <a:r>
                  <a:rPr lang="en-US" dirty="0" err="1">
                    <a:latin typeface="+mj-lt"/>
                  </a:rPr>
                  <a:t>và</a:t>
                </a:r>
                <a:r>
                  <a:rPr lang="en-US" dirty="0">
                    <a:latin typeface="+mj-lt"/>
                  </a:rPr>
                  <a:t> </a:t>
                </a:r>
                <a:r>
                  <a:rPr lang="en-US" dirty="0" err="1">
                    <a:latin typeface="+mj-lt"/>
                  </a:rPr>
                  <a:t>cũng</a:t>
                </a:r>
                <a:r>
                  <a:rPr lang="en-US" dirty="0">
                    <a:latin typeface="+mj-lt"/>
                  </a:rPr>
                  <a:t> </a:t>
                </a:r>
                <a:r>
                  <a:rPr lang="en-US" dirty="0" err="1">
                    <a:latin typeface="+mj-lt"/>
                  </a:rPr>
                  <a:t>có</a:t>
                </a:r>
                <a:r>
                  <a:rPr lang="en-US" dirty="0">
                    <a:latin typeface="+mj-lt"/>
                  </a:rPr>
                  <a:t> </a:t>
                </a:r>
                <a:r>
                  <a:rPr lang="en-US" dirty="0" err="1">
                    <a:latin typeface="+mj-lt"/>
                  </a:rPr>
                  <a:t>điểm</a:t>
                </a:r>
                <a:r>
                  <a:rPr lang="en-US" dirty="0">
                    <a:latin typeface="+mj-lt"/>
                  </a:rPr>
                  <a:t> </a:t>
                </a:r>
                <a:r>
                  <a:rPr lang="en-US" dirty="0" err="1">
                    <a:latin typeface="+mj-lt"/>
                  </a:rPr>
                  <a:t>lợi</a:t>
                </a:r>
                <a:r>
                  <a:rPr lang="en-US" dirty="0">
                    <a:latin typeface="+mj-lt"/>
                  </a:rPr>
                  <a:t> </a:t>
                </a:r>
                <a:r>
                  <a:rPr lang="en-US" dirty="0" err="1">
                    <a:latin typeface="+mj-lt"/>
                  </a:rPr>
                  <a:t>là</a:t>
                </a:r>
                <a:r>
                  <a:rPr lang="en-US" dirty="0">
                    <a:latin typeface="+mj-lt"/>
                  </a:rPr>
                  <a:t> </a:t>
                </a:r>
                <a:r>
                  <a:rPr lang="vi-VN" dirty="0">
                    <a:latin typeface="Calibri (Headings)"/>
                  </a:rPr>
                  <a:t>dòng qua cuộn cảm thay đổi nhanh hơn trong mỗi chu kỳ chuyển mạch</a:t>
                </a:r>
                <a:r>
                  <a:rPr lang="en-US" dirty="0">
                    <a:latin typeface="Calibri (Headings)"/>
                  </a:rPr>
                  <a:t> </a:t>
                </a:r>
                <a:r>
                  <a:rPr lang="en-US" dirty="0" err="1">
                    <a:latin typeface="Calibri (Headings)"/>
                  </a:rPr>
                  <a:t>và</a:t>
                </a:r>
                <a:r>
                  <a:rPr lang="en-US" dirty="0">
                    <a:latin typeface="Calibri (Headings)"/>
                  </a:rPr>
                  <a:t> </a:t>
                </a:r>
                <a:r>
                  <a:rPr lang="vi-VN" dirty="0">
                    <a:latin typeface="Calibri (Headings)"/>
                  </a:rPr>
                  <a:t>kích thước, chi phí, và độ trễ dòng giảm</a:t>
                </a:r>
                <a:r>
                  <a:rPr lang="en-US" dirty="0">
                    <a:latin typeface="Calibri (Headings)"/>
                  </a:rPr>
                  <a:t>.</a:t>
                </a:r>
              </a:p>
              <a:p>
                <a:pPr marL="285750" indent="-285750">
                  <a:lnSpc>
                    <a:spcPct val="150000"/>
                  </a:lnSpc>
                  <a:buFont typeface="Symbol" panose="05050102010706020507" pitchFamily="18" charset="2"/>
                  <a:buChar char="Þ"/>
                </a:pPr>
                <a:r>
                  <a:rPr lang="en-US" b="1" dirty="0" err="1">
                    <a:latin typeface="Calibri (Headings)"/>
                  </a:rPr>
                  <a:t>Chấp</a:t>
                </a:r>
                <a:r>
                  <a:rPr lang="en-US" b="1" dirty="0">
                    <a:latin typeface="Calibri (Headings)"/>
                  </a:rPr>
                  <a:t> </a:t>
                </a:r>
                <a:r>
                  <a:rPr lang="en-US" b="1" dirty="0" err="1">
                    <a:latin typeface="Calibri (Headings)"/>
                  </a:rPr>
                  <a:t>nhận</a:t>
                </a:r>
                <a:r>
                  <a:rPr lang="en-US" b="1" dirty="0">
                    <a:latin typeface="Calibri (Headings)"/>
                  </a:rPr>
                  <a:t> </a:t>
                </a:r>
                <a:r>
                  <a:rPr lang="en-US" b="1" dirty="0"/>
                  <a:t>L</a:t>
                </a:r>
                <a:r>
                  <a:rPr lang="en-US" b="1" dirty="0">
                    <a:latin typeface="Calibri" panose="020F0502020204030204" pitchFamily="34" charset="0"/>
                    <a:ea typeface="Calibri" panose="020F0502020204030204" pitchFamily="34" charset="0"/>
                    <a:cs typeface="Calibri" panose="020F0502020204030204" pitchFamily="34" charset="0"/>
                  </a:rPr>
                  <a:t> = 4.7</a:t>
                </a:r>
                <a:r>
                  <a:rPr lang="en-US" b="1" dirty="0"/>
                  <a:t>µH</a:t>
                </a:r>
              </a:p>
            </p:txBody>
          </p:sp>
        </mc:Choice>
        <mc:Fallback xmlns="">
          <p:sp>
            <p:nvSpPr>
              <p:cNvPr id="4" name="TextBox 3">
                <a:extLst>
                  <a:ext uri="{FF2B5EF4-FFF2-40B4-BE49-F238E27FC236}">
                    <a16:creationId xmlns:a16="http://schemas.microsoft.com/office/drawing/2014/main" id="{CC26BE24-F2AE-A0C6-7F4A-47438283C48F}"/>
                  </a:ext>
                </a:extLst>
              </p:cNvPr>
              <p:cNvSpPr txBox="1">
                <a:spLocks noRot="1" noChangeAspect="1" noMove="1" noResize="1" noEditPoints="1" noAdjustHandles="1" noChangeArrowheads="1" noChangeShapeType="1" noTextEdit="1"/>
              </p:cNvSpPr>
              <p:nvPr/>
            </p:nvSpPr>
            <p:spPr>
              <a:xfrm>
                <a:off x="457200" y="1219200"/>
                <a:ext cx="8229600" cy="4412618"/>
              </a:xfrm>
              <a:prstGeom prst="rect">
                <a:avLst/>
              </a:prstGeom>
              <a:blipFill>
                <a:blip r:embed="rId4"/>
                <a:stretch>
                  <a:fillRect l="-593" b="-1243"/>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67652A85-B8F1-8326-8D05-0B306A7762BF}"/>
              </a:ext>
            </a:extLst>
          </p:cNvPr>
          <p:cNvSpPr/>
          <p:nvPr/>
        </p:nvSpPr>
        <p:spPr>
          <a:xfrm>
            <a:off x="2819400" y="2286000"/>
            <a:ext cx="3581400" cy="838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3662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4F321-1B67-D1B6-914D-F06AA16B8EE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9658E26-C3AA-A086-1768-7BF1F79D25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BB3D9B61-AAE3-7554-541C-5692D7091AB9}"/>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Lựa</a:t>
            </a:r>
            <a:r>
              <a:rPr lang="en-US" sz="3200" b="1" dirty="0">
                <a:solidFill>
                  <a:schemeClr val="bg1"/>
                </a:solidFill>
                <a:latin typeface="+mj-lt"/>
              </a:rPr>
              <a:t> </a:t>
            </a:r>
            <a:r>
              <a:rPr lang="en-US" sz="3200" b="1" dirty="0" err="1">
                <a:solidFill>
                  <a:schemeClr val="bg1"/>
                </a:solidFill>
                <a:latin typeface="+mj-lt"/>
              </a:rPr>
              <a:t>chọn</a:t>
            </a:r>
            <a:r>
              <a:rPr lang="en-US" sz="3200" b="1" dirty="0">
                <a:solidFill>
                  <a:schemeClr val="bg1"/>
                </a:solidFill>
                <a:latin typeface="+mj-lt"/>
              </a:rPr>
              <a:t> </a:t>
            </a:r>
            <a:r>
              <a:rPr lang="en-US" sz="3200" b="1" dirty="0" err="1">
                <a:solidFill>
                  <a:schemeClr val="bg1"/>
                </a:solidFill>
                <a:latin typeface="+mj-lt"/>
              </a:rPr>
              <a:t>linh</a:t>
            </a:r>
            <a:r>
              <a:rPr lang="en-US" sz="3200" b="1" dirty="0">
                <a:solidFill>
                  <a:schemeClr val="bg1"/>
                </a:solidFill>
                <a:latin typeface="+mj-lt"/>
              </a:rPr>
              <a:t> </a:t>
            </a:r>
            <a:r>
              <a:rPr lang="en-US" sz="3200" b="1" dirty="0" err="1">
                <a:solidFill>
                  <a:schemeClr val="bg1"/>
                </a:solidFill>
                <a:latin typeface="+mj-lt"/>
              </a:rPr>
              <a:t>kiện</a:t>
            </a:r>
            <a:endParaRPr lang="en-US" sz="3200" b="1" dirty="0">
              <a:solidFill>
                <a:schemeClr val="bg1"/>
              </a:solidFill>
              <a:latin typeface="+mj-lt"/>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3C69FDE-EBDF-7BA9-7653-4129DBA2DBC2}"/>
                  </a:ext>
                </a:extLst>
              </p:cNvPr>
              <p:cNvSpPr txBox="1"/>
              <p:nvPr/>
            </p:nvSpPr>
            <p:spPr>
              <a:xfrm>
                <a:off x="457200" y="1219200"/>
                <a:ext cx="8229600" cy="420435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b="1" dirty="0"/>
                  <a:t>Tụ </a:t>
                </a:r>
                <a:r>
                  <a:rPr lang="en-US" b="1" dirty="0" err="1"/>
                  <a:t>đầu</a:t>
                </a:r>
                <a:r>
                  <a:rPr lang="en-US" b="1" dirty="0"/>
                  <a:t> </a:t>
                </a:r>
                <a:r>
                  <a:rPr lang="en-US" b="1" dirty="0" err="1"/>
                  <a:t>vào</a:t>
                </a:r>
                <a:r>
                  <a:rPr lang="en-US" b="1" dirty="0"/>
                  <a:t>: </a:t>
                </a:r>
                <a14:m>
                  <m:oMath xmlns:m="http://schemas.openxmlformats.org/officeDocument/2006/math">
                    <m:sSub>
                      <m:sSubPr>
                        <m:ctrlPr>
                          <a:rPr lang="en-US" b="1" i="1">
                            <a:latin typeface="Cambria Math" panose="02040503050406030204" pitchFamily="18" charset="0"/>
                          </a:rPr>
                        </m:ctrlPr>
                      </m:sSubPr>
                      <m:e>
                        <m:r>
                          <a:rPr lang="en-US" b="1" i="0" smtClean="0">
                            <a:latin typeface="Cambria Math" panose="02040503050406030204" pitchFamily="18" charset="0"/>
                          </a:rPr>
                          <m:t>𝐂</m:t>
                        </m:r>
                      </m:e>
                      <m:sub>
                        <m:r>
                          <a:rPr lang="en-US" b="1" i="0" smtClean="0">
                            <a:latin typeface="Cambria Math" panose="02040503050406030204" pitchFamily="18" charset="0"/>
                          </a:rPr>
                          <m:t>𝐈𝐍</m:t>
                        </m:r>
                      </m:sub>
                    </m:sSub>
                  </m:oMath>
                </a14:m>
                <a:r>
                  <a:rPr lang="en-US" b="1" dirty="0"/>
                  <a:t> = </a:t>
                </a:r>
                <a:r>
                  <a:rPr lang="el-GR" b="1" dirty="0"/>
                  <a:t>4.7μ</a:t>
                </a:r>
                <a:r>
                  <a:rPr lang="en-US" b="1" dirty="0"/>
                  <a:t>F</a:t>
                </a:r>
              </a:p>
              <a:p>
                <a:pPr marL="285750" indent="-285750">
                  <a:lnSpc>
                    <a:spcPct val="150000"/>
                  </a:lnSpc>
                  <a:buFontTx/>
                  <a:buChar char="-"/>
                </a:pPr>
                <a:r>
                  <a:rPr lang="en-US" dirty="0" err="1"/>
                  <a:t>Lọc</a:t>
                </a:r>
                <a:r>
                  <a:rPr lang="en-US" dirty="0"/>
                  <a:t> </a:t>
                </a:r>
                <a:r>
                  <a:rPr lang="en-US" dirty="0" err="1"/>
                  <a:t>nhiễu</a:t>
                </a:r>
                <a:r>
                  <a:rPr lang="en-US" dirty="0"/>
                  <a:t> </a:t>
                </a:r>
                <a:r>
                  <a:rPr lang="en-US" dirty="0" err="1"/>
                  <a:t>và</a:t>
                </a:r>
                <a:r>
                  <a:rPr lang="en-US" dirty="0"/>
                  <a:t> </a:t>
                </a:r>
                <a:r>
                  <a:rPr lang="en-US" dirty="0" err="1"/>
                  <a:t>giảm</a:t>
                </a:r>
                <a:r>
                  <a:rPr lang="en-US" dirty="0"/>
                  <a:t> </a:t>
                </a:r>
                <a:r>
                  <a:rPr lang="en-US" dirty="0" err="1"/>
                  <a:t>gợn</a:t>
                </a:r>
                <a:r>
                  <a:rPr lang="en-US" dirty="0"/>
                  <a:t> </a:t>
                </a:r>
                <a:r>
                  <a:rPr lang="en-US" dirty="0" err="1"/>
                  <a:t>sóng</a:t>
                </a:r>
                <a:r>
                  <a:rPr lang="en-US" dirty="0"/>
                  <a:t> </a:t>
                </a:r>
                <a:r>
                  <a:rPr lang="en-US" dirty="0" err="1"/>
                  <a:t>đầu</a:t>
                </a:r>
                <a:r>
                  <a:rPr lang="en-US" dirty="0"/>
                  <a:t> </a:t>
                </a:r>
                <a:r>
                  <a:rPr lang="en-US" dirty="0" err="1"/>
                  <a:t>vào</a:t>
                </a:r>
                <a:r>
                  <a:rPr lang="en-US" dirty="0"/>
                  <a:t>.</a:t>
                </a:r>
              </a:p>
              <a:p>
                <a:pPr marL="285750" indent="-285750">
                  <a:lnSpc>
                    <a:spcPct val="150000"/>
                  </a:lnSpc>
                  <a:buFontTx/>
                  <a:buChar char="-"/>
                </a:pPr>
                <a:r>
                  <a:rPr lang="en-US" dirty="0" err="1"/>
                  <a:t>Đảm</a:t>
                </a:r>
                <a:r>
                  <a:rPr lang="en-US" dirty="0"/>
                  <a:t> </a:t>
                </a:r>
                <a:r>
                  <a:rPr lang="en-US" dirty="0" err="1"/>
                  <a:t>bảo</a:t>
                </a:r>
                <a:r>
                  <a:rPr lang="en-US" dirty="0"/>
                  <a:t> </a:t>
                </a:r>
                <a:r>
                  <a:rPr lang="en-US" dirty="0" err="1"/>
                  <a:t>tụ</a:t>
                </a:r>
                <a:r>
                  <a:rPr lang="en-US" dirty="0"/>
                  <a:t> </a:t>
                </a:r>
                <a:r>
                  <a:rPr lang="en-US" dirty="0" err="1"/>
                  <a:t>đủ</a:t>
                </a:r>
                <a:r>
                  <a:rPr lang="en-US" dirty="0"/>
                  <a:t> </a:t>
                </a:r>
                <a:r>
                  <a:rPr lang="en-US" dirty="0" err="1"/>
                  <a:t>lớn</a:t>
                </a:r>
                <a:r>
                  <a:rPr lang="en-US" dirty="0"/>
                  <a:t> (≥ 22µF) </a:t>
                </a:r>
                <a:r>
                  <a:rPr lang="en-US" dirty="0" err="1"/>
                  <a:t>để</a:t>
                </a:r>
                <a:r>
                  <a:rPr lang="en-US" dirty="0"/>
                  <a:t> </a:t>
                </a:r>
                <a:r>
                  <a:rPr lang="en-US" dirty="0" err="1"/>
                  <a:t>hạn</a:t>
                </a:r>
                <a:r>
                  <a:rPr lang="en-US" dirty="0"/>
                  <a:t> </a:t>
                </a:r>
                <a:r>
                  <a:rPr lang="en-US" dirty="0" err="1"/>
                  <a:t>chế</a:t>
                </a:r>
                <a:r>
                  <a:rPr lang="en-US" dirty="0"/>
                  <a:t> </a:t>
                </a:r>
                <a:r>
                  <a:rPr lang="en-US" dirty="0" err="1"/>
                  <a:t>gợn</a:t>
                </a:r>
                <a:r>
                  <a:rPr lang="en-US" dirty="0"/>
                  <a:t> </a:t>
                </a:r>
                <a:r>
                  <a:rPr lang="en-US" dirty="0" err="1"/>
                  <a:t>áp</a:t>
                </a:r>
                <a:r>
                  <a:rPr lang="en-US" dirty="0"/>
                  <a:t> </a:t>
                </a:r>
                <a:r>
                  <a:rPr lang="en-US" dirty="0" err="1"/>
                  <a:t>đầu</a:t>
                </a:r>
                <a:r>
                  <a:rPr lang="en-US" dirty="0"/>
                  <a:t> </a:t>
                </a:r>
                <a:r>
                  <a:rPr lang="en-US" dirty="0" err="1"/>
                  <a:t>vào</a:t>
                </a:r>
                <a:r>
                  <a:rPr lang="en-US" dirty="0"/>
                  <a:t>.</a:t>
                </a:r>
              </a:p>
              <a:p>
                <a:pPr>
                  <a:lnSpc>
                    <a:spcPct val="150000"/>
                  </a:lnSpc>
                </a:pPr>
                <a:endParaRPr lang="en-US" dirty="0"/>
              </a:p>
              <a:p>
                <a:pPr marL="285750" indent="-285750">
                  <a:lnSpc>
                    <a:spcPct val="150000"/>
                  </a:lnSpc>
                  <a:buFont typeface="Wingdings" panose="05000000000000000000" pitchFamily="2" charset="2"/>
                  <a:buChar char="q"/>
                </a:pPr>
                <a:r>
                  <a:rPr lang="en-US" b="1" dirty="0" err="1"/>
                  <a:t>Tụ</a:t>
                </a:r>
                <a:r>
                  <a:rPr lang="en-US" b="1" dirty="0"/>
                  <a:t> </a:t>
                </a:r>
                <a:r>
                  <a:rPr lang="en-US" b="1" dirty="0" err="1"/>
                  <a:t>đầu</a:t>
                </a:r>
                <a:r>
                  <a:rPr lang="en-US" b="1" dirty="0"/>
                  <a:t> </a:t>
                </a:r>
                <a:r>
                  <a:rPr lang="en-US" b="1" dirty="0" err="1"/>
                  <a:t>ra</a:t>
                </a:r>
                <a:r>
                  <a:rPr lang="en-US" b="1" dirty="0"/>
                  <a:t>: </a:t>
                </a:r>
                <a14:m>
                  <m:oMath xmlns:m="http://schemas.openxmlformats.org/officeDocument/2006/math">
                    <m:sSub>
                      <m:sSubPr>
                        <m:ctrlPr>
                          <a:rPr lang="en-US" b="1" i="1">
                            <a:latin typeface="Cambria Math" panose="02040503050406030204" pitchFamily="18" charset="0"/>
                          </a:rPr>
                        </m:ctrlPr>
                      </m:sSubPr>
                      <m:e>
                        <m:r>
                          <a:rPr lang="en-US" b="1" i="0">
                            <a:latin typeface="Cambria Math" panose="02040503050406030204" pitchFamily="18" charset="0"/>
                          </a:rPr>
                          <m:t>𝐂</m:t>
                        </m:r>
                      </m:e>
                      <m:sub>
                        <m:r>
                          <a:rPr lang="en-US" b="1" i="0" smtClean="0">
                            <a:latin typeface="Cambria Math" panose="02040503050406030204" pitchFamily="18" charset="0"/>
                          </a:rPr>
                          <m:t>𝐎𝐔𝐓</m:t>
                        </m:r>
                      </m:sub>
                    </m:sSub>
                  </m:oMath>
                </a14:m>
                <a:r>
                  <a:rPr lang="en-US" b="1" dirty="0"/>
                  <a:t> = </a:t>
                </a:r>
                <a:r>
                  <a:rPr lang="el-GR" b="1" dirty="0"/>
                  <a:t>4.7μ</a:t>
                </a:r>
                <a:r>
                  <a:rPr lang="en-US" b="1" dirty="0"/>
                  <a:t>F</a:t>
                </a:r>
              </a:p>
              <a:p>
                <a:pPr marL="285750" indent="-285750">
                  <a:lnSpc>
                    <a:spcPct val="150000"/>
                  </a:lnSpc>
                  <a:buFontTx/>
                  <a:buChar char="-"/>
                </a:pPr>
                <a:r>
                  <a:rPr lang="en-US" dirty="0" err="1"/>
                  <a:t>Lọc</a:t>
                </a:r>
                <a:r>
                  <a:rPr lang="en-US" dirty="0"/>
                  <a:t> </a:t>
                </a:r>
                <a:r>
                  <a:rPr lang="en-US" dirty="0" err="1"/>
                  <a:t>nhiễu</a:t>
                </a:r>
                <a:r>
                  <a:rPr lang="en-US" dirty="0"/>
                  <a:t> ripple </a:t>
                </a:r>
                <a:r>
                  <a:rPr lang="en-US" dirty="0" err="1"/>
                  <a:t>còn</a:t>
                </a:r>
                <a:r>
                  <a:rPr lang="en-US" dirty="0"/>
                  <a:t> </a:t>
                </a:r>
                <a:r>
                  <a:rPr lang="en-US" dirty="0" err="1"/>
                  <a:t>lại</a:t>
                </a:r>
                <a:r>
                  <a:rPr lang="en-US" dirty="0"/>
                  <a:t>, </a:t>
                </a:r>
                <a:r>
                  <a:rPr lang="en-US" dirty="0" err="1"/>
                  <a:t>giữ</a:t>
                </a:r>
                <a:r>
                  <a:rPr lang="en-US" dirty="0"/>
                  <a:t> </a:t>
                </a:r>
                <a:r>
                  <a:rPr lang="en-US" dirty="0" err="1"/>
                  <a:t>ổn</a:t>
                </a:r>
                <a:r>
                  <a:rPr lang="en-US" dirty="0"/>
                  <a:t> </a:t>
                </a:r>
                <a:r>
                  <a:rPr lang="en-US" dirty="0" err="1"/>
                  <a:t>định</a:t>
                </a:r>
                <a:r>
                  <a:rPr lang="en-US" dirty="0"/>
                  <a:t> </a:t>
                </a:r>
                <a:r>
                  <a:rPr lang="en-US" dirty="0" err="1"/>
                  <a:t>điện</a:t>
                </a:r>
                <a:r>
                  <a:rPr lang="en-US" dirty="0"/>
                  <a:t> </a:t>
                </a:r>
                <a:r>
                  <a:rPr lang="en-US" dirty="0" err="1"/>
                  <a:t>áp</a:t>
                </a:r>
                <a:r>
                  <a:rPr lang="en-US" dirty="0"/>
                  <a:t> </a:t>
                </a:r>
                <a:r>
                  <a:rPr lang="en-US" dirty="0" err="1"/>
                  <a:t>Vout</a:t>
                </a:r>
                <a:r>
                  <a:rPr lang="en-US" dirty="0"/>
                  <a:t> </a:t>
                </a:r>
                <a:r>
                  <a:rPr lang="en-US" dirty="0" err="1"/>
                  <a:t>khi</a:t>
                </a:r>
                <a:r>
                  <a:rPr lang="en-US" dirty="0"/>
                  <a:t> </a:t>
                </a:r>
                <a:r>
                  <a:rPr lang="en-US" dirty="0" err="1"/>
                  <a:t>dòng</a:t>
                </a:r>
                <a:r>
                  <a:rPr lang="en-US" dirty="0"/>
                  <a:t> </a:t>
                </a:r>
                <a:r>
                  <a:rPr lang="en-US" dirty="0" err="1"/>
                  <a:t>tải</a:t>
                </a:r>
                <a:r>
                  <a:rPr lang="en-US" dirty="0"/>
                  <a:t> </a:t>
                </a:r>
                <a:r>
                  <a:rPr lang="en-US" dirty="0" err="1"/>
                  <a:t>thay</a:t>
                </a:r>
                <a:r>
                  <a:rPr lang="en-US" dirty="0"/>
                  <a:t> </a:t>
                </a:r>
                <a:r>
                  <a:rPr lang="en-US" dirty="0" err="1"/>
                  <a:t>đổi</a:t>
                </a:r>
                <a:r>
                  <a:rPr lang="en-US" dirty="0"/>
                  <a:t>.</a:t>
                </a:r>
              </a:p>
              <a:p>
                <a:pPr marL="285750" indent="-285750">
                  <a:lnSpc>
                    <a:spcPct val="150000"/>
                  </a:lnSpc>
                  <a:buFontTx/>
                  <a:buChar char="-"/>
                </a:pPr>
                <a:r>
                  <a:rPr lang="en-US" dirty="0" err="1"/>
                  <a:t>Đảm</a:t>
                </a:r>
                <a:r>
                  <a:rPr lang="en-US" dirty="0"/>
                  <a:t> </a:t>
                </a:r>
                <a:r>
                  <a:rPr lang="en-US" dirty="0" err="1"/>
                  <a:t>bảo</a:t>
                </a:r>
                <a:r>
                  <a:rPr lang="en-US" dirty="0"/>
                  <a:t> </a:t>
                </a:r>
                <a:r>
                  <a:rPr lang="en-US" dirty="0" err="1"/>
                  <a:t>tụ</a:t>
                </a:r>
                <a:r>
                  <a:rPr lang="en-US" dirty="0"/>
                  <a:t> </a:t>
                </a:r>
                <a:r>
                  <a:rPr lang="en-US" dirty="0" err="1"/>
                  <a:t>đủ</a:t>
                </a:r>
                <a:r>
                  <a:rPr lang="en-US" dirty="0"/>
                  <a:t> </a:t>
                </a:r>
                <a:r>
                  <a:rPr lang="en-US" dirty="0" err="1"/>
                  <a:t>lớn</a:t>
                </a:r>
                <a:r>
                  <a:rPr lang="en-US" dirty="0"/>
                  <a:t> (≥ 22µF)</a:t>
                </a:r>
              </a:p>
              <a:p>
                <a:pPr>
                  <a:lnSpc>
                    <a:spcPct val="150000"/>
                  </a:lnSpc>
                </a:pPr>
                <a:endParaRPr lang="en-US" dirty="0"/>
              </a:p>
              <a:p>
                <a:pPr marL="285750" indent="-285750">
                  <a:lnSpc>
                    <a:spcPct val="150000"/>
                  </a:lnSpc>
                  <a:buFont typeface="Wingdings" panose="05000000000000000000" pitchFamily="2" charset="2"/>
                  <a:buChar char="q"/>
                </a:pPr>
                <a:r>
                  <a:rPr lang="en-US" b="1" dirty="0" err="1"/>
                  <a:t>Tụ</a:t>
                </a:r>
                <a:r>
                  <a:rPr lang="en-US" b="1" dirty="0"/>
                  <a:t> Boot-Strap: C</a:t>
                </a:r>
                <a:r>
                  <a:rPr lang="en-US" sz="1400" b="1" dirty="0"/>
                  <a:t>1</a:t>
                </a:r>
                <a:r>
                  <a:rPr lang="en-US" b="1" dirty="0"/>
                  <a:t> = 100nF</a:t>
                </a:r>
              </a:p>
              <a:p>
                <a:pPr marL="285750" indent="-285750">
                  <a:lnSpc>
                    <a:spcPct val="150000"/>
                  </a:lnSpc>
                  <a:buFontTx/>
                  <a:buChar char="-"/>
                </a:pPr>
                <a:r>
                  <a:rPr lang="en-US" dirty="0"/>
                  <a:t>Cung </a:t>
                </a:r>
                <a:r>
                  <a:rPr lang="en-US" dirty="0" err="1"/>
                  <a:t>cấp</a:t>
                </a:r>
                <a:r>
                  <a:rPr lang="en-US" dirty="0"/>
                  <a:t> </a:t>
                </a:r>
                <a:r>
                  <a:rPr lang="en-US" dirty="0" err="1"/>
                  <a:t>điện</a:t>
                </a:r>
                <a:r>
                  <a:rPr lang="en-US" dirty="0"/>
                  <a:t> </a:t>
                </a:r>
                <a:r>
                  <a:rPr lang="en-US" dirty="0" err="1"/>
                  <a:t>áp</a:t>
                </a:r>
                <a:r>
                  <a:rPr lang="en-US" dirty="0"/>
                  <a:t> </a:t>
                </a:r>
                <a:r>
                  <a:rPr lang="en-US" dirty="0" err="1"/>
                  <a:t>điều</a:t>
                </a:r>
                <a:r>
                  <a:rPr lang="en-US" dirty="0"/>
                  <a:t> </a:t>
                </a:r>
                <a:r>
                  <a:rPr lang="en-US" dirty="0" err="1"/>
                  <a:t>khiển</a:t>
                </a:r>
                <a:r>
                  <a:rPr lang="en-US" dirty="0"/>
                  <a:t> </a:t>
                </a:r>
                <a:r>
                  <a:rPr lang="en-US" dirty="0" err="1"/>
                  <a:t>cổng</a:t>
                </a:r>
                <a:r>
                  <a:rPr lang="en-US" dirty="0"/>
                  <a:t> </a:t>
                </a:r>
                <a:r>
                  <a:rPr lang="en-US" dirty="0" err="1"/>
                  <a:t>cho</a:t>
                </a:r>
                <a:r>
                  <a:rPr lang="en-US" dirty="0"/>
                  <a:t> MOSFET high-side </a:t>
                </a:r>
                <a:r>
                  <a:rPr lang="en-US" dirty="0" err="1"/>
                  <a:t>bên</a:t>
                </a:r>
                <a:r>
                  <a:rPr lang="en-US" dirty="0"/>
                  <a:t> </a:t>
                </a:r>
                <a:r>
                  <a:rPr lang="en-US" dirty="0" err="1"/>
                  <a:t>trong</a:t>
                </a:r>
                <a:r>
                  <a:rPr lang="en-US" dirty="0"/>
                  <a:t> IC.</a:t>
                </a:r>
              </a:p>
            </p:txBody>
          </p:sp>
        </mc:Choice>
        <mc:Fallback>
          <p:sp>
            <p:nvSpPr>
              <p:cNvPr id="4" name="TextBox 3">
                <a:extLst>
                  <a:ext uri="{FF2B5EF4-FFF2-40B4-BE49-F238E27FC236}">
                    <a16:creationId xmlns:a16="http://schemas.microsoft.com/office/drawing/2014/main" id="{B3C69FDE-EBDF-7BA9-7653-4129DBA2DBC2}"/>
                  </a:ext>
                </a:extLst>
              </p:cNvPr>
              <p:cNvSpPr txBox="1">
                <a:spLocks noRot="1" noChangeAspect="1" noMove="1" noResize="1" noEditPoints="1" noAdjustHandles="1" noChangeArrowheads="1" noChangeShapeType="1" noTextEdit="1"/>
              </p:cNvSpPr>
              <p:nvPr/>
            </p:nvSpPr>
            <p:spPr>
              <a:xfrm>
                <a:off x="457200" y="1219200"/>
                <a:ext cx="8229600" cy="4204356"/>
              </a:xfrm>
              <a:prstGeom prst="rect">
                <a:avLst/>
              </a:prstGeom>
              <a:blipFill>
                <a:blip r:embed="rId4"/>
                <a:stretch>
                  <a:fillRect l="-593" b="-1304"/>
                </a:stretch>
              </a:blipFill>
            </p:spPr>
            <p:txBody>
              <a:bodyPr/>
              <a:lstStyle/>
              <a:p>
                <a:r>
                  <a:rPr lang="en-US">
                    <a:noFill/>
                  </a:rPr>
                  <a:t> </a:t>
                </a:r>
              </a:p>
            </p:txBody>
          </p:sp>
        </mc:Fallback>
      </mc:AlternateContent>
    </p:spTree>
    <p:extLst>
      <p:ext uri="{BB962C8B-B14F-4D97-AF65-F5344CB8AC3E}">
        <p14:creationId xmlns:p14="http://schemas.microsoft.com/office/powerpoint/2010/main" val="15687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31D3-C060-9A63-65F4-A942FF6BEB3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3D64241-13BD-CE56-0CDA-71EC4CA99B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232505F3-234C-1CAA-7781-E50855BB7087}"/>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Lựa</a:t>
            </a:r>
            <a:r>
              <a:rPr lang="en-US" sz="3200" b="1" dirty="0">
                <a:solidFill>
                  <a:schemeClr val="bg1"/>
                </a:solidFill>
                <a:latin typeface="+mj-lt"/>
              </a:rPr>
              <a:t> </a:t>
            </a:r>
            <a:r>
              <a:rPr lang="en-US" sz="3200" b="1" dirty="0" err="1">
                <a:solidFill>
                  <a:schemeClr val="bg1"/>
                </a:solidFill>
                <a:latin typeface="+mj-lt"/>
              </a:rPr>
              <a:t>chọn</a:t>
            </a:r>
            <a:r>
              <a:rPr lang="en-US" sz="3200" b="1" dirty="0">
                <a:solidFill>
                  <a:schemeClr val="bg1"/>
                </a:solidFill>
                <a:latin typeface="+mj-lt"/>
              </a:rPr>
              <a:t> </a:t>
            </a:r>
            <a:r>
              <a:rPr lang="en-US" sz="3200" b="1" dirty="0" err="1">
                <a:solidFill>
                  <a:schemeClr val="bg1"/>
                </a:solidFill>
                <a:latin typeface="+mj-lt"/>
              </a:rPr>
              <a:t>linh</a:t>
            </a:r>
            <a:r>
              <a:rPr lang="en-US" sz="3200" b="1" dirty="0">
                <a:solidFill>
                  <a:schemeClr val="bg1"/>
                </a:solidFill>
                <a:latin typeface="+mj-lt"/>
              </a:rPr>
              <a:t> </a:t>
            </a:r>
            <a:r>
              <a:rPr lang="en-US" sz="3200" b="1" dirty="0" err="1">
                <a:solidFill>
                  <a:schemeClr val="bg1"/>
                </a:solidFill>
                <a:latin typeface="+mj-lt"/>
              </a:rPr>
              <a:t>kiện</a:t>
            </a:r>
            <a:endParaRPr lang="en-US" sz="3200" b="1" dirty="0">
              <a:solidFill>
                <a:schemeClr val="bg1"/>
              </a:solidFill>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09D8E5-3CB7-67BD-45E2-88C187840F5B}"/>
                  </a:ext>
                </a:extLst>
              </p:cNvPr>
              <p:cNvSpPr txBox="1"/>
              <p:nvPr/>
            </p:nvSpPr>
            <p:spPr>
              <a:xfrm>
                <a:off x="457200" y="1219200"/>
                <a:ext cx="8229600" cy="5268494"/>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b="1" dirty="0"/>
                  <a:t>Tụ </a:t>
                </a:r>
                <a:r>
                  <a:rPr lang="en-US" b="1" dirty="0" err="1"/>
                  <a:t>bù</a:t>
                </a:r>
                <a:r>
                  <a:rPr lang="en-US" b="1" dirty="0"/>
                  <a:t>: C</a:t>
                </a:r>
                <a:r>
                  <a:rPr lang="en-US" sz="1400" b="1" dirty="0"/>
                  <a:t>4</a:t>
                </a:r>
                <a:r>
                  <a:rPr lang="en-US" b="1" dirty="0"/>
                  <a:t> = 22pF</a:t>
                </a:r>
              </a:p>
              <a:p>
                <a:pPr marL="285750" indent="-285750">
                  <a:lnSpc>
                    <a:spcPct val="150000"/>
                  </a:lnSpc>
                  <a:buFontTx/>
                  <a:buChar char="-"/>
                </a:pPr>
                <a:r>
                  <a:rPr lang="en-US" dirty="0" err="1"/>
                  <a:t>Ổn</a:t>
                </a:r>
                <a:r>
                  <a:rPr lang="en-US" dirty="0"/>
                  <a:t> </a:t>
                </a:r>
                <a:r>
                  <a:rPr lang="en-US" dirty="0" err="1"/>
                  <a:t>định</a:t>
                </a:r>
                <a:r>
                  <a:rPr lang="en-US" dirty="0"/>
                  <a:t> </a:t>
                </a:r>
                <a:r>
                  <a:rPr lang="en-US" dirty="0" err="1"/>
                  <a:t>vòng</a:t>
                </a:r>
                <a:r>
                  <a:rPr lang="en-US" dirty="0"/>
                  <a:t> </a:t>
                </a:r>
                <a:r>
                  <a:rPr lang="en-US" dirty="0" err="1"/>
                  <a:t>phản</a:t>
                </a:r>
                <a:r>
                  <a:rPr lang="en-US" dirty="0"/>
                  <a:t> </a:t>
                </a:r>
                <a:r>
                  <a:rPr lang="en-US" dirty="0" err="1"/>
                  <a:t>hồi</a:t>
                </a:r>
                <a:r>
                  <a:rPr lang="en-US" dirty="0"/>
                  <a:t>, </a:t>
                </a:r>
                <a:r>
                  <a:rPr lang="en-US" dirty="0" err="1"/>
                  <a:t>tăng</a:t>
                </a:r>
                <a:r>
                  <a:rPr lang="en-US" dirty="0"/>
                  <a:t> </a:t>
                </a:r>
                <a:r>
                  <a:rPr lang="en-US" dirty="0" err="1"/>
                  <a:t>tốc</a:t>
                </a:r>
                <a:r>
                  <a:rPr lang="en-US" dirty="0"/>
                  <a:t> </a:t>
                </a:r>
                <a:r>
                  <a:rPr lang="en-US" dirty="0" err="1"/>
                  <a:t>độ</a:t>
                </a:r>
                <a:r>
                  <a:rPr lang="en-US" dirty="0"/>
                  <a:t> </a:t>
                </a:r>
                <a:r>
                  <a:rPr lang="en-US" dirty="0" err="1"/>
                  <a:t>đáp</a:t>
                </a:r>
                <a:r>
                  <a:rPr lang="en-US" dirty="0"/>
                  <a:t> </a:t>
                </a:r>
                <a:r>
                  <a:rPr lang="en-US" dirty="0" err="1"/>
                  <a:t>ứng</a:t>
                </a:r>
                <a:r>
                  <a:rPr lang="en-US" dirty="0"/>
                  <a:t> </a:t>
                </a:r>
                <a:r>
                  <a:rPr lang="en-US" dirty="0" err="1"/>
                  <a:t>chuyển</a:t>
                </a:r>
                <a:r>
                  <a:rPr lang="en-US" dirty="0"/>
                  <a:t> </a:t>
                </a:r>
                <a:r>
                  <a:rPr lang="en-US" dirty="0" err="1"/>
                  <a:t>mạch</a:t>
                </a:r>
                <a:r>
                  <a:rPr lang="en-US" dirty="0"/>
                  <a:t> </a:t>
                </a:r>
                <a:r>
                  <a:rPr lang="en-US" dirty="0" err="1"/>
                  <a:t>tải</a:t>
                </a:r>
                <a:r>
                  <a:rPr lang="en-US" dirty="0"/>
                  <a:t>.</a:t>
                </a:r>
              </a:p>
              <a:p>
                <a:pPr marL="285750" indent="-285750">
                  <a:lnSpc>
                    <a:spcPct val="150000"/>
                  </a:lnSpc>
                  <a:buFontTx/>
                  <a:buChar char="-"/>
                </a:pPr>
                <a:endParaRPr lang="en-US" dirty="0"/>
              </a:p>
              <a:p>
                <a:pPr marL="285750" indent="-285750">
                  <a:lnSpc>
                    <a:spcPct val="150000"/>
                  </a:lnSpc>
                  <a:buFont typeface="Wingdings" panose="05000000000000000000" pitchFamily="2" charset="2"/>
                  <a:buChar char="q"/>
                </a:pPr>
                <a:r>
                  <a:rPr lang="en-US" b="1" dirty="0" err="1"/>
                  <a:t>Điện</a:t>
                </a:r>
                <a:r>
                  <a:rPr lang="en-US" b="1" dirty="0"/>
                  <a:t> </a:t>
                </a:r>
                <a:r>
                  <a:rPr lang="en-US" b="1" dirty="0" err="1"/>
                  <a:t>trở</a:t>
                </a:r>
                <a:r>
                  <a:rPr lang="en-US" b="1" dirty="0"/>
                  <a:t> </a:t>
                </a:r>
                <a:r>
                  <a:rPr lang="en-US" b="1" dirty="0" err="1"/>
                  <a:t>kéo</a:t>
                </a:r>
                <a:r>
                  <a:rPr lang="en-US" b="1" dirty="0"/>
                  <a:t> </a:t>
                </a:r>
                <a:r>
                  <a:rPr lang="en-US" b="1" dirty="0" err="1"/>
                  <a:t>xuống</a:t>
                </a:r>
                <a:r>
                  <a:rPr lang="en-US" b="1" dirty="0"/>
                  <a:t> EN: R</a:t>
                </a:r>
                <a:r>
                  <a:rPr lang="en-US" sz="1400" b="1" dirty="0"/>
                  <a:t>3 = </a:t>
                </a:r>
                <a:r>
                  <a:rPr lang="en-US" b="1" dirty="0"/>
                  <a:t>1M</a:t>
                </a:r>
                <a:r>
                  <a:rPr lang="el-GR" b="1" dirty="0"/>
                  <a:t>Ω</a:t>
                </a:r>
                <a:endParaRPr lang="en-US" b="1" dirty="0"/>
              </a:p>
              <a:p>
                <a:pPr marL="285750" indent="-285750">
                  <a:lnSpc>
                    <a:spcPct val="150000"/>
                  </a:lnSpc>
                  <a:buFontTx/>
                  <a:buChar char="-"/>
                </a:pPr>
                <a:r>
                  <a:rPr lang="en-US" dirty="0" err="1"/>
                  <a:t>Tránh</a:t>
                </a:r>
                <a:r>
                  <a:rPr lang="en-US" dirty="0"/>
                  <a:t> </a:t>
                </a:r>
                <a:r>
                  <a:rPr lang="en-US" dirty="0" err="1"/>
                  <a:t>bật</a:t>
                </a:r>
                <a:r>
                  <a:rPr lang="en-US" dirty="0"/>
                  <a:t> IC </a:t>
                </a:r>
                <a:r>
                  <a:rPr lang="en-US" dirty="0" err="1"/>
                  <a:t>ngoài</a:t>
                </a:r>
                <a:r>
                  <a:rPr lang="en-US" dirty="0"/>
                  <a:t> ý </a:t>
                </a:r>
                <a:r>
                  <a:rPr lang="en-US" dirty="0" err="1"/>
                  <a:t>muốn</a:t>
                </a:r>
                <a:r>
                  <a:rPr lang="en-US" dirty="0"/>
                  <a:t> </a:t>
                </a:r>
                <a:r>
                  <a:rPr lang="en-US" dirty="0" err="1"/>
                  <a:t>khi</a:t>
                </a:r>
                <a:r>
                  <a:rPr lang="en-US" dirty="0"/>
                  <a:t> ở </a:t>
                </a:r>
                <a:r>
                  <a:rPr lang="en-US" dirty="0" err="1"/>
                  <a:t>chế</a:t>
                </a:r>
                <a:r>
                  <a:rPr lang="en-US" dirty="0"/>
                  <a:t> </a:t>
                </a:r>
                <a:r>
                  <a:rPr lang="en-US" dirty="0" err="1"/>
                  <a:t>độ</a:t>
                </a:r>
                <a:r>
                  <a:rPr lang="en-US" dirty="0"/>
                  <a:t> </a:t>
                </a:r>
                <a:r>
                  <a:rPr lang="en-US" dirty="0" err="1"/>
                  <a:t>tắt</a:t>
                </a:r>
                <a:r>
                  <a:rPr lang="en-US" dirty="0"/>
                  <a:t>.</a:t>
                </a:r>
              </a:p>
              <a:p>
                <a:pPr marL="285750" indent="-285750">
                  <a:lnSpc>
                    <a:spcPct val="150000"/>
                  </a:lnSpc>
                  <a:buFontTx/>
                  <a:buChar char="-"/>
                </a:pPr>
                <a:r>
                  <a:rPr lang="en-US" dirty="0">
                    <a:latin typeface="Calibri(Body)"/>
                    <a:ea typeface="Calibri" panose="020F0502020204030204" pitchFamily="34" charset="0"/>
                    <a:cs typeface="Calibri" panose="020F0502020204030204" pitchFamily="34" charset="0"/>
                  </a:rPr>
                  <a:t>Đ</a:t>
                </a:r>
                <a:r>
                  <a:rPr lang="vi-VN" dirty="0">
                    <a:latin typeface="Calibri(Body)"/>
                    <a:ea typeface="Calibri" panose="020F0502020204030204" pitchFamily="34" charset="0"/>
                    <a:cs typeface="Calibri" panose="020F0502020204030204" pitchFamily="34" charset="0"/>
                  </a:rPr>
                  <a:t>iện trở lớn không hao dòng nhưng vẫn kéo chân EN về GND khi không dùng.</a:t>
                </a:r>
                <a:endParaRPr lang="en-US" dirty="0">
                  <a:latin typeface="Calibri(Body)"/>
                  <a:ea typeface="Calibri" panose="020F0502020204030204" pitchFamily="34" charset="0"/>
                  <a:cs typeface="Calibri" panose="020F0502020204030204" pitchFamily="34" charset="0"/>
                </a:endParaRPr>
              </a:p>
              <a:p>
                <a:pPr marL="285750" indent="-285750">
                  <a:lnSpc>
                    <a:spcPct val="150000"/>
                  </a:lnSpc>
                  <a:buFontTx/>
                  <a:buChar char="-"/>
                </a:pPr>
                <a:endParaRPr lang="en-US" dirty="0">
                  <a:latin typeface="Calibri(Body)"/>
                  <a:ea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q"/>
                </a:pPr>
                <a:r>
                  <a:rPr lang="pt-BR" b="1" dirty="0"/>
                  <a:t>Điện trở hồi tiếp R</a:t>
                </a:r>
                <a:r>
                  <a:rPr lang="pt-BR" sz="1400" b="1" dirty="0"/>
                  <a:t>1</a:t>
                </a:r>
                <a:r>
                  <a:rPr lang="pt-BR" b="1" dirty="0"/>
                  <a:t> và R</a:t>
                </a:r>
                <a:r>
                  <a:rPr lang="pt-BR" sz="1400" b="1" dirty="0"/>
                  <a:t>2</a:t>
                </a:r>
                <a:endParaRPr lang="pt-BR" b="1" dirty="0"/>
              </a:p>
              <a:p>
                <a:pPr algn="ctr">
                  <a:lnSpc>
                    <a:spcPct val="150000"/>
                  </a:lnSpc>
                </a:pPr>
                <a:r>
                  <a:rPr lang="pt-BR" b="1" dirty="0">
                    <a:latin typeface="Calibri(Body)"/>
                    <a:ea typeface="Calibri" panose="020F0502020204030204" pitchFamily="34" charset="0"/>
                    <a:cs typeface="Calibri" panose="020F0502020204030204" pitchFamily="34" charset="0"/>
                  </a:rPr>
                  <a:t>Công thức: R</a:t>
                </a:r>
                <a:r>
                  <a:rPr lang="pt-BR" sz="1400" b="1" dirty="0">
                    <a:latin typeface="Calibri(Body)"/>
                    <a:ea typeface="Calibri" panose="020F0502020204030204" pitchFamily="34" charset="0"/>
                    <a:cs typeface="Calibri" panose="020F0502020204030204" pitchFamily="34" charset="0"/>
                  </a:rPr>
                  <a:t>2</a:t>
                </a:r>
                <a:r>
                  <a:rPr lang="pt-BR" b="1" dirty="0">
                    <a:latin typeface="Calibri(Body)"/>
                    <a:ea typeface="Calibri" panose="020F0502020204030204" pitchFamily="34" charset="0"/>
                    <a:cs typeface="Calibri" panose="020F0502020204030204" pitchFamily="34" charset="0"/>
                  </a:rPr>
                  <a:t> = </a:t>
                </a:r>
                <a14:m>
                  <m:oMath xmlns:m="http://schemas.openxmlformats.org/officeDocument/2006/math">
                    <m:f>
                      <m:fPr>
                        <m:ctrlPr>
                          <a:rPr lang="pt-BR" b="1" i="1" smtClean="0">
                            <a:latin typeface="Cambria Math" panose="02040503050406030204" pitchFamily="18" charset="0"/>
                            <a:ea typeface="Calibri" panose="020F0502020204030204" pitchFamily="34" charset="0"/>
                            <a:cs typeface="Calibri" panose="020F0502020204030204" pitchFamily="34" charset="0"/>
                          </a:rPr>
                        </m:ctrlPr>
                      </m:fPr>
                      <m:num>
                        <m:sSub>
                          <m:sSubPr>
                            <m:ctrlPr>
                              <a:rPr lang="en-US" b="1" i="1" smtClean="0">
                                <a:latin typeface="Cambria Math" panose="02040503050406030204" pitchFamily="18" charset="0"/>
                              </a:rPr>
                            </m:ctrlPr>
                          </m:sSubPr>
                          <m:e>
                            <m:r>
                              <a:rPr lang="en-US" b="1" i="1">
                                <a:latin typeface="Cambria Math" panose="02040503050406030204" pitchFamily="18" charset="0"/>
                              </a:rPr>
                              <m:t>𝑽</m:t>
                            </m:r>
                          </m:e>
                          <m:sub>
                            <m:r>
                              <a:rPr lang="en-US" b="1" i="1" smtClean="0">
                                <a:latin typeface="Cambria Math" panose="02040503050406030204" pitchFamily="18" charset="0"/>
                              </a:rPr>
                              <m:t>𝑹𝑬𝑭</m:t>
                            </m:r>
                          </m:sub>
                        </m:sSub>
                      </m:num>
                      <m:den>
                        <m:sSub>
                          <m:sSubPr>
                            <m:ctrlPr>
                              <a:rPr lang="en-US" b="1" i="1">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𝑶𝑼𝑻</m:t>
                            </m:r>
                          </m:sub>
                        </m:sSub>
                        <m:r>
                          <a:rPr lang="en-US" b="1" i="1" smtClean="0">
                            <a:latin typeface="Cambria Math" panose="02040503050406030204" pitchFamily="18" charset="0"/>
                          </a:rPr>
                          <m:t> − </m:t>
                        </m:r>
                        <m:sSub>
                          <m:sSubPr>
                            <m:ctrlPr>
                              <a:rPr lang="en-US" b="1" i="1">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𝑹𝑬𝑭</m:t>
                            </m:r>
                          </m:sub>
                        </m:sSub>
                      </m:den>
                    </m:f>
                  </m:oMath>
                </a14:m>
                <a:r>
                  <a:rPr lang="en-US" b="1" dirty="0">
                    <a:latin typeface="Calibri(Body)"/>
                    <a:ea typeface="Calibri" panose="020F0502020204030204" pitchFamily="34" charset="0"/>
                    <a:cs typeface="Calibri" panose="020F0502020204030204" pitchFamily="34" charset="0"/>
                  </a:rPr>
                  <a:t> R</a:t>
                </a:r>
                <a:r>
                  <a:rPr lang="en-US" sz="1400" b="1" dirty="0">
                    <a:latin typeface="Calibri(Body)"/>
                    <a:ea typeface="Calibri" panose="020F0502020204030204" pitchFamily="34" charset="0"/>
                    <a:cs typeface="Calibri" panose="020F0502020204030204" pitchFamily="34" charset="0"/>
                  </a:rPr>
                  <a:t>1</a:t>
                </a:r>
              </a:p>
              <a:p>
                <a:pPr>
                  <a:lnSpc>
                    <a:spcPct val="150000"/>
                  </a:lnSpc>
                </a:pPr>
                <a:r>
                  <a:rPr lang="en-US" dirty="0" err="1">
                    <a:latin typeface="Calibri(Body)"/>
                    <a:ea typeface="Calibri" panose="020F0502020204030204" pitchFamily="34" charset="0"/>
                    <a:cs typeface="Calibri" panose="020F0502020204030204" pitchFamily="34" charset="0"/>
                  </a:rPr>
                  <a:t>Với</a:t>
                </a:r>
                <a:r>
                  <a:rPr lang="en-US" b="1" dirty="0">
                    <a:latin typeface="Calibri(Body)"/>
                    <a:ea typeface="Calibri" panose="020F0502020204030204" pitchFamily="34" charset="0"/>
                    <a:cs typeface="Calibri" panose="020F0502020204030204" pitchFamily="34" charset="0"/>
                  </a:rPr>
                  <a:t>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V</m:t>
                        </m:r>
                      </m:e>
                      <m:sub>
                        <m:r>
                          <m:rPr>
                            <m:sty m:val="p"/>
                          </m:rPr>
                          <a:rPr lang="en-US" i="1">
                            <a:latin typeface="Cambria Math" panose="02040503050406030204" pitchFamily="18" charset="0"/>
                          </a:rPr>
                          <m:t>OUT</m:t>
                        </m:r>
                      </m:sub>
                    </m:sSub>
                  </m:oMath>
                </a14:m>
                <a:r>
                  <a:rPr lang="en-US" dirty="0">
                    <a:latin typeface="+mj-lt"/>
                  </a:rPr>
                  <a:t> = 3.3V,</a:t>
                </a:r>
                <a:r>
                  <a:rPr lang="en-US" dirty="0">
                    <a:latin typeface="Calibri(Body)"/>
                    <a:ea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𝑉</m:t>
                        </m:r>
                      </m:e>
                      <m:sub>
                        <m:r>
                          <a:rPr lang="en-US" b="0" i="1">
                            <a:latin typeface="Cambria Math" panose="02040503050406030204" pitchFamily="18" charset="0"/>
                          </a:rPr>
                          <m:t>𝑅𝐸𝐹</m:t>
                        </m:r>
                      </m:sub>
                    </m:sSub>
                    <m:r>
                      <a:rPr lang="en-US" b="0" i="1" smtClean="0">
                        <a:latin typeface="Cambria Math" panose="02040503050406030204" pitchFamily="18" charset="0"/>
                      </a:rPr>
                      <m:t>=0.6</m:t>
                    </m:r>
                    <m:r>
                      <a:rPr lang="en-US" b="0" i="1" smtClean="0">
                        <a:latin typeface="Cambria Math" panose="02040503050406030204" pitchFamily="18" charset="0"/>
                      </a:rPr>
                      <m:t>𝑉</m:t>
                    </m:r>
                  </m:oMath>
                </a14:m>
                <a:r>
                  <a:rPr lang="en-US" dirty="0">
                    <a:latin typeface="Calibri(Body)"/>
                    <a:ea typeface="Cambria Math" panose="02040503050406030204" pitchFamily="18" charset="0"/>
                  </a:rPr>
                  <a:t>, </a:t>
                </a:r>
                <a:r>
                  <a:rPr lang="en-US" dirty="0"/>
                  <a:t>chọn R</a:t>
                </a:r>
                <a:r>
                  <a:rPr lang="en-US" sz="1400" dirty="0"/>
                  <a:t>1</a:t>
                </a:r>
                <a:r>
                  <a:rPr lang="en-US" dirty="0"/>
                  <a:t> = 100</a:t>
                </a:r>
                <a:r>
                  <a:rPr lang="vi-VN" dirty="0">
                    <a:latin typeface="Calibri(Body)"/>
                  </a:rPr>
                  <a:t>k</a:t>
                </a:r>
                <a14:m>
                  <m:oMath xmlns:m="http://schemas.openxmlformats.org/officeDocument/2006/math">
                    <m:r>
                      <m:rPr>
                        <m:sty m:val="p"/>
                      </m:rPr>
                      <a:rPr lang="el-GR" i="1">
                        <a:latin typeface="Cambria Math" panose="02040503050406030204" pitchFamily="18" charset="0"/>
                        <a:ea typeface="Cambria Math" panose="02040503050406030204" pitchFamily="18" charset="0"/>
                      </a:rPr>
                      <m:t>Ω</m:t>
                    </m:r>
                  </m:oMath>
                </a14:m>
                <a:endParaRPr lang="en-US" dirty="0">
                  <a:latin typeface="Calibri(Body)"/>
                  <a:ea typeface="Cambria Math" panose="02040503050406030204" pitchFamily="18" charset="0"/>
                </a:endParaRPr>
              </a:p>
              <a:p>
                <a:pPr marL="285750" indent="-285750">
                  <a:lnSpc>
                    <a:spcPct val="150000"/>
                  </a:lnSpc>
                  <a:buFont typeface="Symbol" panose="05050102010706020507" pitchFamily="18" charset="2"/>
                  <a:buChar char="Þ"/>
                </a:pPr>
                <a:r>
                  <a:rPr lang="en-US" dirty="0">
                    <a:latin typeface="Calibri(Body)"/>
                  </a:rPr>
                  <a:t>R</a:t>
                </a:r>
                <a:r>
                  <a:rPr lang="en-US" sz="1400" dirty="0">
                    <a:latin typeface="Calibri(Body)"/>
                  </a:rPr>
                  <a:t>2 </a:t>
                </a:r>
                <a:r>
                  <a:rPr lang="en-US" dirty="0">
                    <a:latin typeface="Calibri(Body)"/>
                  </a:rPr>
                  <a:t>= 22.1</a:t>
                </a:r>
                <a:r>
                  <a:rPr lang="vi-VN" dirty="0">
                    <a:latin typeface="Calibri(Body)"/>
                  </a:rPr>
                  <a:t>k</a:t>
                </a:r>
                <a14:m>
                  <m:oMath xmlns:m="http://schemas.openxmlformats.org/officeDocument/2006/math">
                    <m:r>
                      <m:rPr>
                        <m:sty m:val="p"/>
                      </m:rPr>
                      <a:rPr lang="el-GR" i="1">
                        <a:latin typeface="Cambria Math" panose="02040503050406030204" pitchFamily="18" charset="0"/>
                        <a:ea typeface="Cambria Math" panose="02040503050406030204" pitchFamily="18" charset="0"/>
                      </a:rPr>
                      <m:t>Ω</m:t>
                    </m:r>
                  </m:oMath>
                </a14:m>
                <a:endParaRPr lang="en-US" sz="2400" b="1" dirty="0">
                  <a:latin typeface="+mj-lt"/>
                  <a:ea typeface="Calibri" panose="020F0502020204030204" pitchFamily="34" charset="0"/>
                  <a:cs typeface="Calibri" panose="020F0502020204030204" pitchFamily="34" charset="0"/>
                </a:endParaRPr>
              </a:p>
              <a:p>
                <a:pPr marL="285750" indent="-285750">
                  <a:lnSpc>
                    <a:spcPct val="150000"/>
                  </a:lnSpc>
                  <a:buFont typeface="Symbol" panose="05050102010706020507" pitchFamily="18" charset="2"/>
                  <a:buChar char="Þ"/>
                </a:pPr>
                <a:r>
                  <a:rPr lang="en-US" b="1" dirty="0" err="1">
                    <a:latin typeface="+mj-lt"/>
                    <a:ea typeface="Calibri" panose="020F0502020204030204" pitchFamily="34" charset="0"/>
                    <a:cs typeface="Calibri" panose="020F0502020204030204" pitchFamily="34" charset="0"/>
                  </a:rPr>
                  <a:t>Chọn</a:t>
                </a:r>
                <a:r>
                  <a:rPr lang="en-US" b="1" dirty="0">
                    <a:latin typeface="+mj-lt"/>
                    <a:ea typeface="Calibri" panose="020F0502020204030204" pitchFamily="34" charset="0"/>
                    <a:cs typeface="Calibri" panose="020F0502020204030204" pitchFamily="34" charset="0"/>
                  </a:rPr>
                  <a:t> R</a:t>
                </a:r>
                <a:r>
                  <a:rPr lang="en-US" sz="1400" b="1" dirty="0">
                    <a:latin typeface="+mj-lt"/>
                    <a:ea typeface="Calibri" panose="020F0502020204030204" pitchFamily="34" charset="0"/>
                    <a:cs typeface="Calibri" panose="020F0502020204030204" pitchFamily="34" charset="0"/>
                  </a:rPr>
                  <a:t>1</a:t>
                </a:r>
                <a:r>
                  <a:rPr lang="en-US" b="1" dirty="0">
                    <a:latin typeface="+mj-lt"/>
                    <a:ea typeface="Calibri" panose="020F0502020204030204" pitchFamily="34" charset="0"/>
                    <a:cs typeface="Calibri" panose="020F0502020204030204" pitchFamily="34" charset="0"/>
                  </a:rPr>
                  <a:t> = </a:t>
                </a:r>
                <a:r>
                  <a:rPr lang="en-US" b="1" dirty="0">
                    <a:latin typeface="+mj-lt"/>
                  </a:rPr>
                  <a:t>100</a:t>
                </a:r>
                <a:r>
                  <a:rPr lang="vi-VN" b="1" dirty="0">
                    <a:latin typeface="Calibri(Body)"/>
                  </a:rPr>
                  <a:t>k</a:t>
                </a:r>
                <a14:m>
                  <m:oMath xmlns:m="http://schemas.openxmlformats.org/officeDocument/2006/math">
                    <m:r>
                      <a:rPr lang="el-GR" b="1" i="0">
                        <a:latin typeface="Cambria Math" panose="02040503050406030204" pitchFamily="18" charset="0"/>
                        <a:ea typeface="Cambria Math" panose="02040503050406030204" pitchFamily="18" charset="0"/>
                      </a:rPr>
                      <m:t>𝛀</m:t>
                    </m:r>
                  </m:oMath>
                </a14:m>
                <a:r>
                  <a:rPr lang="en-US" sz="1400" b="1" dirty="0">
                    <a:latin typeface="+mj-lt"/>
                  </a:rPr>
                  <a:t>, </a:t>
                </a:r>
                <a:r>
                  <a:rPr lang="en-US" b="1" dirty="0">
                    <a:latin typeface="Calibri(Body)"/>
                  </a:rPr>
                  <a:t>R</a:t>
                </a:r>
                <a:r>
                  <a:rPr lang="en-US" sz="1400" b="1" dirty="0">
                    <a:latin typeface="Calibri(Body)"/>
                  </a:rPr>
                  <a:t>2</a:t>
                </a:r>
                <a:r>
                  <a:rPr lang="en-US" b="1" dirty="0">
                    <a:latin typeface="Calibri(Body)"/>
                  </a:rPr>
                  <a:t> = 22.1</a:t>
                </a:r>
                <a:r>
                  <a:rPr lang="vi-VN" b="1" dirty="0">
                    <a:latin typeface="Calibri(Body)"/>
                  </a:rPr>
                  <a:t>k</a:t>
                </a:r>
                <a14:m>
                  <m:oMath xmlns:m="http://schemas.openxmlformats.org/officeDocument/2006/math">
                    <m:r>
                      <a:rPr lang="el-GR" b="1" i="0">
                        <a:latin typeface="Cambria Math" panose="02040503050406030204" pitchFamily="18" charset="0"/>
                        <a:ea typeface="Cambria Math" panose="02040503050406030204" pitchFamily="18" charset="0"/>
                      </a:rPr>
                      <m:t>𝛀</m:t>
                    </m:r>
                  </m:oMath>
                </a14:m>
                <a:endParaRPr lang="en-US" b="1" dirty="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D009D8E5-3CB7-67BD-45E2-88C187840F5B}"/>
                  </a:ext>
                </a:extLst>
              </p:cNvPr>
              <p:cNvSpPr txBox="1">
                <a:spLocks noRot="1" noChangeAspect="1" noMove="1" noResize="1" noEditPoints="1" noAdjustHandles="1" noChangeArrowheads="1" noChangeShapeType="1" noTextEdit="1"/>
              </p:cNvSpPr>
              <p:nvPr/>
            </p:nvSpPr>
            <p:spPr>
              <a:xfrm>
                <a:off x="457200" y="1219200"/>
                <a:ext cx="8229600" cy="5268494"/>
              </a:xfrm>
              <a:prstGeom prst="rect">
                <a:avLst/>
              </a:prstGeom>
              <a:blipFill>
                <a:blip r:embed="rId4"/>
                <a:stretch>
                  <a:fillRect l="-593" b="-926"/>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93696A35-0922-8673-DA59-69D7EB893C5C}"/>
              </a:ext>
            </a:extLst>
          </p:cNvPr>
          <p:cNvSpPr/>
          <p:nvPr/>
        </p:nvSpPr>
        <p:spPr>
          <a:xfrm>
            <a:off x="3124200" y="4648200"/>
            <a:ext cx="2895600" cy="609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3726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842C-4CCF-8F10-849D-E59EDEA431E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905D4B8-8A26-857D-D586-324FB24BD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568651D2-31CD-8D8D-6774-756F6EE41D2D}"/>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Sơ</a:t>
            </a:r>
            <a:r>
              <a:rPr lang="en-US" sz="3200" b="1" dirty="0">
                <a:solidFill>
                  <a:schemeClr val="bg1"/>
                </a:solidFill>
                <a:latin typeface="+mj-lt"/>
              </a:rPr>
              <a:t> </a:t>
            </a:r>
            <a:r>
              <a:rPr lang="en-US" sz="3200" b="1" dirty="0" err="1">
                <a:solidFill>
                  <a:schemeClr val="bg1"/>
                </a:solidFill>
                <a:latin typeface="+mj-lt"/>
              </a:rPr>
              <a:t>đồ</a:t>
            </a:r>
            <a:r>
              <a:rPr lang="en-US" sz="3200" b="1" dirty="0">
                <a:solidFill>
                  <a:schemeClr val="bg1"/>
                </a:solidFill>
                <a:latin typeface="+mj-lt"/>
              </a:rPr>
              <a:t> </a:t>
            </a:r>
            <a:r>
              <a:rPr lang="en-US" sz="3200" b="1" dirty="0" err="1">
                <a:solidFill>
                  <a:schemeClr val="bg1"/>
                </a:solidFill>
                <a:latin typeface="+mj-lt"/>
              </a:rPr>
              <a:t>nguyên</a:t>
            </a:r>
            <a:r>
              <a:rPr lang="en-US" sz="3200" b="1" dirty="0">
                <a:solidFill>
                  <a:schemeClr val="bg1"/>
                </a:solidFill>
                <a:latin typeface="+mj-lt"/>
              </a:rPr>
              <a:t> </a:t>
            </a:r>
            <a:r>
              <a:rPr lang="en-US" sz="3200" b="1" dirty="0" err="1">
                <a:solidFill>
                  <a:schemeClr val="bg1"/>
                </a:solidFill>
                <a:latin typeface="+mj-lt"/>
              </a:rPr>
              <a:t>lý</a:t>
            </a:r>
            <a:endParaRPr lang="en-US" sz="3200" b="1" dirty="0">
              <a:solidFill>
                <a:schemeClr val="bg1"/>
              </a:solidFill>
              <a:latin typeface="+mj-lt"/>
            </a:endParaRPr>
          </a:p>
        </p:txBody>
      </p:sp>
      <p:pic>
        <p:nvPicPr>
          <p:cNvPr id="2" name="Hình ảnh 2">
            <a:extLst>
              <a:ext uri="{FF2B5EF4-FFF2-40B4-BE49-F238E27FC236}">
                <a16:creationId xmlns:a16="http://schemas.microsoft.com/office/drawing/2014/main" id="{68B92914-061F-12C4-15EF-B5DF8A8157F8}"/>
              </a:ext>
            </a:extLst>
          </p:cNvPr>
          <p:cNvPicPr>
            <a:picLocks noChangeAspect="1"/>
          </p:cNvPicPr>
          <p:nvPr/>
        </p:nvPicPr>
        <p:blipFill>
          <a:blip r:embed="rId4"/>
          <a:stretch>
            <a:fillRect/>
          </a:stretch>
        </p:blipFill>
        <p:spPr>
          <a:xfrm>
            <a:off x="645943" y="2286000"/>
            <a:ext cx="7852123" cy="3940084"/>
          </a:xfrm>
          <a:prstGeom prst="rect">
            <a:avLst/>
          </a:prstGeom>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D41B8ADA-FE47-D500-40F5-5EB414E245A1}"/>
                  </a:ext>
                </a:extLst>
              </p:cNvPr>
              <p:cNvGraphicFramePr>
                <a:graphicFrameLocks noGrp="1"/>
              </p:cNvGraphicFramePr>
              <p:nvPr>
                <p:extLst>
                  <p:ext uri="{D42A27DB-BD31-4B8C-83A1-F6EECF244321}">
                    <p14:modId xmlns:p14="http://schemas.microsoft.com/office/powerpoint/2010/main" val="1346671547"/>
                  </p:ext>
                </p:extLst>
              </p:nvPr>
            </p:nvGraphicFramePr>
            <p:xfrm>
              <a:off x="645943" y="1279364"/>
              <a:ext cx="7852128" cy="792480"/>
            </p:xfrm>
            <a:graphic>
              <a:graphicData uri="http://schemas.openxmlformats.org/drawingml/2006/table">
                <a:tbl>
                  <a:tblPr firstRow="1" bandRow="1">
                    <a:tableStyleId>{5C22544A-7EE6-4342-B048-85BDC9FD1C3A}</a:tableStyleId>
                  </a:tblPr>
                  <a:tblGrid>
                    <a:gridCol w="981516">
                      <a:extLst>
                        <a:ext uri="{9D8B030D-6E8A-4147-A177-3AD203B41FA5}">
                          <a16:colId xmlns:a16="http://schemas.microsoft.com/office/drawing/2014/main" val="2112853973"/>
                        </a:ext>
                      </a:extLst>
                    </a:gridCol>
                    <a:gridCol w="981516">
                      <a:extLst>
                        <a:ext uri="{9D8B030D-6E8A-4147-A177-3AD203B41FA5}">
                          <a16:colId xmlns:a16="http://schemas.microsoft.com/office/drawing/2014/main" val="884004112"/>
                        </a:ext>
                      </a:extLst>
                    </a:gridCol>
                    <a:gridCol w="981516">
                      <a:extLst>
                        <a:ext uri="{9D8B030D-6E8A-4147-A177-3AD203B41FA5}">
                          <a16:colId xmlns:a16="http://schemas.microsoft.com/office/drawing/2014/main" val="3533654720"/>
                        </a:ext>
                      </a:extLst>
                    </a:gridCol>
                    <a:gridCol w="981516">
                      <a:extLst>
                        <a:ext uri="{9D8B030D-6E8A-4147-A177-3AD203B41FA5}">
                          <a16:colId xmlns:a16="http://schemas.microsoft.com/office/drawing/2014/main" val="20183634"/>
                        </a:ext>
                      </a:extLst>
                    </a:gridCol>
                    <a:gridCol w="981516">
                      <a:extLst>
                        <a:ext uri="{9D8B030D-6E8A-4147-A177-3AD203B41FA5}">
                          <a16:colId xmlns:a16="http://schemas.microsoft.com/office/drawing/2014/main" val="4157298801"/>
                        </a:ext>
                      </a:extLst>
                    </a:gridCol>
                    <a:gridCol w="981516">
                      <a:extLst>
                        <a:ext uri="{9D8B030D-6E8A-4147-A177-3AD203B41FA5}">
                          <a16:colId xmlns:a16="http://schemas.microsoft.com/office/drawing/2014/main" val="1166889364"/>
                        </a:ext>
                      </a:extLst>
                    </a:gridCol>
                    <a:gridCol w="981516">
                      <a:extLst>
                        <a:ext uri="{9D8B030D-6E8A-4147-A177-3AD203B41FA5}">
                          <a16:colId xmlns:a16="http://schemas.microsoft.com/office/drawing/2014/main" val="1414461581"/>
                        </a:ext>
                      </a:extLst>
                    </a:gridCol>
                    <a:gridCol w="981516">
                      <a:extLst>
                        <a:ext uri="{9D8B030D-6E8A-4147-A177-3AD203B41FA5}">
                          <a16:colId xmlns:a16="http://schemas.microsoft.com/office/drawing/2014/main" val="1749300615"/>
                        </a:ext>
                      </a:extLst>
                    </a:gridCol>
                  </a:tblGrid>
                  <a:tr h="370840">
                    <a:tc>
                      <a:txBody>
                        <a:bodyPr/>
                        <a:lstStyle/>
                        <a:p>
                          <a:pPr algn="ctr"/>
                          <a:r>
                            <a:rPr lang="en-US" sz="2000" dirty="0">
                              <a:solidFill>
                                <a:schemeClr val="tx1"/>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1" i="1" smtClean="0">
                                        <a:solidFill>
                                          <a:schemeClr val="tx1"/>
                                        </a:solidFill>
                                        <a:latin typeface="Cambria Math" panose="02040503050406030204" pitchFamily="18" charset="0"/>
                                      </a:rPr>
                                    </m:ctrlPr>
                                  </m:sSubPr>
                                  <m:e>
                                    <m:r>
                                      <a:rPr lang="en-US" sz="2000" b="1" i="0" smtClean="0">
                                        <a:solidFill>
                                          <a:schemeClr val="tx1"/>
                                        </a:solidFill>
                                        <a:latin typeface="Cambria Math" panose="02040503050406030204" pitchFamily="18" charset="0"/>
                                      </a:rPr>
                                      <m:t>𝐂</m:t>
                                    </m:r>
                                  </m:e>
                                  <m:sub>
                                    <m:r>
                                      <a:rPr lang="en-US" sz="2000" b="1" i="0" smtClean="0">
                                        <a:solidFill>
                                          <a:schemeClr val="tx1"/>
                                        </a:solidFill>
                                        <a:latin typeface="Cambria Math" panose="02040503050406030204" pitchFamily="18" charset="0"/>
                                      </a:rPr>
                                      <m:t>𝐈𝐍</m:t>
                                    </m:r>
                                  </m:sub>
                                </m:sSub>
                              </m:oMath>
                            </m:oMathPara>
                          </a14:m>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1" i="1" smtClean="0">
                                        <a:solidFill>
                                          <a:schemeClr val="tx1"/>
                                        </a:solidFill>
                                        <a:latin typeface="Cambria Math" panose="02040503050406030204" pitchFamily="18" charset="0"/>
                                      </a:rPr>
                                    </m:ctrlPr>
                                  </m:sSubPr>
                                  <m:e>
                                    <m:r>
                                      <a:rPr lang="en-US" sz="2000" b="1" i="0">
                                        <a:solidFill>
                                          <a:schemeClr val="tx1"/>
                                        </a:solidFill>
                                        <a:latin typeface="Cambria Math" panose="02040503050406030204" pitchFamily="18" charset="0"/>
                                      </a:rPr>
                                      <m:t>𝐂</m:t>
                                    </m:r>
                                  </m:e>
                                  <m:sub>
                                    <m:r>
                                      <a:rPr lang="en-US" sz="2000" b="1" i="0" smtClean="0">
                                        <a:solidFill>
                                          <a:schemeClr val="tx1"/>
                                        </a:solidFill>
                                        <a:latin typeface="Cambria Math" panose="02040503050406030204" pitchFamily="18" charset="0"/>
                                      </a:rPr>
                                      <m:t>𝐎𝐔𝐓</m:t>
                                    </m:r>
                                  </m:sub>
                                </m:sSub>
                              </m:oMath>
                            </m:oMathPara>
                          </a14:m>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C</a:t>
                          </a:r>
                          <a:r>
                            <a:rPr lang="en-US" sz="1600" b="1" dirty="0">
                              <a:solidFill>
                                <a:schemeClr val="tx1"/>
                              </a:solidFill>
                            </a:rPr>
                            <a:t>1</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C</a:t>
                          </a:r>
                          <a:r>
                            <a:rPr lang="en-US" sz="1600" b="1" dirty="0">
                              <a:solidFill>
                                <a:schemeClr val="tx1"/>
                              </a:solidFill>
                            </a:rPr>
                            <a:t>4</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R</a:t>
                          </a:r>
                          <a:r>
                            <a:rPr lang="en-US" sz="1600" b="1" dirty="0">
                              <a:solidFill>
                                <a:schemeClr val="tx1"/>
                              </a:solidFill>
                            </a:rPr>
                            <a:t>3</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2000" b="1" dirty="0">
                              <a:solidFill>
                                <a:schemeClr val="tx1"/>
                              </a:solidFill>
                            </a:rPr>
                            <a:t>R</a:t>
                          </a:r>
                          <a:r>
                            <a:rPr lang="pt-BR" sz="1600" b="1" dirty="0">
                              <a:solidFill>
                                <a:schemeClr val="tx1"/>
                              </a:solidFill>
                            </a:rPr>
                            <a:t>1</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2000" b="1" dirty="0">
                              <a:solidFill>
                                <a:schemeClr val="tx1"/>
                              </a:solidFill>
                            </a:rPr>
                            <a:t>R</a:t>
                          </a:r>
                          <a:r>
                            <a:rPr lang="pt-BR" sz="1600" b="1" dirty="0">
                              <a:solidFill>
                                <a:schemeClr val="tx1"/>
                              </a:solidFill>
                            </a:rPr>
                            <a:t>2</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45139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4.7</a:t>
                          </a:r>
                          <a:r>
                            <a:rPr lang="en-US" sz="2000" b="1" dirty="0">
                              <a:solidFill>
                                <a:schemeClr val="tx1"/>
                              </a:solidFill>
                            </a:rPr>
                            <a:t>µH</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000" b="1" dirty="0">
                              <a:solidFill>
                                <a:schemeClr val="tx1"/>
                              </a:solidFill>
                            </a:rPr>
                            <a:t>4.7μ</a:t>
                          </a:r>
                          <a:r>
                            <a:rPr lang="en-US" sz="2000" b="1"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22</a:t>
                          </a:r>
                          <a:r>
                            <a:rPr lang="el-GR" sz="2000" b="1" dirty="0">
                              <a:solidFill>
                                <a:schemeClr val="tx1"/>
                              </a:solidFill>
                            </a:rPr>
                            <a:t>μ</a:t>
                          </a:r>
                          <a:r>
                            <a:rPr lang="en-US" sz="2000" b="1"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100nF</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22pF</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1M</a:t>
                          </a:r>
                          <a:r>
                            <a:rPr lang="el-GR" sz="2000" b="1" dirty="0">
                              <a:solidFill>
                                <a:schemeClr val="tx1"/>
                              </a:solidFill>
                            </a:rPr>
                            <a:t>Ω</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kern="1200" dirty="0">
                              <a:solidFill>
                                <a:schemeClr val="tx1"/>
                              </a:solidFill>
                              <a:latin typeface="+mn-lt"/>
                              <a:ea typeface="+mn-ea"/>
                              <a:cs typeface="+mn-cs"/>
                            </a:rPr>
                            <a:t>100</a:t>
                          </a:r>
                          <a:r>
                            <a:rPr lang="vi-VN" sz="2000" b="1" dirty="0">
                              <a:solidFill>
                                <a:schemeClr val="tx1"/>
                              </a:solidFill>
                              <a:latin typeface="Calibri(Body)"/>
                            </a:rPr>
                            <a:t>k</a:t>
                          </a:r>
                          <a14:m>
                            <m:oMath xmlns:m="http://schemas.openxmlformats.org/officeDocument/2006/math">
                              <m:r>
                                <a:rPr lang="el-GR" sz="2000" b="1" i="0">
                                  <a:solidFill>
                                    <a:schemeClr val="tx1"/>
                                  </a:solidFill>
                                  <a:latin typeface="Cambria Math" panose="02040503050406030204" pitchFamily="18" charset="0"/>
                                  <a:ea typeface="Cambria Math" panose="02040503050406030204" pitchFamily="18" charset="0"/>
                                </a:rPr>
                                <m:t>𝛀</m:t>
                              </m:r>
                            </m:oMath>
                          </a14:m>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latin typeface="Calibri(Body)"/>
                            </a:rPr>
                            <a:t>22.1</a:t>
                          </a:r>
                          <a:r>
                            <a:rPr lang="vi-VN" sz="2000" b="1" dirty="0">
                              <a:solidFill>
                                <a:schemeClr val="tx1"/>
                              </a:solidFill>
                              <a:latin typeface="Calibri(Body)"/>
                            </a:rPr>
                            <a:t>k</a:t>
                          </a:r>
                          <a14:m>
                            <m:oMath xmlns:m="http://schemas.openxmlformats.org/officeDocument/2006/math">
                              <m:r>
                                <a:rPr lang="el-GR" sz="2000" b="1" i="0">
                                  <a:solidFill>
                                    <a:schemeClr val="tx1"/>
                                  </a:solidFill>
                                  <a:latin typeface="Cambria Math" panose="02040503050406030204" pitchFamily="18" charset="0"/>
                                  <a:ea typeface="Cambria Math" panose="02040503050406030204" pitchFamily="18" charset="0"/>
                                </a:rPr>
                                <m:t>𝛀</m:t>
                              </m:r>
                            </m:oMath>
                          </a14:m>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6440217"/>
                      </a:ext>
                    </a:extLst>
                  </a:tr>
                </a:tbl>
              </a:graphicData>
            </a:graphic>
          </p:graphicFrame>
        </mc:Choice>
        <mc:Fallback>
          <p:graphicFrame>
            <p:nvGraphicFramePr>
              <p:cNvPr id="3" name="Table 2">
                <a:extLst>
                  <a:ext uri="{FF2B5EF4-FFF2-40B4-BE49-F238E27FC236}">
                    <a16:creationId xmlns:a16="http://schemas.microsoft.com/office/drawing/2014/main" id="{D41B8ADA-FE47-D500-40F5-5EB414E245A1}"/>
                  </a:ext>
                </a:extLst>
              </p:cNvPr>
              <p:cNvGraphicFramePr>
                <a:graphicFrameLocks noGrp="1"/>
              </p:cNvGraphicFramePr>
              <p:nvPr>
                <p:extLst>
                  <p:ext uri="{D42A27DB-BD31-4B8C-83A1-F6EECF244321}">
                    <p14:modId xmlns:p14="http://schemas.microsoft.com/office/powerpoint/2010/main" val="1346671547"/>
                  </p:ext>
                </p:extLst>
              </p:nvPr>
            </p:nvGraphicFramePr>
            <p:xfrm>
              <a:off x="645943" y="1279364"/>
              <a:ext cx="7852128" cy="792480"/>
            </p:xfrm>
            <a:graphic>
              <a:graphicData uri="http://schemas.openxmlformats.org/drawingml/2006/table">
                <a:tbl>
                  <a:tblPr firstRow="1" bandRow="1">
                    <a:tableStyleId>{5C22544A-7EE6-4342-B048-85BDC9FD1C3A}</a:tableStyleId>
                  </a:tblPr>
                  <a:tblGrid>
                    <a:gridCol w="981516">
                      <a:extLst>
                        <a:ext uri="{9D8B030D-6E8A-4147-A177-3AD203B41FA5}">
                          <a16:colId xmlns:a16="http://schemas.microsoft.com/office/drawing/2014/main" val="2112853973"/>
                        </a:ext>
                      </a:extLst>
                    </a:gridCol>
                    <a:gridCol w="981516">
                      <a:extLst>
                        <a:ext uri="{9D8B030D-6E8A-4147-A177-3AD203B41FA5}">
                          <a16:colId xmlns:a16="http://schemas.microsoft.com/office/drawing/2014/main" val="884004112"/>
                        </a:ext>
                      </a:extLst>
                    </a:gridCol>
                    <a:gridCol w="981516">
                      <a:extLst>
                        <a:ext uri="{9D8B030D-6E8A-4147-A177-3AD203B41FA5}">
                          <a16:colId xmlns:a16="http://schemas.microsoft.com/office/drawing/2014/main" val="3533654720"/>
                        </a:ext>
                      </a:extLst>
                    </a:gridCol>
                    <a:gridCol w="981516">
                      <a:extLst>
                        <a:ext uri="{9D8B030D-6E8A-4147-A177-3AD203B41FA5}">
                          <a16:colId xmlns:a16="http://schemas.microsoft.com/office/drawing/2014/main" val="20183634"/>
                        </a:ext>
                      </a:extLst>
                    </a:gridCol>
                    <a:gridCol w="981516">
                      <a:extLst>
                        <a:ext uri="{9D8B030D-6E8A-4147-A177-3AD203B41FA5}">
                          <a16:colId xmlns:a16="http://schemas.microsoft.com/office/drawing/2014/main" val="4157298801"/>
                        </a:ext>
                      </a:extLst>
                    </a:gridCol>
                    <a:gridCol w="981516">
                      <a:extLst>
                        <a:ext uri="{9D8B030D-6E8A-4147-A177-3AD203B41FA5}">
                          <a16:colId xmlns:a16="http://schemas.microsoft.com/office/drawing/2014/main" val="1166889364"/>
                        </a:ext>
                      </a:extLst>
                    </a:gridCol>
                    <a:gridCol w="981516">
                      <a:extLst>
                        <a:ext uri="{9D8B030D-6E8A-4147-A177-3AD203B41FA5}">
                          <a16:colId xmlns:a16="http://schemas.microsoft.com/office/drawing/2014/main" val="1414461581"/>
                        </a:ext>
                      </a:extLst>
                    </a:gridCol>
                    <a:gridCol w="981516">
                      <a:extLst>
                        <a:ext uri="{9D8B030D-6E8A-4147-A177-3AD203B41FA5}">
                          <a16:colId xmlns:a16="http://schemas.microsoft.com/office/drawing/2014/main" val="1749300615"/>
                        </a:ext>
                      </a:extLst>
                    </a:gridCol>
                  </a:tblGrid>
                  <a:tr h="396240">
                    <a:tc>
                      <a:txBody>
                        <a:bodyPr/>
                        <a:lstStyle/>
                        <a:p>
                          <a:pPr algn="ctr"/>
                          <a:r>
                            <a:rPr lang="en-US" sz="2000" dirty="0">
                              <a:solidFill>
                                <a:schemeClr val="tx1"/>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7576" r="-598148" b="-12575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42" t="-7576" r="-501863" b="-125758"/>
                          </a:stretch>
                        </a:blipFill>
                      </a:tcPr>
                    </a:tc>
                    <a:tc>
                      <a:txBody>
                        <a:bodyPr/>
                        <a:lstStyle/>
                        <a:p>
                          <a:pPr algn="ctr"/>
                          <a:r>
                            <a:rPr lang="en-US" sz="2000" b="1" dirty="0">
                              <a:solidFill>
                                <a:schemeClr val="tx1"/>
                              </a:solidFill>
                            </a:rPr>
                            <a:t>C</a:t>
                          </a:r>
                          <a:r>
                            <a:rPr lang="en-US" sz="1600" b="1" dirty="0">
                              <a:solidFill>
                                <a:schemeClr val="tx1"/>
                              </a:solidFill>
                            </a:rPr>
                            <a:t>1</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C</a:t>
                          </a:r>
                          <a:r>
                            <a:rPr lang="en-US" sz="1600" b="1" dirty="0">
                              <a:solidFill>
                                <a:schemeClr val="tx1"/>
                              </a:solidFill>
                            </a:rPr>
                            <a:t>4</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R</a:t>
                          </a:r>
                          <a:r>
                            <a:rPr lang="en-US" sz="1600" b="1" dirty="0">
                              <a:solidFill>
                                <a:schemeClr val="tx1"/>
                              </a:solidFill>
                            </a:rPr>
                            <a:t>3</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2000" b="1" dirty="0">
                              <a:solidFill>
                                <a:schemeClr val="tx1"/>
                              </a:solidFill>
                            </a:rPr>
                            <a:t>R</a:t>
                          </a:r>
                          <a:r>
                            <a:rPr lang="pt-BR" sz="1600" b="1" dirty="0">
                              <a:solidFill>
                                <a:schemeClr val="tx1"/>
                              </a:solidFill>
                            </a:rPr>
                            <a:t>1</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2000" b="1" dirty="0">
                              <a:solidFill>
                                <a:schemeClr val="tx1"/>
                              </a:solidFill>
                            </a:rPr>
                            <a:t>R</a:t>
                          </a:r>
                          <a:r>
                            <a:rPr lang="pt-BR" sz="1600" b="1" dirty="0">
                              <a:solidFill>
                                <a:schemeClr val="tx1"/>
                              </a:solidFill>
                            </a:rPr>
                            <a:t>2</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4513953"/>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4.7</a:t>
                          </a:r>
                          <a:r>
                            <a:rPr lang="en-US" sz="2000" b="1" dirty="0">
                              <a:solidFill>
                                <a:schemeClr val="tx1"/>
                              </a:solidFill>
                            </a:rPr>
                            <a:t>µH</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000" b="1" dirty="0">
                              <a:solidFill>
                                <a:schemeClr val="tx1"/>
                              </a:solidFill>
                            </a:rPr>
                            <a:t>4.7μ</a:t>
                          </a:r>
                          <a:r>
                            <a:rPr lang="en-US" sz="2000" b="1"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22</a:t>
                          </a:r>
                          <a:r>
                            <a:rPr lang="el-GR" sz="2000" b="1" dirty="0">
                              <a:solidFill>
                                <a:schemeClr val="tx1"/>
                              </a:solidFill>
                            </a:rPr>
                            <a:t>μ</a:t>
                          </a:r>
                          <a:r>
                            <a:rPr lang="en-US" sz="2000" b="1"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100nF</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22pF</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1M</a:t>
                          </a:r>
                          <a:r>
                            <a:rPr lang="el-GR" sz="2000" b="1" dirty="0">
                              <a:solidFill>
                                <a:schemeClr val="tx1"/>
                              </a:solidFill>
                            </a:rPr>
                            <a:t>Ω</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863" t="-109231" r="-101242" b="-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01863" t="-109231" r="-1242" b="-27692"/>
                          </a:stretch>
                        </a:blipFill>
                      </a:tcPr>
                    </a:tc>
                    <a:extLst>
                      <a:ext uri="{0D108BD9-81ED-4DB2-BD59-A6C34878D82A}">
                        <a16:rowId xmlns:a16="http://schemas.microsoft.com/office/drawing/2014/main" val="4236440217"/>
                      </a:ext>
                    </a:extLst>
                  </a:tr>
                </a:tbl>
              </a:graphicData>
            </a:graphic>
          </p:graphicFrame>
        </mc:Fallback>
      </mc:AlternateContent>
    </p:spTree>
    <p:extLst>
      <p:ext uri="{BB962C8B-B14F-4D97-AF65-F5344CB8AC3E}">
        <p14:creationId xmlns:p14="http://schemas.microsoft.com/office/powerpoint/2010/main" val="1670051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823EC-32AC-9BC9-6883-277E3154B1C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4852E7-AC28-C3EC-DC62-BA690C2493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80B04E9C-E62C-C834-DFBC-DD077A56BC32}"/>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Thiết</a:t>
            </a:r>
            <a:r>
              <a:rPr lang="en-US" sz="3200" b="1" dirty="0">
                <a:solidFill>
                  <a:schemeClr val="bg1"/>
                </a:solidFill>
                <a:latin typeface="+mj-lt"/>
              </a:rPr>
              <a:t> </a:t>
            </a:r>
            <a:r>
              <a:rPr lang="en-US" sz="3200" b="1" dirty="0" err="1">
                <a:solidFill>
                  <a:schemeClr val="bg1"/>
                </a:solidFill>
                <a:latin typeface="+mj-lt"/>
              </a:rPr>
              <a:t>kế</a:t>
            </a:r>
            <a:r>
              <a:rPr lang="en-US" sz="3200" b="1" dirty="0">
                <a:solidFill>
                  <a:schemeClr val="bg1"/>
                </a:solidFill>
                <a:latin typeface="+mj-lt"/>
              </a:rPr>
              <a:t> PCB</a:t>
            </a:r>
          </a:p>
        </p:txBody>
      </p:sp>
      <p:pic>
        <p:nvPicPr>
          <p:cNvPr id="4" name="Hình ảnh 2">
            <a:extLst>
              <a:ext uri="{FF2B5EF4-FFF2-40B4-BE49-F238E27FC236}">
                <a16:creationId xmlns:a16="http://schemas.microsoft.com/office/drawing/2014/main" id="{7E8DF500-9179-E05C-CAAE-2794F3123A4B}"/>
              </a:ext>
            </a:extLst>
          </p:cNvPr>
          <p:cNvPicPr>
            <a:picLocks noChangeAspect="1"/>
          </p:cNvPicPr>
          <p:nvPr/>
        </p:nvPicPr>
        <p:blipFill>
          <a:blip r:embed="rId4"/>
          <a:stretch>
            <a:fillRect/>
          </a:stretch>
        </p:blipFill>
        <p:spPr>
          <a:xfrm rot="5400000">
            <a:off x="223063" y="2500419"/>
            <a:ext cx="5164798" cy="2763167"/>
          </a:xfrm>
          <a:prstGeom prst="rect">
            <a:avLst/>
          </a:prstGeom>
        </p:spPr>
      </p:pic>
      <p:pic>
        <p:nvPicPr>
          <p:cNvPr id="6" name="Hình ảnh 5">
            <a:extLst>
              <a:ext uri="{FF2B5EF4-FFF2-40B4-BE49-F238E27FC236}">
                <a16:creationId xmlns:a16="http://schemas.microsoft.com/office/drawing/2014/main" id="{A94235F6-775F-6151-9EB4-C25C5D7F8D34}"/>
              </a:ext>
            </a:extLst>
          </p:cNvPr>
          <p:cNvPicPr>
            <a:picLocks noChangeAspect="1"/>
          </p:cNvPicPr>
          <p:nvPr/>
        </p:nvPicPr>
        <p:blipFill>
          <a:blip r:embed="rId5"/>
          <a:stretch>
            <a:fillRect/>
          </a:stretch>
        </p:blipFill>
        <p:spPr>
          <a:xfrm rot="5400000">
            <a:off x="3749591" y="2488295"/>
            <a:ext cx="5189048" cy="2763167"/>
          </a:xfrm>
          <a:prstGeom prst="rect">
            <a:avLst/>
          </a:prstGeom>
        </p:spPr>
      </p:pic>
    </p:spTree>
    <p:extLst>
      <p:ext uri="{BB962C8B-B14F-4D97-AF65-F5344CB8AC3E}">
        <p14:creationId xmlns:p14="http://schemas.microsoft.com/office/powerpoint/2010/main" val="2465498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680E-DC85-B15D-00C3-BA18BE2971F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109B5C7-8E3D-377F-3D9B-E10734CC40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464401"/>
          </a:xfrm>
          <a:prstGeom prst="rect">
            <a:avLst/>
          </a:prstGeom>
        </p:spPr>
      </p:pic>
      <p:sp>
        <p:nvSpPr>
          <p:cNvPr id="5" name="TextBox 4">
            <a:extLst>
              <a:ext uri="{FF2B5EF4-FFF2-40B4-BE49-F238E27FC236}">
                <a16:creationId xmlns:a16="http://schemas.microsoft.com/office/drawing/2014/main" id="{60D7C752-0A4E-946E-A76E-795E467690ED}"/>
              </a:ext>
            </a:extLst>
          </p:cNvPr>
          <p:cNvSpPr txBox="1"/>
          <p:nvPr/>
        </p:nvSpPr>
        <p:spPr>
          <a:xfrm>
            <a:off x="457200" y="220765"/>
            <a:ext cx="8229600" cy="584775"/>
          </a:xfrm>
          <a:prstGeom prst="rect">
            <a:avLst/>
          </a:prstGeom>
          <a:noFill/>
        </p:spPr>
        <p:txBody>
          <a:bodyPr wrap="square" rtlCol="0">
            <a:spAutoFit/>
          </a:bodyPr>
          <a:lstStyle/>
          <a:p>
            <a:pPr algn="ctr"/>
            <a:r>
              <a:rPr lang="en-US" sz="3200" b="1" dirty="0" err="1">
                <a:solidFill>
                  <a:schemeClr val="bg1"/>
                </a:solidFill>
                <a:latin typeface="+mj-lt"/>
              </a:rPr>
              <a:t>Kết</a:t>
            </a:r>
            <a:r>
              <a:rPr lang="en-US" sz="3200" b="1" dirty="0">
                <a:solidFill>
                  <a:schemeClr val="bg1"/>
                </a:solidFill>
                <a:latin typeface="+mj-lt"/>
              </a:rPr>
              <a:t> </a:t>
            </a:r>
            <a:r>
              <a:rPr lang="en-US" sz="3200" b="1" dirty="0" err="1">
                <a:solidFill>
                  <a:schemeClr val="bg1"/>
                </a:solidFill>
                <a:latin typeface="+mj-lt"/>
              </a:rPr>
              <a:t>quả</a:t>
            </a:r>
            <a:r>
              <a:rPr lang="en-US" sz="3200" b="1" dirty="0">
                <a:solidFill>
                  <a:schemeClr val="bg1"/>
                </a:solidFill>
                <a:latin typeface="+mj-lt"/>
              </a:rPr>
              <a:t> </a:t>
            </a:r>
            <a:r>
              <a:rPr lang="en-US" sz="3200" b="1" dirty="0" err="1">
                <a:solidFill>
                  <a:schemeClr val="bg1"/>
                </a:solidFill>
                <a:latin typeface="+mj-lt"/>
              </a:rPr>
              <a:t>đo</a:t>
            </a:r>
            <a:r>
              <a:rPr lang="en-US" sz="3200" b="1" dirty="0">
                <a:solidFill>
                  <a:schemeClr val="bg1"/>
                </a:solidFill>
                <a:latin typeface="+mj-lt"/>
              </a:rPr>
              <a:t> </a:t>
            </a:r>
            <a:r>
              <a:rPr lang="en-US" sz="3200" b="1" dirty="0" err="1">
                <a:solidFill>
                  <a:schemeClr val="bg1"/>
                </a:solidFill>
                <a:latin typeface="+mj-lt"/>
              </a:rPr>
              <a:t>thực</a:t>
            </a:r>
            <a:r>
              <a:rPr lang="en-US" sz="3200" b="1" dirty="0">
                <a:solidFill>
                  <a:schemeClr val="bg1"/>
                </a:solidFill>
                <a:latin typeface="+mj-lt"/>
              </a:rPr>
              <a:t> </a:t>
            </a:r>
            <a:r>
              <a:rPr lang="en-US" sz="3200" b="1" dirty="0" err="1">
                <a:solidFill>
                  <a:schemeClr val="bg1"/>
                </a:solidFill>
                <a:latin typeface="+mj-lt"/>
              </a:rPr>
              <a:t>tế</a:t>
            </a:r>
            <a:endParaRPr lang="en-US" sz="3200" b="1" dirty="0">
              <a:solidFill>
                <a:schemeClr val="bg1"/>
              </a:solidFill>
              <a:latin typeface="+mj-lt"/>
            </a:endParaRPr>
          </a:p>
        </p:txBody>
      </p:sp>
      <p:pic>
        <p:nvPicPr>
          <p:cNvPr id="2" name="Hình ảnh 5">
            <a:extLst>
              <a:ext uri="{FF2B5EF4-FFF2-40B4-BE49-F238E27FC236}">
                <a16:creationId xmlns:a16="http://schemas.microsoft.com/office/drawing/2014/main" id="{05EFA9F1-CF34-F41E-858E-23BD512E85FF}"/>
              </a:ext>
            </a:extLst>
          </p:cNvPr>
          <p:cNvPicPr>
            <a:picLocks noChangeAspect="1"/>
          </p:cNvPicPr>
          <p:nvPr/>
        </p:nvPicPr>
        <p:blipFill>
          <a:blip r:embed="rId4"/>
          <a:stretch>
            <a:fillRect/>
          </a:stretch>
        </p:blipFill>
        <p:spPr>
          <a:xfrm>
            <a:off x="457200" y="4257292"/>
            <a:ext cx="3855929" cy="1907647"/>
          </a:xfrm>
          <a:prstGeom prst="rect">
            <a:avLst/>
          </a:prstGeom>
        </p:spPr>
      </p:pic>
      <p:pic>
        <p:nvPicPr>
          <p:cNvPr id="3" name="Hình ảnh 6">
            <a:extLst>
              <a:ext uri="{FF2B5EF4-FFF2-40B4-BE49-F238E27FC236}">
                <a16:creationId xmlns:a16="http://schemas.microsoft.com/office/drawing/2014/main" id="{A0506E2F-4E92-4A91-E0D9-6192E33EDDEA}"/>
              </a:ext>
            </a:extLst>
          </p:cNvPr>
          <p:cNvPicPr>
            <a:picLocks noChangeAspect="1"/>
          </p:cNvPicPr>
          <p:nvPr/>
        </p:nvPicPr>
        <p:blipFill>
          <a:blip r:embed="rId5"/>
          <a:stretch>
            <a:fillRect/>
          </a:stretch>
        </p:blipFill>
        <p:spPr>
          <a:xfrm>
            <a:off x="4992646" y="4257292"/>
            <a:ext cx="3694154" cy="1876052"/>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DE74D83-35F7-C664-D73D-29997042ACBE}"/>
                  </a:ext>
                </a:extLst>
              </p:cNvPr>
              <p:cNvSpPr txBox="1"/>
              <p:nvPr/>
            </p:nvSpPr>
            <p:spPr>
              <a:xfrm>
                <a:off x="457200" y="1219200"/>
                <a:ext cx="3694154" cy="281461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2000" b="1" dirty="0">
                    <a:latin typeface="+mj-lt"/>
                  </a:rPr>
                  <a:t>Thông </a:t>
                </a:r>
                <a:r>
                  <a:rPr lang="en-US" sz="2000" b="1" dirty="0" err="1">
                    <a:latin typeface="+mj-lt"/>
                  </a:rPr>
                  <a:t>số</a:t>
                </a:r>
                <a:r>
                  <a:rPr lang="en-US" sz="2000" b="1" dirty="0">
                    <a:latin typeface="+mj-lt"/>
                  </a:rPr>
                  <a:t> </a:t>
                </a:r>
                <a:r>
                  <a:rPr lang="en-US" sz="2000" b="1" dirty="0" err="1">
                    <a:latin typeface="+mj-lt"/>
                  </a:rPr>
                  <a:t>lý</a:t>
                </a:r>
                <a:r>
                  <a:rPr lang="en-US" sz="2000" b="1" dirty="0">
                    <a:latin typeface="+mj-lt"/>
                  </a:rPr>
                  <a:t> </a:t>
                </a:r>
                <a:r>
                  <a:rPr lang="en-US" sz="2000" b="1" dirty="0" err="1">
                    <a:latin typeface="+mj-lt"/>
                  </a:rPr>
                  <a:t>tưởng</a:t>
                </a:r>
                <a:r>
                  <a:rPr lang="en-US" sz="2000" b="1" dirty="0">
                    <a:latin typeface="+mj-lt"/>
                  </a:rPr>
                  <a:t>:</a:t>
                </a:r>
              </a:p>
              <a:p>
                <a:pPr>
                  <a:lnSpc>
                    <a:spcPct val="150000"/>
                  </a:lnSpc>
                </a:pPr>
                <a:r>
                  <a:rPr lang="en-US" sz="2000" dirty="0">
                    <a:latin typeface="+mj-lt"/>
                    <a:ea typeface="Calibri" panose="020F0502020204030204" pitchFamily="34" charset="0"/>
                    <a:cs typeface="Calibri" panose="020F0502020204030204" pitchFamily="34" charset="0"/>
                  </a:rPr>
                  <a:t>R1 = </a:t>
                </a:r>
                <a:r>
                  <a:rPr lang="en-US" sz="2000" dirty="0">
                    <a:solidFill>
                      <a:schemeClr val="dk1"/>
                    </a:solidFill>
                  </a:rPr>
                  <a:t>100</a:t>
                </a:r>
                <a:r>
                  <a:rPr lang="vi-VN" sz="2000" dirty="0">
                    <a:latin typeface="Calibri(Body)"/>
                  </a:rPr>
                  <a:t>k</a:t>
                </a:r>
                <a14:m>
                  <m:oMath xmlns:m="http://schemas.openxmlformats.org/officeDocument/2006/math">
                    <m:r>
                      <m:rPr>
                        <m:sty m:val="p"/>
                      </m:rPr>
                      <a:rPr lang="el-GR" sz="2000" b="0" i="1">
                        <a:latin typeface="Cambria Math" panose="02040503050406030204" pitchFamily="18" charset="0"/>
                        <a:ea typeface="Cambria Math" panose="02040503050406030204" pitchFamily="18" charset="0"/>
                      </a:rPr>
                      <m:t>Ω</m:t>
                    </m:r>
                  </m:oMath>
                </a14:m>
                <a:endParaRPr lang="en-US" sz="2000" dirty="0"/>
              </a:p>
              <a:p>
                <a:pPr>
                  <a:lnSpc>
                    <a:spcPct val="150000"/>
                  </a:lnSpc>
                </a:pPr>
                <a:r>
                  <a:rPr lang="en-US" sz="2000" dirty="0">
                    <a:latin typeface="+mj-lt"/>
                    <a:ea typeface="Calibri" panose="020F0502020204030204" pitchFamily="34" charset="0"/>
                    <a:cs typeface="Calibri" panose="020F0502020204030204" pitchFamily="34" charset="0"/>
                  </a:rPr>
                  <a:t>R2 = </a:t>
                </a:r>
                <a:r>
                  <a:rPr lang="en-US" sz="2000" dirty="0">
                    <a:solidFill>
                      <a:schemeClr val="dk1"/>
                    </a:solidFill>
                  </a:rPr>
                  <a:t>22.1</a:t>
                </a:r>
                <a:r>
                  <a:rPr lang="vi-VN" sz="2000" dirty="0">
                    <a:latin typeface="Calibri(Body)"/>
                  </a:rPr>
                  <a:t>k</a:t>
                </a:r>
                <a14:m>
                  <m:oMath xmlns:m="http://schemas.openxmlformats.org/officeDocument/2006/math">
                    <m:r>
                      <m:rPr>
                        <m:sty m:val="p"/>
                      </m:rPr>
                      <a:rPr lang="el-GR" sz="2000" b="0" i="1">
                        <a:latin typeface="Cambria Math" panose="02040503050406030204" pitchFamily="18" charset="0"/>
                        <a:ea typeface="Cambria Math" panose="02040503050406030204" pitchFamily="18" charset="0"/>
                      </a:rPr>
                      <m:t>Ω</m:t>
                    </m:r>
                  </m:oMath>
                </a14:m>
                <a:endParaRPr lang="en-US" sz="2000" dirty="0"/>
              </a:p>
              <a:p>
                <a:pPr>
                  <a:lnSpc>
                    <a:spcPct val="150000"/>
                  </a:lnSpc>
                </a:pPr>
                <a:r>
                  <a:rPr lang="en-US" sz="2000" dirty="0"/>
                  <a:t>V</a:t>
                </a:r>
                <a:r>
                  <a:rPr lang="en-US" sz="1600" dirty="0"/>
                  <a:t>FB = </a:t>
                </a:r>
                <a:r>
                  <a:rPr lang="en-US" sz="2000" dirty="0"/>
                  <a:t>0.6V</a:t>
                </a:r>
              </a:p>
              <a:p>
                <a:pPr marL="342900" indent="-342900">
                  <a:lnSpc>
                    <a:spcPct val="150000"/>
                  </a:lnSpc>
                  <a:buFont typeface="Symbol" panose="05050102010706020507" pitchFamily="18" charset="2"/>
                  <a:buChar char="Þ"/>
                </a:pPr>
                <a:r>
                  <a:rPr lang="en-US" sz="2000" b="1" dirty="0"/>
                  <a:t>V</a:t>
                </a:r>
                <a:r>
                  <a:rPr lang="en-US" sz="1600" b="1" dirty="0"/>
                  <a:t>OUT = </a:t>
                </a:r>
                <a:r>
                  <a:rPr lang="en-US" sz="2000" b="1" dirty="0"/>
                  <a:t>3.3V</a:t>
                </a:r>
              </a:p>
              <a:p>
                <a:pPr>
                  <a:lnSpc>
                    <a:spcPct val="150000"/>
                  </a:lnSpc>
                </a:pPr>
                <a:endParaRPr lang="en-US" sz="2000" b="1" dirty="0"/>
              </a:p>
            </p:txBody>
          </p:sp>
        </mc:Choice>
        <mc:Fallback>
          <p:sp>
            <p:nvSpPr>
              <p:cNvPr id="8" name="TextBox 7">
                <a:extLst>
                  <a:ext uri="{FF2B5EF4-FFF2-40B4-BE49-F238E27FC236}">
                    <a16:creationId xmlns:a16="http://schemas.microsoft.com/office/drawing/2014/main" id="{0DE74D83-35F7-C664-D73D-29997042ACBE}"/>
                  </a:ext>
                </a:extLst>
              </p:cNvPr>
              <p:cNvSpPr txBox="1">
                <a:spLocks noRot="1" noChangeAspect="1" noMove="1" noResize="1" noEditPoints="1" noAdjustHandles="1" noChangeArrowheads="1" noChangeShapeType="1" noTextEdit="1"/>
              </p:cNvSpPr>
              <p:nvPr/>
            </p:nvSpPr>
            <p:spPr>
              <a:xfrm>
                <a:off x="457200" y="1219200"/>
                <a:ext cx="3694154" cy="2814617"/>
              </a:xfrm>
              <a:prstGeom prst="rect">
                <a:avLst/>
              </a:prstGeom>
              <a:blipFill>
                <a:blip r:embed="rId6"/>
                <a:stretch>
                  <a:fillRect l="-1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EB30B9-2F9E-C2C5-E89C-45A02B09E3D1}"/>
                  </a:ext>
                </a:extLst>
              </p:cNvPr>
              <p:cNvSpPr txBox="1"/>
              <p:nvPr/>
            </p:nvSpPr>
            <p:spPr>
              <a:xfrm>
                <a:off x="4992646" y="1219200"/>
                <a:ext cx="3694154" cy="235218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2000" b="1" dirty="0">
                    <a:latin typeface="+mj-lt"/>
                  </a:rPr>
                  <a:t>Thông </a:t>
                </a:r>
                <a:r>
                  <a:rPr lang="en-US" sz="2000" b="1" dirty="0" err="1">
                    <a:latin typeface="+mj-lt"/>
                  </a:rPr>
                  <a:t>số</a:t>
                </a:r>
                <a:r>
                  <a:rPr lang="en-US" sz="2000" b="1" dirty="0">
                    <a:latin typeface="+mj-lt"/>
                  </a:rPr>
                  <a:t> </a:t>
                </a:r>
                <a:r>
                  <a:rPr lang="en-US" sz="2000" b="1" dirty="0" err="1">
                    <a:latin typeface="+mj-lt"/>
                  </a:rPr>
                  <a:t>thực</a:t>
                </a:r>
                <a:r>
                  <a:rPr lang="en-US" sz="2000" b="1" dirty="0">
                    <a:latin typeface="+mj-lt"/>
                  </a:rPr>
                  <a:t> </a:t>
                </a:r>
                <a:r>
                  <a:rPr lang="en-US" sz="2000" b="1" dirty="0" err="1">
                    <a:latin typeface="+mj-lt"/>
                  </a:rPr>
                  <a:t>tế</a:t>
                </a:r>
                <a:r>
                  <a:rPr lang="en-US" sz="2000" b="1" dirty="0">
                    <a:latin typeface="+mj-lt"/>
                  </a:rPr>
                  <a:t>:</a:t>
                </a:r>
              </a:p>
              <a:p>
                <a:pPr>
                  <a:lnSpc>
                    <a:spcPct val="150000"/>
                  </a:lnSpc>
                </a:pPr>
                <a:r>
                  <a:rPr lang="en-US" sz="2000" dirty="0">
                    <a:latin typeface="+mj-lt"/>
                    <a:ea typeface="Calibri" panose="020F0502020204030204" pitchFamily="34" charset="0"/>
                    <a:cs typeface="Calibri" panose="020F0502020204030204" pitchFamily="34" charset="0"/>
                  </a:rPr>
                  <a:t>R1 </a:t>
                </a:r>
                <a14:m>
                  <m:oMath xmlns:m="http://schemas.openxmlformats.org/officeDocument/2006/math">
                    <m:r>
                      <a:rPr lang="vi-VN" sz="2000">
                        <a:latin typeface="Cambria Math" panose="02040503050406030204" pitchFamily="18" charset="0"/>
                        <a:ea typeface="Cambria Math" panose="02040503050406030204" pitchFamily="18" charset="0"/>
                      </a:rPr>
                      <m:t>≈</m:t>
                    </m:r>
                  </m:oMath>
                </a14:m>
                <a:r>
                  <a:rPr lang="en-US" sz="2000" dirty="0">
                    <a:latin typeface="+mj-lt"/>
                    <a:ea typeface="Calibri" panose="020F0502020204030204" pitchFamily="34" charset="0"/>
                    <a:cs typeface="Calibri" panose="020F0502020204030204" pitchFamily="34" charset="0"/>
                  </a:rPr>
                  <a:t> </a:t>
                </a:r>
                <a:r>
                  <a:rPr lang="en-US" sz="2000" dirty="0">
                    <a:solidFill>
                      <a:schemeClr val="dk1"/>
                    </a:solidFill>
                  </a:rPr>
                  <a:t>99.7</a:t>
                </a:r>
                <a:r>
                  <a:rPr lang="vi-VN" sz="2000" dirty="0">
                    <a:latin typeface="Calibri(Body)"/>
                  </a:rPr>
                  <a:t>k</a:t>
                </a:r>
                <a14:m>
                  <m:oMath xmlns:m="http://schemas.openxmlformats.org/officeDocument/2006/math">
                    <m:r>
                      <m:rPr>
                        <m:sty m:val="p"/>
                      </m:rPr>
                      <a:rPr lang="el-GR" sz="2000" b="0" i="1">
                        <a:latin typeface="Cambria Math" panose="02040503050406030204" pitchFamily="18" charset="0"/>
                        <a:ea typeface="Cambria Math" panose="02040503050406030204" pitchFamily="18" charset="0"/>
                      </a:rPr>
                      <m:t>Ω</m:t>
                    </m:r>
                  </m:oMath>
                </a14:m>
                <a:endParaRPr lang="en-US" sz="2000" dirty="0"/>
              </a:p>
              <a:p>
                <a:pPr>
                  <a:lnSpc>
                    <a:spcPct val="150000"/>
                  </a:lnSpc>
                </a:pPr>
                <a:r>
                  <a:rPr lang="en-US" sz="2000" dirty="0">
                    <a:latin typeface="+mj-lt"/>
                    <a:ea typeface="Calibri" panose="020F0502020204030204" pitchFamily="34" charset="0"/>
                    <a:cs typeface="Calibri" panose="020F0502020204030204" pitchFamily="34" charset="0"/>
                  </a:rPr>
                  <a:t>R2 </a:t>
                </a:r>
                <a14:m>
                  <m:oMath xmlns:m="http://schemas.openxmlformats.org/officeDocument/2006/math">
                    <m:r>
                      <a:rPr lang="vi-VN" sz="2000">
                        <a:latin typeface="Cambria Math" panose="02040503050406030204" pitchFamily="18" charset="0"/>
                        <a:ea typeface="Cambria Math" panose="02040503050406030204" pitchFamily="18" charset="0"/>
                      </a:rPr>
                      <m:t>≈</m:t>
                    </m:r>
                  </m:oMath>
                </a14:m>
                <a:r>
                  <a:rPr lang="en-US" sz="2000" dirty="0">
                    <a:latin typeface="+mj-lt"/>
                    <a:ea typeface="Calibri" panose="020F0502020204030204" pitchFamily="34" charset="0"/>
                    <a:cs typeface="Calibri" panose="020F0502020204030204" pitchFamily="34" charset="0"/>
                  </a:rPr>
                  <a:t> </a:t>
                </a:r>
                <a:r>
                  <a:rPr lang="en-US" sz="2000" dirty="0">
                    <a:solidFill>
                      <a:schemeClr val="dk1"/>
                    </a:solidFill>
                  </a:rPr>
                  <a:t>21.8</a:t>
                </a:r>
                <a:r>
                  <a:rPr lang="vi-VN" sz="2000" dirty="0">
                    <a:latin typeface="Calibri(Body)"/>
                  </a:rPr>
                  <a:t>k</a:t>
                </a:r>
                <a14:m>
                  <m:oMath xmlns:m="http://schemas.openxmlformats.org/officeDocument/2006/math">
                    <m:r>
                      <m:rPr>
                        <m:sty m:val="p"/>
                      </m:rPr>
                      <a:rPr lang="el-GR" sz="2000" b="0" i="1">
                        <a:latin typeface="Cambria Math" panose="02040503050406030204" pitchFamily="18" charset="0"/>
                        <a:ea typeface="Cambria Math" panose="02040503050406030204" pitchFamily="18" charset="0"/>
                      </a:rPr>
                      <m:t>Ω</m:t>
                    </m:r>
                  </m:oMath>
                </a14:m>
                <a:endParaRPr lang="en-US" sz="2000" dirty="0"/>
              </a:p>
              <a:p>
                <a:pPr>
                  <a:lnSpc>
                    <a:spcPct val="150000"/>
                  </a:lnSpc>
                </a:pPr>
                <a:r>
                  <a:rPr lang="en-US" sz="2000" dirty="0"/>
                  <a:t>V</a:t>
                </a:r>
                <a:r>
                  <a:rPr lang="en-US" sz="1600" dirty="0"/>
                  <a:t>FB </a:t>
                </a:r>
                <a:r>
                  <a:rPr lang="en-US" sz="2000" dirty="0">
                    <a:ea typeface="Calibri" panose="020F0502020204030204" pitchFamily="34" charset="0"/>
                    <a:cs typeface="Calibri" panose="020F0502020204030204" pitchFamily="34" charset="0"/>
                  </a:rPr>
                  <a:t>đo </a:t>
                </a:r>
                <a:r>
                  <a:rPr lang="en-US" sz="2000" dirty="0" err="1">
                    <a:ea typeface="Calibri" panose="020F0502020204030204" pitchFamily="34" charset="0"/>
                    <a:cs typeface="Calibri" panose="020F0502020204030204" pitchFamily="34" charset="0"/>
                  </a:rPr>
                  <a:t>được</a:t>
                </a:r>
                <a:r>
                  <a:rPr lang="en-US" sz="2000" dirty="0">
                    <a:ea typeface="Calibri" panose="020F0502020204030204" pitchFamily="34" charset="0"/>
                    <a:cs typeface="Calibri" panose="020F0502020204030204" pitchFamily="34" charset="0"/>
                  </a:rPr>
                  <a:t> </a:t>
                </a:r>
                <a14:m>
                  <m:oMath xmlns:m="http://schemas.openxmlformats.org/officeDocument/2006/math">
                    <m:r>
                      <a:rPr lang="vi-VN" sz="2000">
                        <a:latin typeface="Cambria Math" panose="02040503050406030204" pitchFamily="18" charset="0"/>
                        <a:ea typeface="Cambria Math" panose="02040503050406030204" pitchFamily="18" charset="0"/>
                      </a:rPr>
                      <m:t>≈</m:t>
                    </m:r>
                  </m:oMath>
                </a14:m>
                <a:r>
                  <a:rPr lang="en-US" sz="2000" dirty="0"/>
                  <a:t> 0.68V</a:t>
                </a:r>
              </a:p>
              <a:p>
                <a:pPr marL="342900" indent="-342900">
                  <a:lnSpc>
                    <a:spcPct val="150000"/>
                  </a:lnSpc>
                  <a:buFont typeface="Symbol" panose="05050102010706020507" pitchFamily="18" charset="2"/>
                  <a:buChar char="Þ"/>
                </a:pPr>
                <a:r>
                  <a:rPr lang="en-US" sz="2000" b="1" dirty="0"/>
                  <a:t>V</a:t>
                </a:r>
                <a:r>
                  <a:rPr lang="en-US" sz="1600" b="1" dirty="0"/>
                  <a:t>OUT </a:t>
                </a:r>
                <a:r>
                  <a:rPr lang="en-US" sz="2000" b="1" dirty="0" err="1"/>
                  <a:t>đo</a:t>
                </a:r>
                <a:r>
                  <a:rPr lang="en-US" sz="2000" b="1" dirty="0"/>
                  <a:t> </a:t>
                </a:r>
                <a:r>
                  <a:rPr lang="en-US" sz="2000" b="1" dirty="0" err="1"/>
                  <a:t>được</a:t>
                </a:r>
                <a:r>
                  <a:rPr lang="en-US" sz="2000" b="1" dirty="0"/>
                  <a:t> </a:t>
                </a:r>
                <a14:m>
                  <m:oMath xmlns:m="http://schemas.openxmlformats.org/officeDocument/2006/math">
                    <m:r>
                      <a:rPr lang="vi-VN" sz="2000" b="1">
                        <a:latin typeface="Cambria Math" panose="02040503050406030204" pitchFamily="18" charset="0"/>
                        <a:ea typeface="Cambria Math" panose="02040503050406030204" pitchFamily="18" charset="0"/>
                      </a:rPr>
                      <m:t>≈</m:t>
                    </m:r>
                    <m:r>
                      <a:rPr lang="vi-VN" sz="2000" b="1" i="1">
                        <a:latin typeface="Cambria Math" panose="02040503050406030204" pitchFamily="18" charset="0"/>
                        <a:ea typeface="Cambria Math" panose="02040503050406030204" pitchFamily="18" charset="0"/>
                      </a:rPr>
                      <m:t> </m:t>
                    </m:r>
                  </m:oMath>
                </a14:m>
                <a:r>
                  <a:rPr lang="en-US" sz="2000" b="1" dirty="0"/>
                  <a:t>3.47V</a:t>
                </a:r>
              </a:p>
            </p:txBody>
          </p:sp>
        </mc:Choice>
        <mc:Fallback xmlns="">
          <p:sp>
            <p:nvSpPr>
              <p:cNvPr id="9" name="TextBox 8">
                <a:extLst>
                  <a:ext uri="{FF2B5EF4-FFF2-40B4-BE49-F238E27FC236}">
                    <a16:creationId xmlns:a16="http://schemas.microsoft.com/office/drawing/2014/main" id="{B0EB30B9-2F9E-C2C5-E89C-45A02B09E3D1}"/>
                  </a:ext>
                </a:extLst>
              </p:cNvPr>
              <p:cNvSpPr txBox="1">
                <a:spLocks noRot="1" noChangeAspect="1" noMove="1" noResize="1" noEditPoints="1" noAdjustHandles="1" noChangeArrowheads="1" noChangeShapeType="1" noTextEdit="1"/>
              </p:cNvSpPr>
              <p:nvPr/>
            </p:nvSpPr>
            <p:spPr>
              <a:xfrm>
                <a:off x="4992646" y="1219200"/>
                <a:ext cx="3694154" cy="2352182"/>
              </a:xfrm>
              <a:prstGeom prst="rect">
                <a:avLst/>
              </a:prstGeom>
              <a:blipFill>
                <a:blip r:embed="rId7"/>
                <a:stretch>
                  <a:fillRect l="-1815" b="-362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CCF21D67-EE3C-9AE2-8D0E-0B21E1ACDDCF}"/>
              </a:ext>
            </a:extLst>
          </p:cNvPr>
          <p:cNvSpPr txBox="1"/>
          <p:nvPr/>
        </p:nvSpPr>
        <p:spPr>
          <a:xfrm>
            <a:off x="1828800" y="6107840"/>
            <a:ext cx="950954" cy="589072"/>
          </a:xfrm>
          <a:prstGeom prst="rect">
            <a:avLst/>
          </a:prstGeom>
          <a:noFill/>
        </p:spPr>
        <p:txBody>
          <a:bodyPr wrap="square" rtlCol="0">
            <a:spAutoFit/>
          </a:bodyPr>
          <a:lstStyle/>
          <a:p>
            <a:pPr algn="ctr">
              <a:lnSpc>
                <a:spcPct val="150000"/>
              </a:lnSpc>
            </a:pPr>
            <a:r>
              <a:rPr lang="en-US" sz="2400" dirty="0">
                <a:latin typeface="+mj-lt"/>
              </a:rPr>
              <a:t>V</a:t>
            </a:r>
            <a:r>
              <a:rPr lang="en-US" dirty="0">
                <a:latin typeface="+mj-lt"/>
              </a:rPr>
              <a:t>OUT</a:t>
            </a:r>
            <a:endParaRPr lang="en-US" sz="2000" dirty="0">
              <a:latin typeface="+mj-lt"/>
            </a:endParaRPr>
          </a:p>
        </p:txBody>
      </p:sp>
      <p:sp>
        <p:nvSpPr>
          <p:cNvPr id="11" name="TextBox 10">
            <a:extLst>
              <a:ext uri="{FF2B5EF4-FFF2-40B4-BE49-F238E27FC236}">
                <a16:creationId xmlns:a16="http://schemas.microsoft.com/office/drawing/2014/main" id="{E5047C55-5F23-F9E2-86C8-C108C796D4AD}"/>
              </a:ext>
            </a:extLst>
          </p:cNvPr>
          <p:cNvSpPr txBox="1"/>
          <p:nvPr/>
        </p:nvSpPr>
        <p:spPr>
          <a:xfrm>
            <a:off x="6364248" y="6096094"/>
            <a:ext cx="950954" cy="589072"/>
          </a:xfrm>
          <a:prstGeom prst="rect">
            <a:avLst/>
          </a:prstGeom>
          <a:noFill/>
        </p:spPr>
        <p:txBody>
          <a:bodyPr wrap="square" rtlCol="0">
            <a:spAutoFit/>
          </a:bodyPr>
          <a:lstStyle/>
          <a:p>
            <a:pPr algn="ctr">
              <a:lnSpc>
                <a:spcPct val="150000"/>
              </a:lnSpc>
            </a:pPr>
            <a:r>
              <a:rPr lang="en-US" sz="2400" dirty="0">
                <a:latin typeface="+mj-lt"/>
              </a:rPr>
              <a:t>V</a:t>
            </a:r>
            <a:r>
              <a:rPr lang="en-US" dirty="0">
                <a:latin typeface="+mj-lt"/>
              </a:rPr>
              <a:t>FB</a:t>
            </a:r>
            <a:endParaRPr lang="en-US" sz="2000" dirty="0">
              <a:latin typeface="+mj-lt"/>
            </a:endParaRPr>
          </a:p>
        </p:txBody>
      </p:sp>
    </p:spTree>
    <p:extLst>
      <p:ext uri="{BB962C8B-B14F-4D97-AF65-F5344CB8AC3E}">
        <p14:creationId xmlns:p14="http://schemas.microsoft.com/office/powerpoint/2010/main" val="1301990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732195"/>
          </a:xfrm>
          <a:prstGeom prst="rect">
            <a:avLst/>
          </a:prstGeom>
        </p:spPr>
      </p:pic>
      <p:sp>
        <p:nvSpPr>
          <p:cNvPr id="5" name="TextBox 4"/>
          <p:cNvSpPr txBox="1"/>
          <p:nvPr/>
        </p:nvSpPr>
        <p:spPr>
          <a:xfrm>
            <a:off x="914400" y="2057400"/>
            <a:ext cx="7239000" cy="923330"/>
          </a:xfrm>
          <a:prstGeom prst="rect">
            <a:avLst/>
          </a:prstGeom>
          <a:noFill/>
        </p:spPr>
        <p:txBody>
          <a:bodyPr wrap="square" rtlCol="0">
            <a:spAutoFit/>
          </a:bodyPr>
          <a:lstStyle/>
          <a:p>
            <a:r>
              <a:rPr lang="en-US" sz="5400" b="1" dirty="0">
                <a:solidFill>
                  <a:schemeClr val="tx2"/>
                </a:solidFill>
              </a:rPr>
              <a:t>Xin</a:t>
            </a:r>
            <a:r>
              <a:rPr lang="en-US" sz="4800" b="1" dirty="0">
                <a:solidFill>
                  <a:schemeClr val="tx2"/>
                </a:solidFill>
              </a:rPr>
              <a:t> </a:t>
            </a:r>
            <a:r>
              <a:rPr lang="vi-VN" sz="4800" b="1" dirty="0">
                <a:solidFill>
                  <a:schemeClr val="tx2"/>
                </a:solidFill>
              </a:rPr>
              <a:t>chân thành cảm ơn</a:t>
            </a:r>
            <a:endParaRPr lang="en-US" sz="4800" b="1" dirty="0">
              <a:solidFill>
                <a:schemeClr val="tx2"/>
              </a:solidFill>
            </a:endParaRPr>
          </a:p>
        </p:txBody>
      </p:sp>
    </p:spTree>
    <p:extLst>
      <p:ext uri="{BB962C8B-B14F-4D97-AF65-F5344CB8AC3E}">
        <p14:creationId xmlns:p14="http://schemas.microsoft.com/office/powerpoint/2010/main" val="3963132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3207</TotalTime>
  <Words>1863</Words>
  <Application>Microsoft Office PowerPoint</Application>
  <PresentationFormat>On-screen Show (4:3)</PresentationFormat>
  <Paragraphs>221</Paragraphs>
  <Slides>15</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(Headings)</vt:lpstr>
      <vt:lpstr>Calibri (Thân)</vt:lpstr>
      <vt:lpstr>Calibri(Body)</vt:lpstr>
      <vt:lpstr>Cambria Math</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Minh Nguyễn</cp:lastModifiedBy>
  <cp:revision>121</cp:revision>
  <dcterms:created xsi:type="dcterms:W3CDTF">2017-10-17T01:43:35Z</dcterms:created>
  <dcterms:modified xsi:type="dcterms:W3CDTF">2025-11-05T03:37:42Z</dcterms:modified>
</cp:coreProperties>
</file>